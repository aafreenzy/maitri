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scene on the next slide in one sentence. Maitri means friendship. Three words to remember: speak it, see why, call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 two sentences, slowly. This is an illustrative scene, not a real person; say so. The point: the family does not lack a hospital, they lack a clear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exact. 25.2M registered births (secondary). 48.6% is one West Bengal hospital study, not national. One in three is derived from NFHS-6 coverage. We never present these as lives saved. The classic three delays: recognise, decide, reach. Maitri targets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alternatives: a helpline gives real advice in Hindi and a card is printed and auditable. The gap is that none of them works offline, speaks with the family, shows its reasoning and hands a summary to the ASHA, together. This is our assessment from limited searching; we do not claim to be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only quote a number where we have a source. TAM uses registered births as a proxy. SAM and SOM are deliberately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proposition in one line: other tools tell a woman what her symptoms might mean; Maitri tells her family what to do in the next ten minutes, and shows exactly why. The next five slides are the five USPs.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1. Speech-to-text uses the phone browser's own speech recognition (Hindi and English); on Chrome it may send audio to the browser vendor, and the app says so. It needs internet on most phones. Text-to-speech uses a recorded clip if present, otherwise the phone's own voice if it has a Hindi voice; no recorded clips are shipped yet. A spoken "No" is confirmed because a misheard Yes only over-escalates while a misheard No could hide a sign. Everything works by tapping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2. The emergency call button is the first control on the first screen so nobody in a crisis has to start a check. A browser cannot dial without a tap, so the call link is the biggest control. The ambulance number is user-supplied for Madhya Pradesh and unconfirmed; the Trust page says so. The three levels are our own design based on the MCP card and WHO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3. Every verdict is traceable: the Why panel lists each rule that applied, its source and reliability. The tests check that the code matches the rule table; this is not clinical validation. An independent Python implementation agrees on all 46 rule cases and on 12,420 generated answer sets. No clinician has reviewed the rules yet and the app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4. The go-now plan targets the decision delay: call, decide who goes, show the slip, ask about free transport (JSSK). The slip carries what she told so the ASHA or doctor does not re-ask while she is in distress. Sharing asks for consent first; nothing leaves the phone before she chooses.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USP 5. The three results are shown here in greyscale: the word and the shape carry the level, not only the colour. Offline use was verified in a browser with the network cut. No account is needed; Exit now clears every key and leaves. The language test fails on English words in Hindi or Hindi text in English, including accessibility labels. An axe audit and a 15-screen small-screen audit are recorded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live demo here: emergency button, speak, one RED sign, why, plan, slip. Back up with the video if the network or the microphone fails; the tap check needs neither. The QR opens the repository; the README has the live address (GitHub Pages) and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machine-learning model decides anything. Speech-to-text is the browser's; word lists map it to the same Yes, No, Not sure answers; the verdict is a deterministic rule engine re-checked by an independent Python implementation. Text-to-speech is a recorded clip if present, else the phone's voice. The optional cloud part is built and tested in a local Postgres and against a simulated client; not connected to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red tile out loud: no clinician has reviewed the rules yet. Tests check the code matches the rule table; they are not clinical validation. Voice is tested with a simulated recogniser. No recorded voice clips are shipped, so text-to-speech depends on the phone having a Hindi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blocks real use is people, not code: a named clinician reviewer, native reviewers for each language, and a district health mission for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this is a proposal. The check is a public-health tool and stays free. Running costs are low. Revenue would come from deployments, grants and CSR, and paid services around an open core. No data is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main-branch failure was real; the build runs the tests first, so it would have blocked a deploy; it was fixed and CI now guards it. The misheard-No risk led to the confirmation step. Trade-offs: deterministic rules over AI, over-escalation over under-triage, offline over cloud speech, no numeric clinical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the ask, then pause. Every minute counts; Maitri makes the next one clear. Three things we need: a clinician reviewer, an ASHA district for a pilot, and language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source links and confidence labels are in docs/PITCH_FACTS.md.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6EEF6"/>
        </a:solidFill>
      </p:bgPr>
    </p:bg>
    <p:spTree>
      <p:nvGrpSpPr>
        <p:cNvPr id="1" name=""/>
        <p:cNvGrpSpPr/>
        <p:nvPr/>
      </p:nvGrpSpPr>
      <p:grpSpPr>
        <a:xfrm>
          <a:off x="0" y="0"/>
          <a:ext cx="0" cy="0"/>
          <a:chOff x="0" y="0"/>
          <a:chExt cx="0" cy="0"/>
        </a:xfrm>
      </p:grpSpPr>
      <p:sp>
        <p:nvSpPr>
          <p:cNvPr id="2" name="Text 0"/>
          <p:cNvSpPr/>
          <p:nvPr/>
        </p:nvSpPr>
        <p:spPr>
          <a:xfrm>
            <a:off x="548640" y="644652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Maitri  |  recHERsion 2026</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B38"/>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EAL">
    <p:bg>
      <p:bgPr>
        <a:solidFill>
          <a:srgbClr val="0F7A6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IL">
    <p:bg>
      <p:bgPr>
        <a:solidFill>
          <a:srgbClr val="23358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2.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914400"/>
            <a:ext cx="6400800" cy="1463040"/>
          </a:xfrm>
          <a:prstGeom prst="rect">
            <a:avLst/>
          </a:prstGeom>
          <a:noFill/>
          <a:ln/>
        </p:spPr>
        <p:txBody>
          <a:bodyPr wrap="square" lIns="0" tIns="0" rIns="0" bIns="0" rtlCol="0" anchor="ctr"/>
          <a:lstStyle/>
          <a:p>
            <a:pPr indent="0" marL="0">
              <a:buNone/>
            </a:pPr>
            <a:r>
              <a:rPr lang="en-US" sz="9600" b="1" dirty="0">
                <a:solidFill>
                  <a:schemeClr val="bg1"/>
                </a:solidFill>
                <a:latin typeface="Cambria" pitchFamily="34" charset="0"/>
                <a:ea typeface="Cambria" pitchFamily="34" charset="-122"/>
                <a:cs typeface="Cambria" pitchFamily="34" charset="-120"/>
              </a:rPr>
              <a:t>Maitri</a:t>
            </a:r>
            <a:endParaRPr lang="en-US" sz="9600" dirty="0"/>
          </a:p>
        </p:txBody>
      </p:sp>
      <p:sp>
        <p:nvSpPr>
          <p:cNvPr id="3" name="Text 1"/>
          <p:cNvSpPr txBox="1"/>
          <p:nvPr/>
        </p:nvSpPr>
        <p:spPr>
          <a:xfrm>
            <a:off x="640080" y="2514600"/>
            <a:ext cx="6035040" cy="1097280"/>
          </a:xfrm>
          <a:prstGeom prst="rect">
            <a:avLst/>
          </a:prstGeom>
          <a:noFill/>
          <a:ln/>
        </p:spPr>
        <p:txBody>
          <a:bodyPr wrap="square" lIns="0" tIns="0" rIns="0" bIns="0" rtlCol="0" anchor="t"/>
          <a:lstStyle/>
          <a:p>
            <a:pPr indent="0" marL="0">
              <a:buNone/>
            </a:pPr>
            <a:r>
              <a:rPr lang="en-US" sz="3000" dirty="0">
                <a:solidFill>
                  <a:schemeClr val="bg2"/>
                </a:solidFill>
                <a:latin typeface="Calibri" pitchFamily="34" charset="0"/>
                <a:ea typeface="Calibri" pitchFamily="34" charset="-122"/>
                <a:cs typeface="Calibri" pitchFamily="34" charset="-120"/>
              </a:rPr>
              <a:t>A friend who tells the family what to do now.</a:t>
            </a:r>
            <a:endParaRPr lang="en-US" sz="3000" dirty="0"/>
          </a:p>
        </p:txBody>
      </p:sp>
      <p:sp>
        <p:nvSpPr>
          <p:cNvPr id="4" name="Text 2"/>
          <p:cNvSpPr txBox="1"/>
          <p:nvPr/>
        </p:nvSpPr>
        <p:spPr>
          <a:xfrm>
            <a:off x="640080" y="3794760"/>
            <a:ext cx="6035040" cy="548640"/>
          </a:xfrm>
          <a:prstGeom prst="rect">
            <a:avLst/>
          </a:prstGeom>
          <a:noFill/>
          <a:ln/>
        </p:spPr>
        <p:txBody>
          <a:bodyPr wrap="square" lIns="0" tIns="0" rIns="0" bIns="0" rtlCol="0" anchor="ctr"/>
          <a:lstStyle/>
          <a:p>
            <a:pPr indent="0" marL="0">
              <a:buNone/>
            </a:pPr>
            <a:r>
              <a:rPr lang="en-US" sz="2400" b="1" dirty="0">
                <a:solidFill>
                  <a:schemeClr val="accent1"/>
                </a:solidFill>
                <a:latin typeface="Calibri" pitchFamily="34" charset="0"/>
                <a:ea typeface="Calibri" pitchFamily="34" charset="-122"/>
                <a:cs typeface="Calibri" pitchFamily="34" charset="-120"/>
              </a:rPr>
              <a:t>Speak it. See why. Call at once.</a:t>
            </a:r>
            <a:endParaRPr lang="en-US" sz="2400" dirty="0"/>
          </a:p>
        </p:txBody>
      </p:sp>
      <p:sp>
        <p:nvSpPr>
          <p:cNvPr id="5" name="Red"/>
          <p:cNvSpPr/>
          <p:nvPr/>
        </p:nvSpPr>
        <p:spPr>
          <a:xfrm>
            <a:off x="640080" y="4617720"/>
            <a:ext cx="502920" cy="502920"/>
          </a:xfrm>
          <a:prstGeom prst="octagon">
            <a:avLst/>
          </a:prstGeom>
          <a:solidFill>
            <a:schemeClr val="accent2"/>
          </a:solidFill>
          <a:ln w="25400">
            <a:solidFill>
              <a:schemeClr val="tx1"/>
            </a:solidFill>
            <a:prstDash val="solid"/>
          </a:ln>
        </p:spPr>
      </p:sp>
      <p:sp>
        <p:nvSpPr>
          <p:cNvPr id="6" name="Amber"/>
          <p:cNvSpPr/>
          <p:nvPr/>
        </p:nvSpPr>
        <p:spPr>
          <a:xfrm>
            <a:off x="1325880" y="4617720"/>
            <a:ext cx="502920" cy="502920"/>
          </a:xfrm>
          <a:prstGeom prst="triangle">
            <a:avLst/>
          </a:prstGeom>
          <a:solidFill>
            <a:schemeClr val="accent1"/>
          </a:solidFill>
          <a:ln w="25400">
            <a:solidFill>
              <a:schemeClr val="tx1"/>
            </a:solidFill>
            <a:prstDash val="solid"/>
          </a:ln>
        </p:spPr>
      </p:sp>
      <p:sp>
        <p:nvSpPr>
          <p:cNvPr id="7" name="Green"/>
          <p:cNvSpPr/>
          <p:nvPr/>
        </p:nvSpPr>
        <p:spPr>
          <a:xfrm>
            <a:off x="2011680" y="4617720"/>
            <a:ext cx="502920" cy="502920"/>
          </a:xfrm>
          <a:prstGeom prst="ellipse">
            <a:avLst/>
          </a:prstGeom>
          <a:solidFill>
            <a:schemeClr val="accent3"/>
          </a:solidFill>
          <a:ln w="25400">
            <a:solidFill>
              <a:schemeClr val="tx1"/>
            </a:solidFill>
            <a:prstDash val="solid"/>
          </a:ln>
        </p:spPr>
      </p:sp>
      <p:sp>
        <p:nvSpPr>
          <p:cNvPr id="8" name="Text 6"/>
          <p:cNvSpPr txBox="1"/>
          <p:nvPr/>
        </p:nvSpPr>
        <p:spPr>
          <a:xfrm>
            <a:off x="640080" y="5303520"/>
            <a:ext cx="6400800" cy="411480"/>
          </a:xfrm>
          <a:prstGeom prst="rect">
            <a:avLst/>
          </a:prstGeom>
          <a:noFill/>
          <a:ln/>
        </p:spPr>
        <p:txBody>
          <a:bodyPr wrap="square" lIns="0" tIns="0" rIns="0" bIns="0"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Team Decyphers</a:t>
            </a:r>
            <a:endParaRPr lang="en-US" sz="2200" dirty="0"/>
          </a:p>
        </p:txBody>
      </p:sp>
      <p:sp>
        <p:nvSpPr>
          <p:cNvPr id="9" name="Text 7"/>
          <p:cNvSpPr txBox="1"/>
          <p:nvPr/>
        </p:nvSpPr>
        <p:spPr>
          <a:xfrm>
            <a:off x="640080" y="5715000"/>
            <a:ext cx="640080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Aafreen Khan (team leader)  |  Aastha Pandya  |  Prisha Sharma</a:t>
            </a:r>
            <a:endParaRPr lang="en-US" sz="1500" dirty="0"/>
          </a:p>
        </p:txBody>
      </p:sp>
      <p:sp>
        <p:nvSpPr>
          <p:cNvPr id="10" name="Text 8"/>
          <p:cNvSpPr txBox="1"/>
          <p:nvPr/>
        </p:nvSpPr>
        <p:spPr>
          <a:xfrm>
            <a:off x="640080" y="6172200"/>
            <a:ext cx="6400800" cy="320040"/>
          </a:xfrm>
          <a:prstGeom prst="rect">
            <a:avLst/>
          </a:prstGeom>
          <a:noFill/>
          <a:ln/>
        </p:spPr>
        <p:txBody>
          <a:bodyPr wrap="square" lIns="0" tIns="0" rIns="0" bIns="0" rtlCol="0" anchor="ctr"/>
          <a:lstStyle/>
          <a:p>
            <a:pPr indent="0" marL="0">
              <a:buNone/>
            </a:pPr>
            <a:r>
              <a:rPr lang="en-US" sz="1300" dirty="0">
                <a:solidFill>
                  <a:schemeClr val="accent6"/>
                </a:solidFill>
                <a:latin typeface="Calibri" pitchFamily="34" charset="0"/>
                <a:ea typeface="Calibri" pitchFamily="34" charset="-122"/>
                <a:cs typeface="Calibri" pitchFamily="34" charset="-120"/>
              </a:rPr>
              <a:t>recHERsion 2026  |  Problem Statement 1: Women's Healthcare</a:t>
            </a:r>
            <a:endParaRPr lang="en-US" sz="1300" dirty="0"/>
          </a:p>
        </p:txBody>
      </p:sp>
      <p:pic>
        <p:nvPicPr>
          <p:cNvPr id="11" name="Image 0" descr="Maitri app screen: red">    </p:cNvPr>
          <p:cNvPicPr>
            <a:picLocks noChangeAspect="1"/>
          </p:cNvPicPr>
          <p:nvPr/>
        </p:nvPicPr>
        <p:blipFill>
          <a:blip r:embed="rId1"/>
          <a:stretch>
            <a:fillRect/>
          </a:stretch>
        </p:blipFill>
        <p:spPr>
          <a:xfrm>
            <a:off x="6858000" y="502920"/>
            <a:ext cx="2560320" cy="4983924"/>
          </a:xfrm>
          <a:prstGeom prst="rect">
            <a:avLst/>
          </a:prstGeom>
        </p:spPr>
      </p:pic>
      <p:pic>
        <p:nvPicPr>
          <p:cNvPr id="12" name="Image 1" descr="Maitri app screen: voice-review">    </p:cNvPr>
          <p:cNvPicPr>
            <a:picLocks noChangeAspect="1"/>
          </p:cNvPicPr>
          <p:nvPr/>
        </p:nvPicPr>
        <p:blipFill>
          <a:blip r:embed="rId2"/>
          <a:stretch>
            <a:fillRect/>
          </a:stretch>
        </p:blipFill>
        <p:spPr>
          <a:xfrm>
            <a:off x="9372600" y="1325880"/>
            <a:ext cx="2560320" cy="4983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822960"/>
            <a:ext cx="5486400" cy="548640"/>
          </a:xfrm>
          <a:prstGeom prst="rect">
            <a:avLst/>
          </a:prstGeom>
          <a:noFill/>
          <a:ln/>
        </p:spPr>
        <p:txBody>
          <a:bodyPr wrap="square" lIns="0" tIns="0" rIns="0" bIns="0" rtlCol="0" anchor="ctr"/>
          <a:lstStyle/>
          <a:p>
            <a:pPr indent="0" marL="0">
              <a:buNone/>
            </a:pPr>
            <a:r>
              <a:rPr lang="en-US" sz="2800" b="1" dirty="0">
                <a:solidFill>
                  <a:schemeClr val="accent1"/>
                </a:solidFill>
                <a:latin typeface="Calibri" pitchFamily="34" charset="0"/>
                <a:ea typeface="Calibri" pitchFamily="34" charset="-122"/>
                <a:cs typeface="Calibri" pitchFamily="34" charset="-120"/>
              </a:rPr>
              <a:t>11:40 pm</a:t>
            </a:r>
            <a:endParaRPr lang="en-US" sz="2800" dirty="0"/>
          </a:p>
        </p:txBody>
      </p:sp>
      <p:sp>
        <p:nvSpPr>
          <p:cNvPr id="3" name="Text 1"/>
          <p:cNvSpPr txBox="1"/>
          <p:nvPr/>
        </p:nvSpPr>
        <p:spPr>
          <a:xfrm>
            <a:off x="731520" y="1463040"/>
            <a:ext cx="6949440" cy="210312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Six hours after the birth, the bleeding has not stopped.</a:t>
            </a:r>
            <a:endParaRPr lang="en-US" sz="4400" dirty="0"/>
          </a:p>
        </p:txBody>
      </p:sp>
      <p:sp>
        <p:nvSpPr>
          <p:cNvPr id="4" name="Text 2"/>
          <p:cNvSpPr txBox="1"/>
          <p:nvPr/>
        </p:nvSpPr>
        <p:spPr>
          <a:xfrm>
            <a:off x="731520" y="3794760"/>
            <a:ext cx="6766560" cy="1371600"/>
          </a:xfrm>
          <a:prstGeom prst="rect">
            <a:avLst/>
          </a:prstGeom>
          <a:noFill/>
          <a:ln/>
        </p:spPr>
        <p:txBody>
          <a:bodyPr wrap="square" lIns="0" tIns="0" rIns="0" bIns="0" rtlCol="0" anchor="t"/>
          <a:lstStyle/>
          <a:p>
            <a:pPr indent="0" marL="0">
              <a:buNone/>
            </a:pPr>
            <a:r>
              <a:rPr lang="en-US" sz="2200" dirty="0">
                <a:solidFill>
                  <a:schemeClr val="bg2"/>
                </a:solidFill>
                <a:latin typeface="Calibri" pitchFamily="34" charset="0"/>
                <a:ea typeface="Calibri" pitchFamily="34" charset="-122"/>
                <a:cs typeface="Calibri" pitchFamily="34" charset="-120"/>
              </a:rPr>
              <a:t>Her husband holds the phone. Her mother-in-law says wait for morning. Nobody knows if this is normal.</a:t>
            </a:r>
            <a:endParaRPr lang="en-US" sz="2200" dirty="0"/>
          </a:p>
        </p:txBody>
      </p:sp>
      <p:sp>
        <p:nvSpPr>
          <p:cNvPr id="5" name="Text 3"/>
          <p:cNvSpPr txBox="1"/>
          <p:nvPr/>
        </p:nvSpPr>
        <p:spPr>
          <a:xfrm>
            <a:off x="731520" y="5989320"/>
            <a:ext cx="5486400" cy="274320"/>
          </a:xfrm>
          <a:prstGeom prst="rect">
            <a:avLst/>
          </a:prstGeom>
          <a:noFill/>
          <a:ln/>
        </p:spPr>
        <p:txBody>
          <a:bodyPr wrap="square" lIns="0" tIns="0" rIns="0" bIns="0" rtlCol="0" anchor="ctr"/>
          <a:lstStyle/>
          <a:p>
            <a:pPr indent="0" marL="0">
              <a:buNone/>
            </a:pPr>
            <a:r>
              <a:rPr lang="en-US" sz="1200" i="1" dirty="0">
                <a:solidFill>
                  <a:schemeClr val="accent6"/>
                </a:solidFill>
                <a:latin typeface="Calibri" pitchFamily="34" charset="0"/>
                <a:ea typeface="Calibri" pitchFamily="34" charset="-122"/>
                <a:cs typeface="Calibri" pitchFamily="34" charset="-120"/>
              </a:rPr>
              <a:t>An illustrative scene, not a real person.</a:t>
            </a:r>
            <a:endParaRPr lang="en-US" sz="1200" dirty="0"/>
          </a:p>
        </p:txBody>
      </p:sp>
      <p:sp>
        <p:nvSpPr>
          <p:cNvPr id="6" name="Scene card"/>
          <p:cNvSpPr/>
          <p:nvPr/>
        </p:nvSpPr>
        <p:spPr>
          <a:xfrm>
            <a:off x="8229600" y="1097280"/>
            <a:ext cx="3474720" cy="4480560"/>
          </a:xfrm>
          <a:prstGeom prst="roundRect">
            <a:avLst>
              <a:gd name="adj" fmla="val 4211"/>
            </a:avLst>
          </a:prstGeom>
          <a:solidFill>
            <a:schemeClr val="bg1"/>
          </a:solidFill>
          <a:ln w="12700">
            <a:solidFill>
              <a:schemeClr val="bg1"/>
            </a:solidFill>
            <a:prstDash val="solid"/>
          </a:ln>
        </p:spPr>
      </p:sp>
      <p:pic>
        <p:nvPicPr>
          <p:cNvPr id="7" name="Image 0" descr="Pictogram: heavy bleeding with a clock">    </p:cNvPr>
          <p:cNvPicPr>
            <a:picLocks noChangeAspect="1"/>
          </p:cNvPicPr>
          <p:nvPr/>
        </p:nvPicPr>
        <p:blipFill>
          <a:blip r:embed="rId1"/>
          <a:stretch>
            <a:fillRect/>
          </a:stretch>
        </p:blipFill>
        <p:spPr>
          <a:xfrm>
            <a:off x="8549640" y="1371600"/>
            <a:ext cx="2834640" cy="2834640"/>
          </a:xfrm>
          <a:prstGeom prst="rect">
            <a:avLst/>
          </a:prstGeom>
        </p:spPr>
      </p:pic>
      <p:sp>
        <p:nvSpPr>
          <p:cNvPr id="8" name="Text 5"/>
          <p:cNvSpPr txBox="1"/>
          <p:nvPr/>
        </p:nvSpPr>
        <p:spPr>
          <a:xfrm>
            <a:off x="8412480" y="4434840"/>
            <a:ext cx="3108960" cy="822960"/>
          </a:xfrm>
          <a:prstGeom prst="rect">
            <a:avLst/>
          </a:prstGeom>
          <a:noFill/>
          <a:ln/>
        </p:spPr>
        <p:txBody>
          <a:bodyPr wrap="square" lIns="0" tIns="0" rIns="0" bIns="0" rtlCol="0" anchor="ctr"/>
          <a:lstStyle/>
          <a:p>
            <a:pPr algn="ctr" indent="0" marL="0">
              <a:buNone/>
            </a:pPr>
            <a:r>
              <a:rPr lang="en-US" sz="2000" b="1" dirty="0">
                <a:solidFill>
                  <a:schemeClr val="accent2"/>
                </a:solidFill>
                <a:latin typeface="Calibri" pitchFamily="34" charset="0"/>
                <a:ea typeface="Calibri" pitchFamily="34" charset="-122"/>
                <a:cs typeface="Calibri" pitchFamily="34" charset="-120"/>
              </a:rPr>
              <a:t>The next ten minutes decide.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Contact is high. The decision is late.</a:t>
            </a:r>
            <a:endParaRPr lang="en-US" sz="3600" dirty="0"/>
          </a:p>
        </p:txBody>
      </p:sp>
      <p:sp>
        <p:nvSpPr>
          <p:cNvPr id="3" name="Tile births"/>
          <p:cNvSpPr/>
          <p:nvPr/>
        </p:nvSpPr>
        <p:spPr>
          <a:xfrm>
            <a:off x="548640" y="1645920"/>
            <a:ext cx="3383280" cy="2834640"/>
          </a:xfrm>
          <a:prstGeom prst="roundRect">
            <a:avLst>
              <a:gd name="adj" fmla="val 4516"/>
            </a:avLst>
          </a:prstGeom>
          <a:solidFill>
            <a:schemeClr val="tx2"/>
          </a:solidFill>
          <a:ln w="12700">
            <a:solidFill>
              <a:schemeClr val="tx2"/>
            </a:solidFill>
            <a:prstDash val="solid"/>
          </a:ln>
          <a:effectLst>
            <a:outerShdw sx="100000" sy="100000" kx="0" ky="0" algn="bl" rotWithShape="0" blurRad="127000" dist="38100" dir="5400000">
              <a:srgbClr val="111B38">
                <a:alpha val="18000"/>
              </a:srgbClr>
            </a:outerShdw>
          </a:effectLst>
        </p:spPr>
      </p:sp>
      <p:sp>
        <p:nvSpPr>
          <p:cNvPr id="4" name="Text 2"/>
          <p:cNvSpPr txBox="1"/>
          <p:nvPr/>
        </p:nvSpPr>
        <p:spPr>
          <a:xfrm>
            <a:off x="822960" y="1874520"/>
            <a:ext cx="2834640" cy="987552"/>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25.2M</a:t>
            </a:r>
            <a:endParaRPr lang="en-US" sz="5400" dirty="0"/>
          </a:p>
        </p:txBody>
      </p:sp>
      <p:sp>
        <p:nvSpPr>
          <p:cNvPr id="5" name="Text 3"/>
          <p:cNvSpPr txBox="1"/>
          <p:nvPr/>
        </p:nvSpPr>
        <p:spPr>
          <a:xfrm>
            <a:off x="822960" y="3044952"/>
            <a:ext cx="2834640" cy="886968"/>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births a year in India</a:t>
            </a:r>
            <a:endParaRPr lang="en-US" sz="1600" dirty="0"/>
          </a:p>
        </p:txBody>
      </p:sp>
      <p:sp>
        <p:nvSpPr>
          <p:cNvPr id="6" name="Text 4"/>
          <p:cNvSpPr txBox="1"/>
          <p:nvPr/>
        </p:nvSpPr>
        <p:spPr>
          <a:xfrm>
            <a:off x="822960" y="4023360"/>
            <a:ext cx="2834640" cy="27432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Secondary source</a:t>
            </a:r>
            <a:endParaRPr lang="en-US" sz="1100" dirty="0"/>
          </a:p>
        </p:txBody>
      </p:sp>
      <p:sp>
        <p:nvSpPr>
          <p:cNvPr id="7" name="Tile delay"/>
          <p:cNvSpPr/>
          <p:nvPr/>
        </p:nvSpPr>
        <p:spPr>
          <a:xfrm>
            <a:off x="4114800" y="1417320"/>
            <a:ext cx="4023360" cy="3291840"/>
          </a:xfrm>
          <a:prstGeom prst="roundRect">
            <a:avLst>
              <a:gd name="adj" fmla="val 3889"/>
            </a:avLst>
          </a:prstGeom>
          <a:solidFill>
            <a:schemeClr val="accent2"/>
          </a:solidFill>
          <a:ln w="12700">
            <a:solidFill>
              <a:schemeClr val="accent2"/>
            </a:solidFill>
            <a:prstDash val="solid"/>
          </a:ln>
          <a:effectLst>
            <a:outerShdw sx="100000" sy="100000" kx="0" ky="0" algn="bl" rotWithShape="0" blurRad="127000" dist="38100" dir="5400000">
              <a:srgbClr val="111B38">
                <a:alpha val="18000"/>
              </a:srgbClr>
            </a:outerShdw>
          </a:effectLst>
        </p:spPr>
      </p:sp>
      <p:sp>
        <p:nvSpPr>
          <p:cNvPr id="8" name="Text 6"/>
          <p:cNvSpPr txBox="1"/>
          <p:nvPr/>
        </p:nvSpPr>
        <p:spPr>
          <a:xfrm>
            <a:off x="4389120" y="1645920"/>
            <a:ext cx="3474720" cy="1389888"/>
          </a:xfrm>
          <a:prstGeom prst="rect">
            <a:avLst/>
          </a:prstGeom>
          <a:noFill/>
          <a:ln/>
        </p:spPr>
        <p:txBody>
          <a:bodyPr wrap="square" lIns="0" tIns="0" rIns="0" bIns="0" rtlCol="0" anchor="ctr"/>
          <a:lstStyle/>
          <a:p>
            <a:pPr indent="0" marL="0">
              <a:buNone/>
            </a:pPr>
            <a:r>
              <a:rPr lang="en-US" sz="7600" b="1" dirty="0">
                <a:solidFill>
                  <a:schemeClr val="bg1"/>
                </a:solidFill>
                <a:latin typeface="Cambria" pitchFamily="34" charset="0"/>
                <a:ea typeface="Cambria" pitchFamily="34" charset="-122"/>
                <a:cs typeface="Cambria" pitchFamily="34" charset="-120"/>
              </a:rPr>
              <a:t>48.6%</a:t>
            </a:r>
            <a:endParaRPr lang="en-US" sz="7600" dirty="0"/>
          </a:p>
        </p:txBody>
      </p:sp>
      <p:sp>
        <p:nvSpPr>
          <p:cNvPr id="9" name="Text 7"/>
          <p:cNvSpPr txBox="1"/>
          <p:nvPr/>
        </p:nvSpPr>
        <p:spPr>
          <a:xfrm>
            <a:off x="4389120" y="3218688"/>
            <a:ext cx="3474720" cy="941832"/>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of maternal deaths in one Indian hospital study involved a delay in deciding or seeking care</a:t>
            </a:r>
            <a:endParaRPr lang="en-US" sz="1600" dirty="0"/>
          </a:p>
        </p:txBody>
      </p:sp>
      <p:sp>
        <p:nvSpPr>
          <p:cNvPr id="10" name="Text 8"/>
          <p:cNvSpPr txBox="1"/>
          <p:nvPr/>
        </p:nvSpPr>
        <p:spPr>
          <a:xfrm>
            <a:off x="4389120" y="4251960"/>
            <a:ext cx="3474720" cy="27432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Verified, single study</a:t>
            </a:r>
            <a:endParaRPr lang="en-US" sz="1100" dirty="0"/>
          </a:p>
        </p:txBody>
      </p:sp>
      <p:sp>
        <p:nvSpPr>
          <p:cNvPr id="11" name="Tile visits"/>
          <p:cNvSpPr/>
          <p:nvPr/>
        </p:nvSpPr>
        <p:spPr>
          <a:xfrm>
            <a:off x="8321040" y="1645920"/>
            <a:ext cx="3337560" cy="2834640"/>
          </a:xfrm>
          <a:prstGeom prst="roundRect">
            <a:avLst>
              <a:gd name="adj" fmla="val 4516"/>
            </a:avLst>
          </a:prstGeom>
          <a:solidFill>
            <a:schemeClr val="tx2"/>
          </a:solidFill>
          <a:ln w="12700">
            <a:solidFill>
              <a:schemeClr val="tx2"/>
            </a:solidFill>
            <a:prstDash val="solid"/>
          </a:ln>
          <a:effectLst>
            <a:outerShdw sx="100000" sy="100000" kx="0" ky="0" algn="bl" rotWithShape="0" blurRad="127000" dist="38100" dir="5400000">
              <a:srgbClr val="111B38">
                <a:alpha val="18000"/>
              </a:srgbClr>
            </a:outerShdw>
          </a:effectLst>
        </p:spPr>
      </p:sp>
      <p:sp>
        <p:nvSpPr>
          <p:cNvPr id="12" name="Text 10"/>
          <p:cNvSpPr txBox="1"/>
          <p:nvPr/>
        </p:nvSpPr>
        <p:spPr>
          <a:xfrm>
            <a:off x="8595360" y="1874520"/>
            <a:ext cx="2788920" cy="987552"/>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1 in 3</a:t>
            </a:r>
            <a:endParaRPr lang="en-US" sz="5400" dirty="0"/>
          </a:p>
        </p:txBody>
      </p:sp>
      <p:sp>
        <p:nvSpPr>
          <p:cNvPr id="13" name="Text 11"/>
          <p:cNvSpPr txBox="1"/>
          <p:nvPr/>
        </p:nvSpPr>
        <p:spPr>
          <a:xfrm>
            <a:off x="8595360" y="3044952"/>
            <a:ext cx="2788920" cy="886968"/>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women still has fewer than four antenatal visits</a:t>
            </a:r>
            <a:endParaRPr lang="en-US" sz="1600" dirty="0"/>
          </a:p>
        </p:txBody>
      </p:sp>
      <p:sp>
        <p:nvSpPr>
          <p:cNvPr id="14" name="Text 12"/>
          <p:cNvSpPr txBox="1"/>
          <p:nvPr/>
        </p:nvSpPr>
        <p:spPr>
          <a:xfrm>
            <a:off x="8595360" y="4023360"/>
            <a:ext cx="2788920" cy="27432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Secondary, derived</a:t>
            </a:r>
            <a:endParaRPr lang="en-US" sz="1100" dirty="0"/>
          </a:p>
        </p:txBody>
      </p:sp>
      <p:sp>
        <p:nvSpPr>
          <p:cNvPr id="15" name="Text 13"/>
          <p:cNvSpPr txBox="1"/>
          <p:nvPr/>
        </p:nvSpPr>
        <p:spPr>
          <a:xfrm>
            <a:off x="548640" y="4846320"/>
            <a:ext cx="8229600" cy="36576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Three delays kill. Maitri works on the first two.</a:t>
            </a:r>
            <a:endParaRPr lang="en-US" sz="1800" dirty="0"/>
          </a:p>
        </p:txBody>
      </p:sp>
      <p:sp>
        <p:nvSpPr>
          <p:cNvPr id="16" name="Delay 1"/>
          <p:cNvSpPr/>
          <p:nvPr/>
        </p:nvSpPr>
        <p:spPr>
          <a:xfrm>
            <a:off x="548640" y="5303520"/>
            <a:ext cx="3611880" cy="777240"/>
          </a:xfrm>
          <a:prstGeom prst="chevron">
            <a:avLst/>
          </a:prstGeom>
          <a:solidFill>
            <a:schemeClr val="accent1"/>
          </a:solidFill>
          <a:ln w="12700">
            <a:solidFill>
              <a:schemeClr val="accent1"/>
            </a:solidFill>
            <a:prstDash val="solid"/>
          </a:ln>
        </p:spPr>
      </p:sp>
      <p:sp>
        <p:nvSpPr>
          <p:cNvPr id="17" name="Text 15"/>
          <p:cNvSpPr txBox="1"/>
          <p:nvPr/>
        </p:nvSpPr>
        <p:spPr>
          <a:xfrm>
            <a:off x="1051560" y="5303520"/>
            <a:ext cx="274320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1  Recognise the danger</a:t>
            </a:r>
            <a:endParaRPr lang="en-US" sz="1600" dirty="0"/>
          </a:p>
        </p:txBody>
      </p:sp>
      <p:sp>
        <p:nvSpPr>
          <p:cNvPr id="18" name="Delay 2"/>
          <p:cNvSpPr/>
          <p:nvPr/>
        </p:nvSpPr>
        <p:spPr>
          <a:xfrm>
            <a:off x="4297680" y="5303520"/>
            <a:ext cx="3611880" cy="777240"/>
          </a:xfrm>
          <a:prstGeom prst="chevron">
            <a:avLst/>
          </a:prstGeom>
          <a:solidFill>
            <a:schemeClr val="accent1"/>
          </a:solidFill>
          <a:ln w="12700">
            <a:solidFill>
              <a:schemeClr val="accent1"/>
            </a:solidFill>
            <a:prstDash val="solid"/>
          </a:ln>
        </p:spPr>
      </p:sp>
      <p:sp>
        <p:nvSpPr>
          <p:cNvPr id="19" name="Text 17"/>
          <p:cNvSpPr txBox="1"/>
          <p:nvPr/>
        </p:nvSpPr>
        <p:spPr>
          <a:xfrm>
            <a:off x="4800600" y="5303520"/>
            <a:ext cx="274320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2  Decide to go now</a:t>
            </a:r>
            <a:endParaRPr lang="en-US" sz="1600" dirty="0"/>
          </a:p>
        </p:txBody>
      </p:sp>
      <p:sp>
        <p:nvSpPr>
          <p:cNvPr id="20" name="Delay 3"/>
          <p:cNvSpPr/>
          <p:nvPr/>
        </p:nvSpPr>
        <p:spPr>
          <a:xfrm>
            <a:off x="8046720" y="5303520"/>
            <a:ext cx="3611880" cy="777240"/>
          </a:xfrm>
          <a:prstGeom prst="chevron">
            <a:avLst/>
          </a:prstGeom>
          <a:solidFill>
            <a:srgbClr val="C9D3E3"/>
          </a:solidFill>
          <a:ln w="12700">
            <a:solidFill>
              <a:srgbClr val="C9D3E3"/>
            </a:solidFill>
            <a:prstDash val="solid"/>
          </a:ln>
        </p:spPr>
      </p:sp>
      <p:sp>
        <p:nvSpPr>
          <p:cNvPr id="21" name="Text 19"/>
          <p:cNvSpPr txBox="1"/>
          <p:nvPr/>
        </p:nvSpPr>
        <p:spPr>
          <a:xfrm>
            <a:off x="8549640" y="5303520"/>
            <a:ext cx="2743200" cy="777240"/>
          </a:xfrm>
          <a:prstGeom prst="rect">
            <a:avLst/>
          </a:prstGeom>
          <a:noFill/>
          <a:ln/>
        </p:spPr>
        <p:txBody>
          <a:bodyPr wrap="square" lIns="0" tIns="0" rIns="0" bIns="0" rtlCol="0" anchor="ctr"/>
          <a:lstStyle/>
          <a:p>
            <a:pPr indent="0" marL="0">
              <a:buNone/>
            </a:pPr>
            <a:r>
              <a:rPr lang="en-US" sz="1600" b="1" dirty="0">
                <a:solidFill>
                  <a:schemeClr val="accent5"/>
                </a:solidFill>
                <a:latin typeface="Calibri" pitchFamily="34" charset="0"/>
                <a:ea typeface="Calibri" pitchFamily="34" charset="-122"/>
                <a:cs typeface="Calibri" pitchFamily="34" charset="-120"/>
              </a:rPr>
              <a:t>3  Reach and receive care</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Why today's options fail the family</a:t>
            </a:r>
            <a:endParaRPr lang="en-US" sz="3600" dirty="0"/>
          </a:p>
        </p:txBody>
      </p:sp>
      <p:sp>
        <p:nvSpPr>
          <p:cNvPr id="3" name="Maitri column highlight"/>
          <p:cNvSpPr/>
          <p:nvPr/>
        </p:nvSpPr>
        <p:spPr>
          <a:xfrm>
            <a:off x="9966960" y="1371600"/>
            <a:ext cx="1783080" cy="4343400"/>
          </a:xfrm>
          <a:prstGeom prst="roundRect">
            <a:avLst>
              <a:gd name="adj" fmla="val 6154"/>
            </a:avLst>
          </a:prstGeom>
          <a:solidFill>
            <a:srgbClr val="FFF3CC"/>
          </a:solidFill>
          <a:ln w="38100">
            <a:solidFill>
              <a:schemeClr val="accent1"/>
            </a:solidFill>
            <a:prstDash val="solid"/>
          </a:ln>
        </p:spPr>
      </p:sp>
      <p:sp>
        <p:nvSpPr>
          <p:cNvPr id="4" name="Text 2"/>
          <p:cNvSpPr txBox="1"/>
          <p:nvPr/>
        </p:nvSpPr>
        <p:spPr>
          <a:xfrm>
            <a:off x="466344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Paper card</a:t>
            </a:r>
            <a:endParaRPr lang="en-US" sz="1500" dirty="0"/>
          </a:p>
        </p:txBody>
      </p:sp>
      <p:sp>
        <p:nvSpPr>
          <p:cNvPr id="5" name="Text 3"/>
          <p:cNvSpPr txBox="1"/>
          <p:nvPr/>
        </p:nvSpPr>
        <p:spPr>
          <a:xfrm>
            <a:off x="644652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Helpline</a:t>
            </a:r>
            <a:endParaRPr lang="en-US" sz="1500" dirty="0"/>
          </a:p>
        </p:txBody>
      </p:sp>
      <p:sp>
        <p:nvSpPr>
          <p:cNvPr id="6" name="Text 4"/>
          <p:cNvSpPr txBox="1"/>
          <p:nvPr/>
        </p:nvSpPr>
        <p:spPr>
          <a:xfrm>
            <a:off x="8229600" y="1481328"/>
            <a:ext cx="1691640" cy="457200"/>
          </a:xfrm>
          <a:prstGeom prst="rect">
            <a:avLst/>
          </a:prstGeom>
          <a:noFill/>
          <a:ln/>
        </p:spPr>
        <p:txBody>
          <a:bodyPr wrap="square" lIns="0" tIns="0" rIns="0" bIns="0" rtlCol="0" anchor="ctr"/>
          <a:lstStyle/>
          <a:p>
            <a:pPr algn="ctr" indent="0" marL="0">
              <a:buNone/>
            </a:pPr>
            <a:r>
              <a:rPr lang="en-US" sz="1500" b="1" dirty="0">
                <a:solidFill>
                  <a:schemeClr val="accent5"/>
                </a:solidFill>
                <a:latin typeface="Calibri" pitchFamily="34" charset="0"/>
                <a:ea typeface="Calibri" pitchFamily="34" charset="-122"/>
                <a:cs typeface="Calibri" pitchFamily="34" charset="-120"/>
              </a:rPr>
              <a:t>Symptom chatbot</a:t>
            </a:r>
            <a:endParaRPr lang="en-US" sz="1500" dirty="0"/>
          </a:p>
        </p:txBody>
      </p:sp>
      <p:sp>
        <p:nvSpPr>
          <p:cNvPr id="7" name="Text 5"/>
          <p:cNvSpPr txBox="1"/>
          <p:nvPr/>
        </p:nvSpPr>
        <p:spPr>
          <a:xfrm>
            <a:off x="10012680" y="1481328"/>
            <a:ext cx="1691640" cy="45720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Maitri</a:t>
            </a:r>
            <a:endParaRPr lang="en-US" sz="2000" dirty="0"/>
          </a:p>
        </p:txBody>
      </p:sp>
      <p:sp>
        <p:nvSpPr>
          <p:cNvPr id="8" name="Text 6"/>
          <p:cNvSpPr txBox="1"/>
          <p:nvPr/>
        </p:nvSpPr>
        <p:spPr>
          <a:xfrm>
            <a:off x="548640" y="205740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Works with no internet</a:t>
            </a:r>
            <a:endParaRPr lang="en-US" sz="1800" dirty="0"/>
          </a:p>
        </p:txBody>
      </p:sp>
      <p:sp>
        <p:nvSpPr>
          <p:cNvPr id="9" name="Row rule 0"/>
          <p:cNvSpPr/>
          <p:nvPr/>
        </p:nvSpPr>
        <p:spPr>
          <a:xfrm>
            <a:off x="548640" y="2715768"/>
            <a:ext cx="3931920" cy="0"/>
          </a:xfrm>
          <a:prstGeom prst="line">
            <a:avLst/>
          </a:prstGeom>
          <a:noFill/>
          <a:ln w="12700">
            <a:solidFill>
              <a:srgbClr val="C9D3E3"/>
            </a:solidFill>
            <a:prstDash val="solid"/>
          </a:ln>
        </p:spPr>
      </p:sp>
      <p:sp>
        <p:nvSpPr>
          <p:cNvPr id="10" name="Cell 0-0"/>
          <p:cNvSpPr/>
          <p:nvPr/>
        </p:nvSpPr>
        <p:spPr>
          <a:xfrm>
            <a:off x="5298948" y="2144268"/>
            <a:ext cx="420624" cy="420624"/>
          </a:xfrm>
          <a:prstGeom prst="ellipse">
            <a:avLst/>
          </a:prstGeom>
          <a:solidFill>
            <a:schemeClr val="accent3"/>
          </a:solidFill>
          <a:ln w="12700">
            <a:solidFill>
              <a:schemeClr val="accent3"/>
            </a:solidFill>
            <a:prstDash val="solid"/>
          </a:ln>
        </p:spPr>
      </p:sp>
      <p:pic>
        <p:nvPicPr>
          <p:cNvPr id="11" name="Image 0" descr="yes">    </p:cNvPr>
          <p:cNvPicPr>
            <a:picLocks noChangeAspect="1"/>
          </p:cNvPicPr>
          <p:nvPr/>
        </p:nvPicPr>
        <p:blipFill>
          <a:blip r:embed="rId1"/>
          <a:stretch>
            <a:fillRect/>
          </a:stretch>
        </p:blipFill>
        <p:spPr>
          <a:xfrm>
            <a:off x="5404104" y="2249424"/>
            <a:ext cx="210312" cy="210312"/>
          </a:xfrm>
          <a:prstGeom prst="rect">
            <a:avLst/>
          </a:prstGeom>
        </p:spPr>
      </p:pic>
      <p:sp>
        <p:nvSpPr>
          <p:cNvPr id="12" name="Cell 0-1"/>
          <p:cNvSpPr/>
          <p:nvPr/>
        </p:nvSpPr>
        <p:spPr>
          <a:xfrm>
            <a:off x="7082028" y="2144268"/>
            <a:ext cx="420624" cy="420624"/>
          </a:xfrm>
          <a:prstGeom prst="ellipse">
            <a:avLst/>
          </a:prstGeom>
          <a:solidFill>
            <a:srgbClr val="8C98B0"/>
          </a:solidFill>
          <a:ln w="12700">
            <a:solidFill>
              <a:srgbClr val="8C98B0"/>
            </a:solidFill>
            <a:prstDash val="solid"/>
          </a:ln>
        </p:spPr>
      </p:sp>
      <p:pic>
        <p:nvPicPr>
          <p:cNvPr id="13" name="Image 1" descr="no">    </p:cNvPr>
          <p:cNvPicPr>
            <a:picLocks noChangeAspect="1"/>
          </p:cNvPicPr>
          <p:nvPr/>
        </p:nvPicPr>
        <p:blipFill>
          <a:blip r:embed="rId2"/>
          <a:stretch>
            <a:fillRect/>
          </a:stretch>
        </p:blipFill>
        <p:spPr>
          <a:xfrm>
            <a:off x="7187184" y="2249424"/>
            <a:ext cx="210312" cy="210312"/>
          </a:xfrm>
          <a:prstGeom prst="rect">
            <a:avLst/>
          </a:prstGeom>
        </p:spPr>
      </p:pic>
      <p:sp>
        <p:nvSpPr>
          <p:cNvPr id="14" name="Cell 0-2"/>
          <p:cNvSpPr/>
          <p:nvPr/>
        </p:nvSpPr>
        <p:spPr>
          <a:xfrm>
            <a:off x="8865108" y="2144268"/>
            <a:ext cx="420624" cy="420624"/>
          </a:xfrm>
          <a:prstGeom prst="ellipse">
            <a:avLst/>
          </a:prstGeom>
          <a:solidFill>
            <a:srgbClr val="8C98B0"/>
          </a:solidFill>
          <a:ln w="12700">
            <a:solidFill>
              <a:srgbClr val="8C98B0"/>
            </a:solidFill>
            <a:prstDash val="solid"/>
          </a:ln>
        </p:spPr>
      </p:sp>
      <p:pic>
        <p:nvPicPr>
          <p:cNvPr id="15" name="Image 2" descr="no">    </p:cNvPr>
          <p:cNvPicPr>
            <a:picLocks noChangeAspect="1"/>
          </p:cNvPicPr>
          <p:nvPr/>
        </p:nvPicPr>
        <p:blipFill>
          <a:blip r:embed="rId3"/>
          <a:stretch>
            <a:fillRect/>
          </a:stretch>
        </p:blipFill>
        <p:spPr>
          <a:xfrm>
            <a:off x="8970264" y="2249424"/>
            <a:ext cx="210312" cy="210312"/>
          </a:xfrm>
          <a:prstGeom prst="rect">
            <a:avLst/>
          </a:prstGeom>
        </p:spPr>
      </p:pic>
      <p:sp>
        <p:nvSpPr>
          <p:cNvPr id="16" name="Cell 0-3"/>
          <p:cNvSpPr/>
          <p:nvPr/>
        </p:nvSpPr>
        <p:spPr>
          <a:xfrm>
            <a:off x="10607040" y="2103120"/>
            <a:ext cx="502920" cy="502920"/>
          </a:xfrm>
          <a:prstGeom prst="ellipse">
            <a:avLst/>
          </a:prstGeom>
          <a:solidFill>
            <a:schemeClr val="accent3"/>
          </a:solidFill>
          <a:ln w="12700">
            <a:solidFill>
              <a:schemeClr val="accent3"/>
            </a:solidFill>
            <a:prstDash val="solid"/>
          </a:ln>
        </p:spPr>
      </p:sp>
      <p:pic>
        <p:nvPicPr>
          <p:cNvPr id="17" name="Image 3" descr="yes">    </p:cNvPr>
          <p:cNvPicPr>
            <a:picLocks noChangeAspect="1"/>
          </p:cNvPicPr>
          <p:nvPr/>
        </p:nvPicPr>
        <p:blipFill>
          <a:blip r:embed="rId4"/>
          <a:stretch>
            <a:fillRect/>
          </a:stretch>
        </p:blipFill>
        <p:spPr>
          <a:xfrm>
            <a:off x="10732770" y="2228850"/>
            <a:ext cx="251460" cy="251460"/>
          </a:xfrm>
          <a:prstGeom prst="rect">
            <a:avLst/>
          </a:prstGeom>
        </p:spPr>
      </p:pic>
      <p:sp>
        <p:nvSpPr>
          <p:cNvPr id="18" name="Text 12"/>
          <p:cNvSpPr txBox="1"/>
          <p:nvPr/>
        </p:nvSpPr>
        <p:spPr>
          <a:xfrm>
            <a:off x="548640" y="278892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Hindi: listens and answers aloud</a:t>
            </a:r>
            <a:endParaRPr lang="en-US" sz="1800" dirty="0"/>
          </a:p>
        </p:txBody>
      </p:sp>
      <p:sp>
        <p:nvSpPr>
          <p:cNvPr id="19" name="Row rule 1"/>
          <p:cNvSpPr/>
          <p:nvPr/>
        </p:nvSpPr>
        <p:spPr>
          <a:xfrm>
            <a:off x="548640" y="3447288"/>
            <a:ext cx="3931920" cy="0"/>
          </a:xfrm>
          <a:prstGeom prst="line">
            <a:avLst/>
          </a:prstGeom>
          <a:noFill/>
          <a:ln w="12700">
            <a:solidFill>
              <a:srgbClr val="C9D3E3"/>
            </a:solidFill>
            <a:prstDash val="solid"/>
          </a:ln>
        </p:spPr>
      </p:sp>
      <p:sp>
        <p:nvSpPr>
          <p:cNvPr id="20" name="Cell 1-0"/>
          <p:cNvSpPr/>
          <p:nvPr/>
        </p:nvSpPr>
        <p:spPr>
          <a:xfrm>
            <a:off x="5298948" y="2875788"/>
            <a:ext cx="420624" cy="420624"/>
          </a:xfrm>
          <a:prstGeom prst="ellipse">
            <a:avLst/>
          </a:prstGeom>
          <a:solidFill>
            <a:srgbClr val="8C98B0"/>
          </a:solidFill>
          <a:ln w="12700">
            <a:solidFill>
              <a:srgbClr val="8C98B0"/>
            </a:solidFill>
            <a:prstDash val="solid"/>
          </a:ln>
        </p:spPr>
      </p:sp>
      <p:pic>
        <p:nvPicPr>
          <p:cNvPr id="21" name="Image 4" descr="no">    </p:cNvPr>
          <p:cNvPicPr>
            <a:picLocks noChangeAspect="1"/>
          </p:cNvPicPr>
          <p:nvPr/>
        </p:nvPicPr>
        <p:blipFill>
          <a:blip r:embed="rId5"/>
          <a:stretch>
            <a:fillRect/>
          </a:stretch>
        </p:blipFill>
        <p:spPr>
          <a:xfrm>
            <a:off x="5404104" y="2980944"/>
            <a:ext cx="210312" cy="210312"/>
          </a:xfrm>
          <a:prstGeom prst="rect">
            <a:avLst/>
          </a:prstGeom>
        </p:spPr>
      </p:pic>
      <p:sp>
        <p:nvSpPr>
          <p:cNvPr id="22" name="Cell 1-1"/>
          <p:cNvSpPr/>
          <p:nvPr/>
        </p:nvSpPr>
        <p:spPr>
          <a:xfrm>
            <a:off x="7082028" y="2875788"/>
            <a:ext cx="420624" cy="420624"/>
          </a:xfrm>
          <a:prstGeom prst="ellipse">
            <a:avLst/>
          </a:prstGeom>
          <a:solidFill>
            <a:schemeClr val="accent3"/>
          </a:solidFill>
          <a:ln w="12700">
            <a:solidFill>
              <a:schemeClr val="accent3"/>
            </a:solidFill>
            <a:prstDash val="solid"/>
          </a:ln>
        </p:spPr>
      </p:sp>
      <p:pic>
        <p:nvPicPr>
          <p:cNvPr id="23" name="Image 5" descr="yes">    </p:cNvPr>
          <p:cNvPicPr>
            <a:picLocks noChangeAspect="1"/>
          </p:cNvPicPr>
          <p:nvPr/>
        </p:nvPicPr>
        <p:blipFill>
          <a:blip r:embed="rId6"/>
          <a:stretch>
            <a:fillRect/>
          </a:stretch>
        </p:blipFill>
        <p:spPr>
          <a:xfrm>
            <a:off x="7187184" y="2980944"/>
            <a:ext cx="210312" cy="210312"/>
          </a:xfrm>
          <a:prstGeom prst="rect">
            <a:avLst/>
          </a:prstGeom>
        </p:spPr>
      </p:pic>
      <p:sp>
        <p:nvSpPr>
          <p:cNvPr id="24" name="Cell 1-2"/>
          <p:cNvSpPr/>
          <p:nvPr/>
        </p:nvSpPr>
        <p:spPr>
          <a:xfrm>
            <a:off x="8865108" y="2875788"/>
            <a:ext cx="420624" cy="420624"/>
          </a:xfrm>
          <a:prstGeom prst="ellipse">
            <a:avLst/>
          </a:prstGeom>
          <a:solidFill>
            <a:schemeClr val="accent1"/>
          </a:solidFill>
          <a:ln w="12700">
            <a:solidFill>
              <a:schemeClr val="accent1"/>
            </a:solidFill>
            <a:prstDash val="solid"/>
          </a:ln>
        </p:spPr>
      </p:sp>
      <p:pic>
        <p:nvPicPr>
          <p:cNvPr id="25" name="Image 6" descr="partly">    </p:cNvPr>
          <p:cNvPicPr>
            <a:picLocks noChangeAspect="1"/>
          </p:cNvPicPr>
          <p:nvPr/>
        </p:nvPicPr>
        <p:blipFill>
          <a:blip r:embed="rId7"/>
          <a:stretch>
            <a:fillRect/>
          </a:stretch>
        </p:blipFill>
        <p:spPr>
          <a:xfrm>
            <a:off x="8970264" y="2980944"/>
            <a:ext cx="210312" cy="210312"/>
          </a:xfrm>
          <a:prstGeom prst="rect">
            <a:avLst/>
          </a:prstGeom>
        </p:spPr>
      </p:pic>
      <p:sp>
        <p:nvSpPr>
          <p:cNvPr id="26" name="Cell 1-3"/>
          <p:cNvSpPr/>
          <p:nvPr/>
        </p:nvSpPr>
        <p:spPr>
          <a:xfrm>
            <a:off x="10607040" y="2834640"/>
            <a:ext cx="502920" cy="502920"/>
          </a:xfrm>
          <a:prstGeom prst="ellipse">
            <a:avLst/>
          </a:prstGeom>
          <a:solidFill>
            <a:schemeClr val="accent3"/>
          </a:solidFill>
          <a:ln w="12700">
            <a:solidFill>
              <a:schemeClr val="accent3"/>
            </a:solidFill>
            <a:prstDash val="solid"/>
          </a:ln>
        </p:spPr>
      </p:sp>
      <p:pic>
        <p:nvPicPr>
          <p:cNvPr id="27" name="Image 7" descr="yes">    </p:cNvPr>
          <p:cNvPicPr>
            <a:picLocks noChangeAspect="1"/>
          </p:cNvPicPr>
          <p:nvPr/>
        </p:nvPicPr>
        <p:blipFill>
          <a:blip r:embed="rId8"/>
          <a:stretch>
            <a:fillRect/>
          </a:stretch>
        </p:blipFill>
        <p:spPr>
          <a:xfrm>
            <a:off x="10732770" y="2960370"/>
            <a:ext cx="251460" cy="251460"/>
          </a:xfrm>
          <a:prstGeom prst="rect">
            <a:avLst/>
          </a:prstGeom>
        </p:spPr>
      </p:pic>
      <p:sp>
        <p:nvSpPr>
          <p:cNvPr id="28" name="Text 18"/>
          <p:cNvSpPr txBox="1"/>
          <p:nvPr/>
        </p:nvSpPr>
        <p:spPr>
          <a:xfrm>
            <a:off x="548640" y="352044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Tells the family the next step</a:t>
            </a:r>
            <a:endParaRPr lang="en-US" sz="1800" dirty="0"/>
          </a:p>
        </p:txBody>
      </p:sp>
      <p:sp>
        <p:nvSpPr>
          <p:cNvPr id="29" name="Row rule 2"/>
          <p:cNvSpPr/>
          <p:nvPr/>
        </p:nvSpPr>
        <p:spPr>
          <a:xfrm>
            <a:off x="548640" y="4178808"/>
            <a:ext cx="3931920" cy="0"/>
          </a:xfrm>
          <a:prstGeom prst="line">
            <a:avLst/>
          </a:prstGeom>
          <a:noFill/>
          <a:ln w="12700">
            <a:solidFill>
              <a:srgbClr val="C9D3E3"/>
            </a:solidFill>
            <a:prstDash val="solid"/>
          </a:ln>
        </p:spPr>
      </p:sp>
      <p:sp>
        <p:nvSpPr>
          <p:cNvPr id="30" name="Cell 2-0"/>
          <p:cNvSpPr/>
          <p:nvPr/>
        </p:nvSpPr>
        <p:spPr>
          <a:xfrm>
            <a:off x="5298948" y="3607308"/>
            <a:ext cx="420624" cy="420624"/>
          </a:xfrm>
          <a:prstGeom prst="ellipse">
            <a:avLst/>
          </a:prstGeom>
          <a:solidFill>
            <a:schemeClr val="accent1"/>
          </a:solidFill>
          <a:ln w="12700">
            <a:solidFill>
              <a:schemeClr val="accent1"/>
            </a:solidFill>
            <a:prstDash val="solid"/>
          </a:ln>
        </p:spPr>
      </p:sp>
      <p:pic>
        <p:nvPicPr>
          <p:cNvPr id="31" name="Image 8" descr="partly">    </p:cNvPr>
          <p:cNvPicPr>
            <a:picLocks noChangeAspect="1"/>
          </p:cNvPicPr>
          <p:nvPr/>
        </p:nvPicPr>
        <p:blipFill>
          <a:blip r:embed="rId9"/>
          <a:stretch>
            <a:fillRect/>
          </a:stretch>
        </p:blipFill>
        <p:spPr>
          <a:xfrm>
            <a:off x="5404104" y="3712464"/>
            <a:ext cx="210312" cy="210312"/>
          </a:xfrm>
          <a:prstGeom prst="rect">
            <a:avLst/>
          </a:prstGeom>
        </p:spPr>
      </p:pic>
      <p:sp>
        <p:nvSpPr>
          <p:cNvPr id="32" name="Cell 2-1"/>
          <p:cNvSpPr/>
          <p:nvPr/>
        </p:nvSpPr>
        <p:spPr>
          <a:xfrm>
            <a:off x="7082028" y="3607308"/>
            <a:ext cx="420624" cy="420624"/>
          </a:xfrm>
          <a:prstGeom prst="ellipse">
            <a:avLst/>
          </a:prstGeom>
          <a:solidFill>
            <a:schemeClr val="accent3"/>
          </a:solidFill>
          <a:ln w="12700">
            <a:solidFill>
              <a:schemeClr val="accent3"/>
            </a:solidFill>
            <a:prstDash val="solid"/>
          </a:ln>
        </p:spPr>
      </p:sp>
      <p:pic>
        <p:nvPicPr>
          <p:cNvPr id="33" name="Image 9" descr="yes">    </p:cNvPr>
          <p:cNvPicPr>
            <a:picLocks noChangeAspect="1"/>
          </p:cNvPicPr>
          <p:nvPr/>
        </p:nvPicPr>
        <p:blipFill>
          <a:blip r:embed="rId10"/>
          <a:stretch>
            <a:fillRect/>
          </a:stretch>
        </p:blipFill>
        <p:spPr>
          <a:xfrm>
            <a:off x="7187184" y="3712464"/>
            <a:ext cx="210312" cy="210312"/>
          </a:xfrm>
          <a:prstGeom prst="rect">
            <a:avLst/>
          </a:prstGeom>
        </p:spPr>
      </p:pic>
      <p:sp>
        <p:nvSpPr>
          <p:cNvPr id="34" name="Cell 2-2"/>
          <p:cNvSpPr/>
          <p:nvPr/>
        </p:nvSpPr>
        <p:spPr>
          <a:xfrm>
            <a:off x="8865108" y="3607308"/>
            <a:ext cx="420624" cy="420624"/>
          </a:xfrm>
          <a:prstGeom prst="ellipse">
            <a:avLst/>
          </a:prstGeom>
          <a:solidFill>
            <a:schemeClr val="accent1"/>
          </a:solidFill>
          <a:ln w="12700">
            <a:solidFill>
              <a:schemeClr val="accent1"/>
            </a:solidFill>
            <a:prstDash val="solid"/>
          </a:ln>
        </p:spPr>
      </p:sp>
      <p:pic>
        <p:nvPicPr>
          <p:cNvPr id="35" name="Image 10" descr="partly">    </p:cNvPr>
          <p:cNvPicPr>
            <a:picLocks noChangeAspect="1"/>
          </p:cNvPicPr>
          <p:nvPr/>
        </p:nvPicPr>
        <p:blipFill>
          <a:blip r:embed="rId11"/>
          <a:stretch>
            <a:fillRect/>
          </a:stretch>
        </p:blipFill>
        <p:spPr>
          <a:xfrm>
            <a:off x="8970264" y="3712464"/>
            <a:ext cx="210312" cy="210312"/>
          </a:xfrm>
          <a:prstGeom prst="rect">
            <a:avLst/>
          </a:prstGeom>
        </p:spPr>
      </p:pic>
      <p:sp>
        <p:nvSpPr>
          <p:cNvPr id="36" name="Cell 2-3"/>
          <p:cNvSpPr/>
          <p:nvPr/>
        </p:nvSpPr>
        <p:spPr>
          <a:xfrm>
            <a:off x="10607040" y="3566160"/>
            <a:ext cx="502920" cy="502920"/>
          </a:xfrm>
          <a:prstGeom prst="ellipse">
            <a:avLst/>
          </a:prstGeom>
          <a:solidFill>
            <a:schemeClr val="accent3"/>
          </a:solidFill>
          <a:ln w="12700">
            <a:solidFill>
              <a:schemeClr val="accent3"/>
            </a:solidFill>
            <a:prstDash val="solid"/>
          </a:ln>
        </p:spPr>
      </p:sp>
      <p:pic>
        <p:nvPicPr>
          <p:cNvPr id="37" name="Image 11" descr="yes">    </p:cNvPr>
          <p:cNvPicPr>
            <a:picLocks noChangeAspect="1"/>
          </p:cNvPicPr>
          <p:nvPr/>
        </p:nvPicPr>
        <p:blipFill>
          <a:blip r:embed="rId12"/>
          <a:stretch>
            <a:fillRect/>
          </a:stretch>
        </p:blipFill>
        <p:spPr>
          <a:xfrm>
            <a:off x="10732770" y="3691890"/>
            <a:ext cx="251460" cy="251460"/>
          </a:xfrm>
          <a:prstGeom prst="rect">
            <a:avLst/>
          </a:prstGeom>
        </p:spPr>
      </p:pic>
      <p:sp>
        <p:nvSpPr>
          <p:cNvPr id="38" name="Text 24"/>
          <p:cNvSpPr txBox="1"/>
          <p:nvPr/>
        </p:nvSpPr>
        <p:spPr>
          <a:xfrm>
            <a:off x="548640" y="425196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Shows why, with its sources</a:t>
            </a:r>
            <a:endParaRPr lang="en-US" sz="1800" dirty="0"/>
          </a:p>
        </p:txBody>
      </p:sp>
      <p:sp>
        <p:nvSpPr>
          <p:cNvPr id="39" name="Row rule 3"/>
          <p:cNvSpPr/>
          <p:nvPr/>
        </p:nvSpPr>
        <p:spPr>
          <a:xfrm>
            <a:off x="548640" y="4910328"/>
            <a:ext cx="3931920" cy="0"/>
          </a:xfrm>
          <a:prstGeom prst="line">
            <a:avLst/>
          </a:prstGeom>
          <a:noFill/>
          <a:ln w="12700">
            <a:solidFill>
              <a:srgbClr val="C9D3E3"/>
            </a:solidFill>
            <a:prstDash val="solid"/>
          </a:ln>
        </p:spPr>
      </p:sp>
      <p:sp>
        <p:nvSpPr>
          <p:cNvPr id="40" name="Cell 3-0"/>
          <p:cNvSpPr/>
          <p:nvPr/>
        </p:nvSpPr>
        <p:spPr>
          <a:xfrm>
            <a:off x="5298948" y="4338828"/>
            <a:ext cx="420624" cy="420624"/>
          </a:xfrm>
          <a:prstGeom prst="ellipse">
            <a:avLst/>
          </a:prstGeom>
          <a:solidFill>
            <a:schemeClr val="accent3"/>
          </a:solidFill>
          <a:ln w="12700">
            <a:solidFill>
              <a:schemeClr val="accent3"/>
            </a:solidFill>
            <a:prstDash val="solid"/>
          </a:ln>
        </p:spPr>
      </p:sp>
      <p:pic>
        <p:nvPicPr>
          <p:cNvPr id="41" name="Image 12" descr="yes">    </p:cNvPr>
          <p:cNvPicPr>
            <a:picLocks noChangeAspect="1"/>
          </p:cNvPicPr>
          <p:nvPr/>
        </p:nvPicPr>
        <p:blipFill>
          <a:blip r:embed="rId13"/>
          <a:stretch>
            <a:fillRect/>
          </a:stretch>
        </p:blipFill>
        <p:spPr>
          <a:xfrm>
            <a:off x="5404104" y="4443984"/>
            <a:ext cx="210312" cy="210312"/>
          </a:xfrm>
          <a:prstGeom prst="rect">
            <a:avLst/>
          </a:prstGeom>
        </p:spPr>
      </p:pic>
      <p:sp>
        <p:nvSpPr>
          <p:cNvPr id="42" name="Cell 3-1"/>
          <p:cNvSpPr/>
          <p:nvPr/>
        </p:nvSpPr>
        <p:spPr>
          <a:xfrm>
            <a:off x="7082028" y="4338828"/>
            <a:ext cx="420624" cy="420624"/>
          </a:xfrm>
          <a:prstGeom prst="ellipse">
            <a:avLst/>
          </a:prstGeom>
          <a:solidFill>
            <a:srgbClr val="8C98B0"/>
          </a:solidFill>
          <a:ln w="12700">
            <a:solidFill>
              <a:srgbClr val="8C98B0"/>
            </a:solidFill>
            <a:prstDash val="solid"/>
          </a:ln>
        </p:spPr>
      </p:sp>
      <p:pic>
        <p:nvPicPr>
          <p:cNvPr id="43" name="Image 13" descr="no">    </p:cNvPr>
          <p:cNvPicPr>
            <a:picLocks noChangeAspect="1"/>
          </p:cNvPicPr>
          <p:nvPr/>
        </p:nvPicPr>
        <p:blipFill>
          <a:blip r:embed="rId14"/>
          <a:stretch>
            <a:fillRect/>
          </a:stretch>
        </p:blipFill>
        <p:spPr>
          <a:xfrm>
            <a:off x="7187184" y="4443984"/>
            <a:ext cx="210312" cy="210312"/>
          </a:xfrm>
          <a:prstGeom prst="rect">
            <a:avLst/>
          </a:prstGeom>
        </p:spPr>
      </p:pic>
      <p:sp>
        <p:nvSpPr>
          <p:cNvPr id="44" name="Cell 3-2"/>
          <p:cNvSpPr/>
          <p:nvPr/>
        </p:nvSpPr>
        <p:spPr>
          <a:xfrm>
            <a:off x="8865108" y="4338828"/>
            <a:ext cx="420624" cy="420624"/>
          </a:xfrm>
          <a:prstGeom prst="ellipse">
            <a:avLst/>
          </a:prstGeom>
          <a:solidFill>
            <a:srgbClr val="8C98B0"/>
          </a:solidFill>
          <a:ln w="12700">
            <a:solidFill>
              <a:srgbClr val="8C98B0"/>
            </a:solidFill>
            <a:prstDash val="solid"/>
          </a:ln>
        </p:spPr>
      </p:sp>
      <p:pic>
        <p:nvPicPr>
          <p:cNvPr id="45" name="Image 14" descr="no">    </p:cNvPr>
          <p:cNvPicPr>
            <a:picLocks noChangeAspect="1"/>
          </p:cNvPicPr>
          <p:nvPr/>
        </p:nvPicPr>
        <p:blipFill>
          <a:blip r:embed="rId15"/>
          <a:stretch>
            <a:fillRect/>
          </a:stretch>
        </p:blipFill>
        <p:spPr>
          <a:xfrm>
            <a:off x="8970264" y="4443984"/>
            <a:ext cx="210312" cy="210312"/>
          </a:xfrm>
          <a:prstGeom prst="rect">
            <a:avLst/>
          </a:prstGeom>
        </p:spPr>
      </p:pic>
      <p:sp>
        <p:nvSpPr>
          <p:cNvPr id="46" name="Cell 3-3"/>
          <p:cNvSpPr/>
          <p:nvPr/>
        </p:nvSpPr>
        <p:spPr>
          <a:xfrm>
            <a:off x="10607040" y="4297680"/>
            <a:ext cx="502920" cy="502920"/>
          </a:xfrm>
          <a:prstGeom prst="ellipse">
            <a:avLst/>
          </a:prstGeom>
          <a:solidFill>
            <a:schemeClr val="accent3"/>
          </a:solidFill>
          <a:ln w="12700">
            <a:solidFill>
              <a:schemeClr val="accent3"/>
            </a:solidFill>
            <a:prstDash val="solid"/>
          </a:ln>
        </p:spPr>
      </p:sp>
      <p:pic>
        <p:nvPicPr>
          <p:cNvPr id="47" name="Image 15" descr="yes">    </p:cNvPr>
          <p:cNvPicPr>
            <a:picLocks noChangeAspect="1"/>
          </p:cNvPicPr>
          <p:nvPr/>
        </p:nvPicPr>
        <p:blipFill>
          <a:blip r:embed="rId16"/>
          <a:stretch>
            <a:fillRect/>
          </a:stretch>
        </p:blipFill>
        <p:spPr>
          <a:xfrm>
            <a:off x="10732770" y="4423410"/>
            <a:ext cx="251460" cy="251460"/>
          </a:xfrm>
          <a:prstGeom prst="rect">
            <a:avLst/>
          </a:prstGeom>
        </p:spPr>
      </p:pic>
      <p:sp>
        <p:nvSpPr>
          <p:cNvPr id="48" name="Text 30"/>
          <p:cNvSpPr txBox="1"/>
          <p:nvPr/>
        </p:nvSpPr>
        <p:spPr>
          <a:xfrm>
            <a:off x="548640" y="4983480"/>
            <a:ext cx="3931920" cy="5943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Hands a summary to the ASHA or doctor</a:t>
            </a:r>
            <a:endParaRPr lang="en-US" sz="1800" dirty="0"/>
          </a:p>
        </p:txBody>
      </p:sp>
      <p:sp>
        <p:nvSpPr>
          <p:cNvPr id="49" name="Row rule 4"/>
          <p:cNvSpPr/>
          <p:nvPr/>
        </p:nvSpPr>
        <p:spPr>
          <a:xfrm>
            <a:off x="548640" y="5641848"/>
            <a:ext cx="3931920" cy="0"/>
          </a:xfrm>
          <a:prstGeom prst="line">
            <a:avLst/>
          </a:prstGeom>
          <a:noFill/>
          <a:ln w="12700">
            <a:solidFill>
              <a:srgbClr val="C9D3E3"/>
            </a:solidFill>
            <a:prstDash val="solid"/>
          </a:ln>
        </p:spPr>
      </p:sp>
      <p:sp>
        <p:nvSpPr>
          <p:cNvPr id="50" name="Cell 4-0"/>
          <p:cNvSpPr/>
          <p:nvPr/>
        </p:nvSpPr>
        <p:spPr>
          <a:xfrm>
            <a:off x="5298948" y="5070348"/>
            <a:ext cx="420624" cy="420624"/>
          </a:xfrm>
          <a:prstGeom prst="ellipse">
            <a:avLst/>
          </a:prstGeom>
          <a:solidFill>
            <a:srgbClr val="8C98B0"/>
          </a:solidFill>
          <a:ln w="12700">
            <a:solidFill>
              <a:srgbClr val="8C98B0"/>
            </a:solidFill>
            <a:prstDash val="solid"/>
          </a:ln>
        </p:spPr>
      </p:sp>
      <p:pic>
        <p:nvPicPr>
          <p:cNvPr id="51" name="Image 16" descr="no">    </p:cNvPr>
          <p:cNvPicPr>
            <a:picLocks noChangeAspect="1"/>
          </p:cNvPicPr>
          <p:nvPr/>
        </p:nvPicPr>
        <p:blipFill>
          <a:blip r:embed="rId17"/>
          <a:stretch>
            <a:fillRect/>
          </a:stretch>
        </p:blipFill>
        <p:spPr>
          <a:xfrm>
            <a:off x="5404104" y="5175504"/>
            <a:ext cx="210312" cy="210312"/>
          </a:xfrm>
          <a:prstGeom prst="rect">
            <a:avLst/>
          </a:prstGeom>
        </p:spPr>
      </p:pic>
      <p:sp>
        <p:nvSpPr>
          <p:cNvPr id="52" name="Cell 4-1"/>
          <p:cNvSpPr/>
          <p:nvPr/>
        </p:nvSpPr>
        <p:spPr>
          <a:xfrm>
            <a:off x="7082028" y="5070348"/>
            <a:ext cx="420624" cy="420624"/>
          </a:xfrm>
          <a:prstGeom prst="ellipse">
            <a:avLst/>
          </a:prstGeom>
          <a:solidFill>
            <a:srgbClr val="8C98B0"/>
          </a:solidFill>
          <a:ln w="12700">
            <a:solidFill>
              <a:srgbClr val="8C98B0"/>
            </a:solidFill>
            <a:prstDash val="solid"/>
          </a:ln>
        </p:spPr>
      </p:sp>
      <p:pic>
        <p:nvPicPr>
          <p:cNvPr id="53" name="Image 17" descr="no">    </p:cNvPr>
          <p:cNvPicPr>
            <a:picLocks noChangeAspect="1"/>
          </p:cNvPicPr>
          <p:nvPr/>
        </p:nvPicPr>
        <p:blipFill>
          <a:blip r:embed="rId18"/>
          <a:stretch>
            <a:fillRect/>
          </a:stretch>
        </p:blipFill>
        <p:spPr>
          <a:xfrm>
            <a:off x="7187184" y="5175504"/>
            <a:ext cx="210312" cy="210312"/>
          </a:xfrm>
          <a:prstGeom prst="rect">
            <a:avLst/>
          </a:prstGeom>
        </p:spPr>
      </p:pic>
      <p:sp>
        <p:nvSpPr>
          <p:cNvPr id="54" name="Cell 4-2"/>
          <p:cNvSpPr/>
          <p:nvPr/>
        </p:nvSpPr>
        <p:spPr>
          <a:xfrm>
            <a:off x="8865108" y="5070348"/>
            <a:ext cx="420624" cy="420624"/>
          </a:xfrm>
          <a:prstGeom prst="ellipse">
            <a:avLst/>
          </a:prstGeom>
          <a:solidFill>
            <a:srgbClr val="8C98B0"/>
          </a:solidFill>
          <a:ln w="12700">
            <a:solidFill>
              <a:srgbClr val="8C98B0"/>
            </a:solidFill>
            <a:prstDash val="solid"/>
          </a:ln>
        </p:spPr>
      </p:sp>
      <p:pic>
        <p:nvPicPr>
          <p:cNvPr id="55" name="Image 18" descr="no">    </p:cNvPr>
          <p:cNvPicPr>
            <a:picLocks noChangeAspect="1"/>
          </p:cNvPicPr>
          <p:nvPr/>
        </p:nvPicPr>
        <p:blipFill>
          <a:blip r:embed="rId19"/>
          <a:stretch>
            <a:fillRect/>
          </a:stretch>
        </p:blipFill>
        <p:spPr>
          <a:xfrm>
            <a:off x="8970264" y="5175504"/>
            <a:ext cx="210312" cy="210312"/>
          </a:xfrm>
          <a:prstGeom prst="rect">
            <a:avLst/>
          </a:prstGeom>
        </p:spPr>
      </p:pic>
      <p:sp>
        <p:nvSpPr>
          <p:cNvPr id="56" name="Cell 4-3"/>
          <p:cNvSpPr/>
          <p:nvPr/>
        </p:nvSpPr>
        <p:spPr>
          <a:xfrm>
            <a:off x="10607040" y="5029200"/>
            <a:ext cx="502920" cy="502920"/>
          </a:xfrm>
          <a:prstGeom prst="ellipse">
            <a:avLst/>
          </a:prstGeom>
          <a:solidFill>
            <a:schemeClr val="accent3"/>
          </a:solidFill>
          <a:ln w="12700">
            <a:solidFill>
              <a:schemeClr val="accent3"/>
            </a:solidFill>
            <a:prstDash val="solid"/>
          </a:ln>
        </p:spPr>
      </p:sp>
      <p:pic>
        <p:nvPicPr>
          <p:cNvPr id="57" name="Image 19" descr="yes">    </p:cNvPr>
          <p:cNvPicPr>
            <a:picLocks noChangeAspect="1"/>
          </p:cNvPicPr>
          <p:nvPr/>
        </p:nvPicPr>
        <p:blipFill>
          <a:blip r:embed="rId20"/>
          <a:stretch>
            <a:fillRect/>
          </a:stretch>
        </p:blipFill>
        <p:spPr>
          <a:xfrm>
            <a:off x="10732770" y="5154930"/>
            <a:ext cx="251460" cy="251460"/>
          </a:xfrm>
          <a:prstGeom prst="rect">
            <a:avLst/>
          </a:prstGeom>
        </p:spPr>
      </p:pic>
      <p:sp>
        <p:nvSpPr>
          <p:cNvPr id="58" name="Text 36"/>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00" i="1" dirty="0">
                <a:solidFill>
                  <a:schemeClr val="accent5"/>
                </a:solidFill>
                <a:latin typeface="Calibri" pitchFamily="34" charset="0"/>
                <a:ea typeface="Calibri" pitchFamily="34" charset="-122"/>
                <a:cs typeface="Calibri" pitchFamily="34" charset="-120"/>
              </a:rPr>
              <a:t>Typical examples and our own assessment from limited searching, not every product. A helpline can give advice in Hindi; it needs a phone, signal and a clear head.</a:t>
            </a:r>
            <a:endParaRPr lang="en-US" sz="11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Built for the three people in the room</a:t>
            </a:r>
            <a:endParaRPr lang="en-US" sz="3600" dirty="0"/>
          </a:p>
        </p:txBody>
      </p:sp>
      <p:sp>
        <p:nvSpPr>
          <p:cNvPr id="3" name="Persona 1"/>
          <p:cNvSpPr/>
          <p:nvPr/>
        </p:nvSpPr>
        <p:spPr>
          <a:xfrm>
            <a:off x="548640" y="1417320"/>
            <a:ext cx="2194560" cy="292608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pic>
        <p:nvPicPr>
          <p:cNvPr id="4" name="Image 0" descr="The woman">    </p:cNvPr>
          <p:cNvPicPr>
            <a:picLocks noChangeAspect="1"/>
          </p:cNvPicPr>
          <p:nvPr/>
        </p:nvPicPr>
        <p:blipFill>
          <a:blip r:embed="rId1"/>
          <a:stretch>
            <a:fillRect/>
          </a:stretch>
        </p:blipFill>
        <p:spPr>
          <a:xfrm>
            <a:off x="960120" y="1554480"/>
            <a:ext cx="1371600" cy="1371600"/>
          </a:xfrm>
          <a:prstGeom prst="rect">
            <a:avLst/>
          </a:prstGeom>
        </p:spPr>
      </p:pic>
      <p:sp>
        <p:nvSpPr>
          <p:cNvPr id="5" name="Text 2"/>
          <p:cNvSpPr txBox="1"/>
          <p:nvPr/>
        </p:nvSpPr>
        <p:spPr>
          <a:xfrm>
            <a:off x="640080" y="2971800"/>
            <a:ext cx="2011680" cy="411480"/>
          </a:xfrm>
          <a:prstGeom prst="rect">
            <a:avLst/>
          </a:prstGeom>
          <a:noFill/>
          <a:ln/>
        </p:spPr>
        <p:txBody>
          <a:bodyPr wrap="square" lIns="0" tIns="0" rIns="0" bIns="0" rtlCol="0" anchor="ctr"/>
          <a:lstStyle/>
          <a:p>
            <a:pPr algn="ctr" indent="0" marL="0">
              <a:buNone/>
            </a:pPr>
            <a:r>
              <a:rPr lang="en-US" sz="1900" b="1" dirty="0">
                <a:solidFill>
                  <a:schemeClr val="tx1"/>
                </a:solidFill>
                <a:latin typeface="Calibri" pitchFamily="34" charset="0"/>
                <a:ea typeface="Calibri" pitchFamily="34" charset="-122"/>
                <a:cs typeface="Calibri" pitchFamily="34" charset="-120"/>
              </a:rPr>
              <a:t>The woman</a:t>
            </a:r>
            <a:endParaRPr lang="en-US" sz="1900" dirty="0"/>
          </a:p>
        </p:txBody>
      </p:sp>
      <p:sp>
        <p:nvSpPr>
          <p:cNvPr id="6" name="Text 3"/>
          <p:cNvSpPr txBox="1"/>
          <p:nvPr/>
        </p:nvSpPr>
        <p:spPr>
          <a:xfrm>
            <a:off x="731520" y="3429000"/>
            <a:ext cx="1828800" cy="822960"/>
          </a:xfrm>
          <a:prstGeom prst="rect">
            <a:avLst/>
          </a:prstGeom>
          <a:noFill/>
          <a:ln/>
        </p:spPr>
        <p:txBody>
          <a:bodyPr wrap="square" lIns="0" tIns="0" rIns="0" bIns="0" rtlCol="0" anchor="t"/>
          <a:lstStyle/>
          <a:p>
            <a:pPr algn="ctr" indent="0" marL="0">
              <a:buNone/>
            </a:pPr>
            <a:r>
              <a:rPr lang="en-US" sz="1400" dirty="0">
                <a:solidFill>
                  <a:schemeClr val="accent5"/>
                </a:solidFill>
                <a:latin typeface="Calibri" pitchFamily="34" charset="0"/>
                <a:ea typeface="Calibri" pitchFamily="34" charset="-122"/>
                <a:cs typeface="Calibri" pitchFamily="34" charset="-120"/>
              </a:rPr>
              <a:t>Pregnant, or within 42 days of birth</a:t>
            </a:r>
            <a:endParaRPr lang="en-US" sz="1400" dirty="0"/>
          </a:p>
        </p:txBody>
      </p:sp>
      <p:sp>
        <p:nvSpPr>
          <p:cNvPr id="7" name="Persona 2"/>
          <p:cNvSpPr/>
          <p:nvPr/>
        </p:nvSpPr>
        <p:spPr>
          <a:xfrm>
            <a:off x="2880360" y="1417320"/>
            <a:ext cx="2194560" cy="292608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pic>
        <p:nvPicPr>
          <p:cNvPr id="8" name="Image 1" descr="ASHA or ANM">    </p:cNvPr>
          <p:cNvPicPr>
            <a:picLocks noChangeAspect="1"/>
          </p:cNvPicPr>
          <p:nvPr/>
        </p:nvPicPr>
        <p:blipFill>
          <a:blip r:embed="rId2"/>
          <a:stretch>
            <a:fillRect/>
          </a:stretch>
        </p:blipFill>
        <p:spPr>
          <a:xfrm>
            <a:off x="3291840" y="1554480"/>
            <a:ext cx="1371600" cy="1371600"/>
          </a:xfrm>
          <a:prstGeom prst="rect">
            <a:avLst/>
          </a:prstGeom>
        </p:spPr>
      </p:pic>
      <p:sp>
        <p:nvSpPr>
          <p:cNvPr id="9" name="Text 5"/>
          <p:cNvSpPr txBox="1"/>
          <p:nvPr/>
        </p:nvSpPr>
        <p:spPr>
          <a:xfrm>
            <a:off x="2971800" y="2971800"/>
            <a:ext cx="2011680" cy="411480"/>
          </a:xfrm>
          <a:prstGeom prst="rect">
            <a:avLst/>
          </a:prstGeom>
          <a:noFill/>
          <a:ln/>
        </p:spPr>
        <p:txBody>
          <a:bodyPr wrap="square" lIns="0" tIns="0" rIns="0" bIns="0" rtlCol="0" anchor="ctr"/>
          <a:lstStyle/>
          <a:p>
            <a:pPr algn="ctr" indent="0" marL="0">
              <a:buNone/>
            </a:pPr>
            <a:r>
              <a:rPr lang="en-US" sz="1900" b="1" dirty="0">
                <a:solidFill>
                  <a:schemeClr val="tx1"/>
                </a:solidFill>
                <a:latin typeface="Calibri" pitchFamily="34" charset="0"/>
                <a:ea typeface="Calibri" pitchFamily="34" charset="-122"/>
                <a:cs typeface="Calibri" pitchFamily="34" charset="-120"/>
              </a:rPr>
              <a:t>ASHA or ANM</a:t>
            </a:r>
            <a:endParaRPr lang="en-US" sz="1900" dirty="0"/>
          </a:p>
        </p:txBody>
      </p:sp>
      <p:sp>
        <p:nvSpPr>
          <p:cNvPr id="10" name="Text 6"/>
          <p:cNvSpPr txBox="1"/>
          <p:nvPr/>
        </p:nvSpPr>
        <p:spPr>
          <a:xfrm>
            <a:off x="3063240" y="3429000"/>
            <a:ext cx="1828800" cy="822960"/>
          </a:xfrm>
          <a:prstGeom prst="rect">
            <a:avLst/>
          </a:prstGeom>
          <a:noFill/>
          <a:ln/>
        </p:spPr>
        <p:txBody>
          <a:bodyPr wrap="square" lIns="0" tIns="0" rIns="0" bIns="0" rtlCol="0" anchor="t"/>
          <a:lstStyle/>
          <a:p>
            <a:pPr algn="ctr" indent="0" marL="0">
              <a:buNone/>
            </a:pPr>
            <a:r>
              <a:rPr lang="en-US" sz="1400" dirty="0">
                <a:solidFill>
                  <a:schemeClr val="accent5"/>
                </a:solidFill>
                <a:latin typeface="Calibri" pitchFamily="34" charset="0"/>
                <a:ea typeface="Calibri" pitchFamily="34" charset="-122"/>
                <a:cs typeface="Calibri" pitchFamily="34" charset="-120"/>
              </a:rPr>
              <a:t>Checks one woman after another</a:t>
            </a:r>
            <a:endParaRPr lang="en-US" sz="1400" dirty="0"/>
          </a:p>
        </p:txBody>
      </p:sp>
      <p:sp>
        <p:nvSpPr>
          <p:cNvPr id="11" name="Persona 3"/>
          <p:cNvSpPr/>
          <p:nvPr/>
        </p:nvSpPr>
        <p:spPr>
          <a:xfrm>
            <a:off x="5212080" y="1417320"/>
            <a:ext cx="2194560" cy="292608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pic>
        <p:nvPicPr>
          <p:cNvPr id="12" name="Image 2" descr="The family">    </p:cNvPr>
          <p:cNvPicPr>
            <a:picLocks noChangeAspect="1"/>
          </p:cNvPicPr>
          <p:nvPr/>
        </p:nvPicPr>
        <p:blipFill>
          <a:blip r:embed="rId3"/>
          <a:stretch>
            <a:fillRect/>
          </a:stretch>
        </p:blipFill>
        <p:spPr>
          <a:xfrm>
            <a:off x="5623560" y="1554480"/>
            <a:ext cx="1371600" cy="1371600"/>
          </a:xfrm>
          <a:prstGeom prst="rect">
            <a:avLst/>
          </a:prstGeom>
        </p:spPr>
      </p:pic>
      <p:sp>
        <p:nvSpPr>
          <p:cNvPr id="13" name="Text 8"/>
          <p:cNvSpPr txBox="1"/>
          <p:nvPr/>
        </p:nvSpPr>
        <p:spPr>
          <a:xfrm>
            <a:off x="5303520" y="2971800"/>
            <a:ext cx="2011680" cy="411480"/>
          </a:xfrm>
          <a:prstGeom prst="rect">
            <a:avLst/>
          </a:prstGeom>
          <a:noFill/>
          <a:ln/>
        </p:spPr>
        <p:txBody>
          <a:bodyPr wrap="square" lIns="0" tIns="0" rIns="0" bIns="0" rtlCol="0" anchor="ctr"/>
          <a:lstStyle/>
          <a:p>
            <a:pPr algn="ctr" indent="0" marL="0">
              <a:buNone/>
            </a:pPr>
            <a:r>
              <a:rPr lang="en-US" sz="1900" b="1" dirty="0">
                <a:solidFill>
                  <a:schemeClr val="tx1"/>
                </a:solidFill>
                <a:latin typeface="Calibri" pitchFamily="34" charset="0"/>
                <a:ea typeface="Calibri" pitchFamily="34" charset="-122"/>
                <a:cs typeface="Calibri" pitchFamily="34" charset="-120"/>
              </a:rPr>
              <a:t>The family</a:t>
            </a:r>
            <a:endParaRPr lang="en-US" sz="1900" dirty="0"/>
          </a:p>
        </p:txBody>
      </p:sp>
      <p:sp>
        <p:nvSpPr>
          <p:cNvPr id="14" name="Text 9"/>
          <p:cNvSpPr txBox="1"/>
          <p:nvPr/>
        </p:nvSpPr>
        <p:spPr>
          <a:xfrm>
            <a:off x="5394960" y="3429000"/>
            <a:ext cx="1828800" cy="822960"/>
          </a:xfrm>
          <a:prstGeom prst="rect">
            <a:avLst/>
          </a:prstGeom>
          <a:noFill/>
          <a:ln/>
        </p:spPr>
        <p:txBody>
          <a:bodyPr wrap="square" lIns="0" tIns="0" rIns="0" bIns="0" rtlCol="0" anchor="t"/>
          <a:lstStyle/>
          <a:p>
            <a:pPr algn="ctr" indent="0" marL="0">
              <a:buNone/>
            </a:pPr>
            <a:r>
              <a:rPr lang="en-US" sz="1400" dirty="0">
                <a:solidFill>
                  <a:schemeClr val="accent5"/>
                </a:solidFill>
                <a:latin typeface="Calibri" pitchFamily="34" charset="0"/>
                <a:ea typeface="Calibri" pitchFamily="34" charset="-122"/>
                <a:cs typeface="Calibri" pitchFamily="34" charset="-120"/>
              </a:rPr>
              <a:t>Decides if she goes now</a:t>
            </a:r>
            <a:endParaRPr lang="en-US" sz="1400" dirty="0"/>
          </a:p>
        </p:txBody>
      </p:sp>
      <p:sp>
        <p:nvSpPr>
          <p:cNvPr id="15" name="Text 10"/>
          <p:cNvSpPr txBox="1"/>
          <p:nvPr/>
        </p:nvSpPr>
        <p:spPr>
          <a:xfrm>
            <a:off x="7680960" y="1371600"/>
            <a:ext cx="4023360" cy="36576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Size of the opportunity</a:t>
            </a:r>
            <a:endParaRPr lang="en-US" sz="1800" dirty="0"/>
          </a:p>
        </p:txBody>
      </p:sp>
      <p:sp>
        <p:nvSpPr>
          <p:cNvPr id="16" name="TAM bar"/>
          <p:cNvSpPr/>
          <p:nvPr/>
        </p:nvSpPr>
        <p:spPr>
          <a:xfrm>
            <a:off x="7680960" y="1874520"/>
            <a:ext cx="4023360" cy="1188720"/>
          </a:xfrm>
          <a:prstGeom prst="roundRect">
            <a:avLst>
              <a:gd name="adj" fmla="val 9231"/>
            </a:avLst>
          </a:prstGeom>
          <a:solidFill>
            <a:schemeClr val="tx2"/>
          </a:solidFill>
          <a:ln w="12700">
            <a:solidFill>
              <a:schemeClr val="tx2"/>
            </a:solidFill>
            <a:prstDash val="solid"/>
          </a:ln>
        </p:spPr>
      </p:sp>
      <p:sp>
        <p:nvSpPr>
          <p:cNvPr id="17" name="Text 12"/>
          <p:cNvSpPr txBox="1"/>
          <p:nvPr/>
        </p:nvSpPr>
        <p:spPr>
          <a:xfrm>
            <a:off x="7863840" y="1965960"/>
            <a:ext cx="914400" cy="36576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TAM</a:t>
            </a:r>
            <a:endParaRPr lang="en-US" sz="2000" dirty="0"/>
          </a:p>
        </p:txBody>
      </p:sp>
      <p:sp>
        <p:nvSpPr>
          <p:cNvPr id="18" name="Text 13"/>
          <p:cNvSpPr txBox="1"/>
          <p:nvPr/>
        </p:nvSpPr>
        <p:spPr>
          <a:xfrm>
            <a:off x="7863840" y="2331720"/>
            <a:ext cx="3657600" cy="41148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25.2M births a year in India</a:t>
            </a:r>
            <a:endParaRPr lang="en-US" sz="1300" dirty="0"/>
          </a:p>
        </p:txBody>
      </p:sp>
      <p:sp>
        <p:nvSpPr>
          <p:cNvPr id="19" name="Text 14"/>
          <p:cNvSpPr txBox="1"/>
          <p:nvPr/>
        </p:nvSpPr>
        <p:spPr>
          <a:xfrm>
            <a:off x="7863840" y="2743200"/>
            <a:ext cx="3657600" cy="274320"/>
          </a:xfrm>
          <a:prstGeom prst="rect">
            <a:avLst/>
          </a:prstGeom>
          <a:noFill/>
          <a:ln/>
        </p:spPr>
        <p:txBody>
          <a:bodyPr wrap="square" lIns="0" tIns="0" rIns="0" bIns="0" rtlCol="0" anchor="ctr"/>
          <a:lstStyle/>
          <a:p>
            <a:pPr indent="0" marL="0">
              <a:buNone/>
            </a:pPr>
            <a:r>
              <a:rPr lang="en-US" sz="1100" i="1" dirty="0">
                <a:solidFill>
                  <a:schemeClr val="bg1"/>
                </a:solidFill>
                <a:latin typeface="Calibri" pitchFamily="34" charset="0"/>
                <a:ea typeface="Calibri" pitchFamily="34" charset="-122"/>
                <a:cs typeface="Calibri" pitchFamily="34" charset="-120"/>
              </a:rPr>
              <a:t>Secondary source</a:t>
            </a:r>
            <a:endParaRPr lang="en-US" sz="1100" dirty="0"/>
          </a:p>
        </p:txBody>
      </p:sp>
      <p:sp>
        <p:nvSpPr>
          <p:cNvPr id="20" name="SAM bar"/>
          <p:cNvSpPr/>
          <p:nvPr/>
        </p:nvSpPr>
        <p:spPr>
          <a:xfrm>
            <a:off x="7680960" y="3200400"/>
            <a:ext cx="3383280" cy="1188720"/>
          </a:xfrm>
          <a:prstGeom prst="roundRect">
            <a:avLst>
              <a:gd name="adj" fmla="val 9231"/>
            </a:avLst>
          </a:prstGeom>
          <a:solidFill>
            <a:schemeClr val="accent3"/>
          </a:solidFill>
          <a:ln w="12700">
            <a:solidFill>
              <a:schemeClr val="accent3"/>
            </a:solidFill>
            <a:prstDash val="solid"/>
          </a:ln>
        </p:spPr>
      </p:sp>
      <p:sp>
        <p:nvSpPr>
          <p:cNvPr id="21" name="Text 16"/>
          <p:cNvSpPr txBox="1"/>
          <p:nvPr/>
        </p:nvSpPr>
        <p:spPr>
          <a:xfrm>
            <a:off x="7863840" y="3291840"/>
            <a:ext cx="914400" cy="36576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SAM</a:t>
            </a:r>
            <a:endParaRPr lang="en-US" sz="2000" dirty="0"/>
          </a:p>
        </p:txBody>
      </p:sp>
      <p:sp>
        <p:nvSpPr>
          <p:cNvPr id="22" name="Text 17"/>
          <p:cNvSpPr txBox="1"/>
          <p:nvPr/>
        </p:nvSpPr>
        <p:spPr>
          <a:xfrm>
            <a:off x="7863840" y="3657600"/>
            <a:ext cx="3017520" cy="411480"/>
          </a:xfrm>
          <a:prstGeom prst="rect">
            <a:avLst/>
          </a:prstGeom>
          <a:noFill/>
          <a:ln/>
        </p:spPr>
        <p:txBody>
          <a:bodyPr wrap="square" lIns="0" tIns="0" rIns="0" bIns="0" rtlCol="0" anchor="t"/>
          <a:lstStyle/>
          <a:p>
            <a:pPr indent="0" marL="0">
              <a:buNone/>
            </a:pPr>
            <a:r>
              <a:rPr lang="en-US" sz="1300" b="1" dirty="0">
                <a:solidFill>
                  <a:schemeClr val="bg1"/>
                </a:solidFill>
                <a:latin typeface="Calibri" pitchFamily="34" charset="0"/>
                <a:ea typeface="Calibri" pitchFamily="34" charset="-122"/>
                <a:cs typeface="Calibri" pitchFamily="34" charset="-120"/>
              </a:rPr>
              <a:t>Births in Hindi-first, ASHA-served states</a:t>
            </a:r>
            <a:endParaRPr lang="en-US" sz="1300" dirty="0"/>
          </a:p>
        </p:txBody>
      </p:sp>
      <p:sp>
        <p:nvSpPr>
          <p:cNvPr id="23" name="Text 18"/>
          <p:cNvSpPr txBox="1"/>
          <p:nvPr/>
        </p:nvSpPr>
        <p:spPr>
          <a:xfrm>
            <a:off x="7863840" y="4069080"/>
            <a:ext cx="3017520" cy="274320"/>
          </a:xfrm>
          <a:prstGeom prst="rect">
            <a:avLst/>
          </a:prstGeom>
          <a:noFill/>
          <a:ln/>
        </p:spPr>
        <p:txBody>
          <a:bodyPr wrap="square" lIns="0" tIns="0" rIns="0" bIns="0" rtlCol="0" anchor="ctr"/>
          <a:lstStyle/>
          <a:p>
            <a:pPr indent="0" marL="0">
              <a:buNone/>
            </a:pPr>
            <a:r>
              <a:rPr lang="en-US" sz="1100" i="1" dirty="0">
                <a:solidFill>
                  <a:schemeClr val="bg1"/>
                </a:solidFill>
                <a:latin typeface="Calibri" pitchFamily="34" charset="0"/>
                <a:ea typeface="Calibri" pitchFamily="34" charset="-122"/>
                <a:cs typeface="Calibri" pitchFamily="34" charset="-120"/>
              </a:rPr>
              <a:t>To be sized from SRS data</a:t>
            </a:r>
            <a:endParaRPr lang="en-US" sz="1100" dirty="0"/>
          </a:p>
        </p:txBody>
      </p:sp>
      <p:sp>
        <p:nvSpPr>
          <p:cNvPr id="24" name="SOM bar"/>
          <p:cNvSpPr/>
          <p:nvPr/>
        </p:nvSpPr>
        <p:spPr>
          <a:xfrm>
            <a:off x="7680960" y="4526280"/>
            <a:ext cx="2743200" cy="1188720"/>
          </a:xfrm>
          <a:prstGeom prst="roundRect">
            <a:avLst>
              <a:gd name="adj" fmla="val 9231"/>
            </a:avLst>
          </a:prstGeom>
          <a:solidFill>
            <a:schemeClr val="accent1"/>
          </a:solidFill>
          <a:ln w="12700">
            <a:solidFill>
              <a:schemeClr val="accent1"/>
            </a:solidFill>
            <a:prstDash val="solid"/>
          </a:ln>
        </p:spPr>
      </p:sp>
      <p:sp>
        <p:nvSpPr>
          <p:cNvPr id="25" name="Text 20"/>
          <p:cNvSpPr txBox="1"/>
          <p:nvPr/>
        </p:nvSpPr>
        <p:spPr>
          <a:xfrm>
            <a:off x="7863840" y="4617720"/>
            <a:ext cx="914400" cy="36576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SOM</a:t>
            </a:r>
            <a:endParaRPr lang="en-US" sz="2000" dirty="0"/>
          </a:p>
        </p:txBody>
      </p:sp>
      <p:sp>
        <p:nvSpPr>
          <p:cNvPr id="26" name="Text 21"/>
          <p:cNvSpPr txBox="1"/>
          <p:nvPr/>
        </p:nvSpPr>
        <p:spPr>
          <a:xfrm>
            <a:off x="7863840" y="4983480"/>
            <a:ext cx="2377440" cy="41148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One district pilot, ASHAs of one block</a:t>
            </a:r>
            <a:endParaRPr lang="en-US" sz="1300" dirty="0"/>
          </a:p>
        </p:txBody>
      </p:sp>
      <p:sp>
        <p:nvSpPr>
          <p:cNvPr id="27" name="Text 22"/>
          <p:cNvSpPr txBox="1"/>
          <p:nvPr/>
        </p:nvSpPr>
        <p:spPr>
          <a:xfrm>
            <a:off x="7863840" y="5394960"/>
            <a:ext cx="2377440" cy="274320"/>
          </a:xfrm>
          <a:prstGeom prst="rect">
            <a:avLst/>
          </a:prstGeom>
          <a:noFill/>
          <a:ln/>
        </p:spPr>
        <p:txBody>
          <a:bodyPr wrap="square" lIns="0" tIns="0" rIns="0" bIns="0" rtlCol="0" anchor="ctr"/>
          <a:lstStyle/>
          <a:p>
            <a:pPr indent="0" marL="0">
              <a:buNone/>
            </a:pPr>
            <a:r>
              <a:rPr lang="en-US" sz="1100" i="1" dirty="0">
                <a:solidFill>
                  <a:schemeClr val="tx1"/>
                </a:solidFill>
                <a:latin typeface="Calibri" pitchFamily="34" charset="0"/>
                <a:ea typeface="Calibri" pitchFamily="34" charset="-122"/>
                <a:cs typeface="Calibri" pitchFamily="34" charset="-120"/>
              </a:rPr>
              <a:t>To be sized with the health mission</a:t>
            </a:r>
            <a:endParaRPr lang="en-US" sz="1100" dirty="0"/>
          </a:p>
        </p:txBody>
      </p:sp>
      <p:sp>
        <p:nvSpPr>
          <p:cNvPr id="28" name="First users"/>
          <p:cNvSpPr/>
          <p:nvPr/>
        </p:nvSpPr>
        <p:spPr>
          <a:xfrm>
            <a:off x="548640" y="4617720"/>
            <a:ext cx="6858000" cy="1554480"/>
          </a:xfrm>
          <a:prstGeom prst="roundRect">
            <a:avLst>
              <a:gd name="adj" fmla="val 7059"/>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9" name="Text 24"/>
          <p:cNvSpPr txBox="1"/>
          <p:nvPr/>
        </p:nvSpPr>
        <p:spPr>
          <a:xfrm>
            <a:off x="777240" y="4709160"/>
            <a:ext cx="6400800" cy="137160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About 36% of women do not own a phone (secondary), so ASHA and family modes come first. First users: ASHAs and families in a Hindi-speaking district with patchy signal. Only TAM is a sourced number; SAM and SOM are marked "to be sized" on purpose.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486400" cy="45720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Meet Maitri</a:t>
            </a:r>
            <a:endParaRPr lang="en-US" sz="1800" dirty="0"/>
          </a:p>
        </p:txBody>
      </p:sp>
      <p:sp>
        <p:nvSpPr>
          <p:cNvPr id="3" name="Title"/>
          <p:cNvSpPr txBox="1"/>
          <p:nvPr/>
        </p:nvSpPr>
        <p:spPr>
          <a:xfrm>
            <a:off x="548640" y="777240"/>
            <a:ext cx="1106424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Say it. See why. Know what to do.</a:t>
            </a:r>
            <a:endParaRPr lang="en-US" sz="4400" dirty="0"/>
          </a:p>
        </p:txBody>
      </p:sp>
      <p:sp>
        <p:nvSpPr>
          <p:cNvPr id="4" name="Step card 1"/>
          <p:cNvSpPr/>
          <p:nvPr/>
        </p:nvSpPr>
        <p:spPr>
          <a:xfrm>
            <a:off x="548640" y="2011680"/>
            <a:ext cx="3566160" cy="2514600"/>
          </a:xfrm>
          <a:prstGeom prst="roundRect">
            <a:avLst>
              <a:gd name="adj" fmla="val 5091"/>
            </a:avLst>
          </a:prstGeom>
          <a:solidFill>
            <a:srgbClr val="0B5E52"/>
          </a:solidFill>
          <a:ln w="12700">
            <a:solidFill>
              <a:srgbClr val="0B5E52"/>
            </a:solidFill>
            <a:prstDash val="solid"/>
          </a:ln>
        </p:spPr>
      </p:sp>
      <p:sp>
        <p:nvSpPr>
          <p:cNvPr id="5" name="Step bg 0"/>
          <p:cNvSpPr/>
          <p:nvPr/>
        </p:nvSpPr>
        <p:spPr>
          <a:xfrm>
            <a:off x="868680" y="2286000"/>
            <a:ext cx="868680" cy="868680"/>
          </a:xfrm>
          <a:prstGeom prst="ellipse">
            <a:avLst/>
          </a:prstGeom>
          <a:solidFill>
            <a:schemeClr val="accent1"/>
          </a:solidFill>
          <a:ln w="12700">
            <a:solidFill>
              <a:schemeClr val="accent1"/>
            </a:solidFill>
            <a:prstDash val="solid"/>
          </a:ln>
        </p:spPr>
      </p:sp>
      <p:pic>
        <p:nvPicPr>
          <p:cNvPr id="6" name="Image 0" descr="SAY IT">    </p:cNvPr>
          <p:cNvPicPr>
            <a:picLocks noChangeAspect="1"/>
          </p:cNvPicPr>
          <p:nvPr/>
        </p:nvPicPr>
        <p:blipFill>
          <a:blip r:embed="rId1"/>
          <a:stretch>
            <a:fillRect/>
          </a:stretch>
        </p:blipFill>
        <p:spPr>
          <a:xfrm>
            <a:off x="1097280" y="2514600"/>
            <a:ext cx="411480" cy="411480"/>
          </a:xfrm>
          <a:prstGeom prst="rect">
            <a:avLst/>
          </a:prstGeom>
        </p:spPr>
      </p:pic>
      <p:sp>
        <p:nvSpPr>
          <p:cNvPr id="7" name="Text 4"/>
          <p:cNvSpPr txBox="1"/>
          <p:nvPr/>
        </p:nvSpPr>
        <p:spPr>
          <a:xfrm>
            <a:off x="192024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SAY IT</a:t>
            </a:r>
            <a:endParaRPr lang="en-US" sz="2200" dirty="0"/>
          </a:p>
        </p:txBody>
      </p:sp>
      <p:sp>
        <p:nvSpPr>
          <p:cNvPr id="8" name="Text 5"/>
          <p:cNvSpPr txBox="1"/>
          <p:nvPr/>
        </p:nvSpPr>
        <p:spPr>
          <a:xfrm>
            <a:off x="86868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Speak or tap, in Hindi or English. Hear every question and result read aloud.</a:t>
            </a:r>
            <a:endParaRPr lang="en-US" sz="1500" dirty="0"/>
          </a:p>
        </p:txBody>
      </p:sp>
      <p:sp>
        <p:nvSpPr>
          <p:cNvPr id="9" name="Step card 2"/>
          <p:cNvSpPr/>
          <p:nvPr/>
        </p:nvSpPr>
        <p:spPr>
          <a:xfrm>
            <a:off x="4297680" y="2011680"/>
            <a:ext cx="3566160" cy="2514600"/>
          </a:xfrm>
          <a:prstGeom prst="roundRect">
            <a:avLst>
              <a:gd name="adj" fmla="val 5091"/>
            </a:avLst>
          </a:prstGeom>
          <a:solidFill>
            <a:srgbClr val="0B5E52"/>
          </a:solidFill>
          <a:ln w="12700">
            <a:solidFill>
              <a:srgbClr val="0B5E52"/>
            </a:solidFill>
            <a:prstDash val="solid"/>
          </a:ln>
        </p:spPr>
      </p:sp>
      <p:sp>
        <p:nvSpPr>
          <p:cNvPr id="10" name="Step bg 1"/>
          <p:cNvSpPr/>
          <p:nvPr/>
        </p:nvSpPr>
        <p:spPr>
          <a:xfrm>
            <a:off x="4617720" y="2286000"/>
            <a:ext cx="868680" cy="868680"/>
          </a:xfrm>
          <a:prstGeom prst="ellipse">
            <a:avLst/>
          </a:prstGeom>
          <a:solidFill>
            <a:schemeClr val="accent1"/>
          </a:solidFill>
          <a:ln w="12700">
            <a:solidFill>
              <a:schemeClr val="accent1"/>
            </a:solidFill>
            <a:prstDash val="solid"/>
          </a:ln>
        </p:spPr>
      </p:sp>
      <p:pic>
        <p:nvPicPr>
          <p:cNvPr id="11" name="Image 1" descr="SEE WHY">    </p:cNvPr>
          <p:cNvPicPr>
            <a:picLocks noChangeAspect="1"/>
          </p:cNvPicPr>
          <p:nvPr/>
        </p:nvPicPr>
        <p:blipFill>
          <a:blip r:embed="rId2"/>
          <a:stretch>
            <a:fillRect/>
          </a:stretch>
        </p:blipFill>
        <p:spPr>
          <a:xfrm>
            <a:off x="4846320" y="2514600"/>
            <a:ext cx="411480" cy="411480"/>
          </a:xfrm>
          <a:prstGeom prst="rect">
            <a:avLst/>
          </a:prstGeom>
        </p:spPr>
      </p:pic>
      <p:sp>
        <p:nvSpPr>
          <p:cNvPr id="12" name="Text 8"/>
          <p:cNvSpPr txBox="1"/>
          <p:nvPr/>
        </p:nvSpPr>
        <p:spPr>
          <a:xfrm>
            <a:off x="566928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SEE WHY</a:t>
            </a:r>
            <a:endParaRPr lang="en-US" sz="2200" dirty="0"/>
          </a:p>
        </p:txBody>
      </p:sp>
      <p:sp>
        <p:nvSpPr>
          <p:cNvPr id="13" name="Text 9"/>
          <p:cNvSpPr txBox="1"/>
          <p:nvPr/>
        </p:nvSpPr>
        <p:spPr>
          <a:xfrm>
            <a:off x="461772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Every result names the rule and the source. No AI decides.</a:t>
            </a:r>
            <a:endParaRPr lang="en-US" sz="1500" dirty="0"/>
          </a:p>
        </p:txBody>
      </p:sp>
      <p:sp>
        <p:nvSpPr>
          <p:cNvPr id="14" name="Step card 3"/>
          <p:cNvSpPr/>
          <p:nvPr/>
        </p:nvSpPr>
        <p:spPr>
          <a:xfrm>
            <a:off x="8046720" y="2011680"/>
            <a:ext cx="3566160" cy="2514600"/>
          </a:xfrm>
          <a:prstGeom prst="roundRect">
            <a:avLst>
              <a:gd name="adj" fmla="val 5091"/>
            </a:avLst>
          </a:prstGeom>
          <a:solidFill>
            <a:srgbClr val="0B5E52"/>
          </a:solidFill>
          <a:ln w="12700">
            <a:solidFill>
              <a:srgbClr val="0B5E52"/>
            </a:solidFill>
            <a:prstDash val="solid"/>
          </a:ln>
        </p:spPr>
      </p:sp>
      <p:sp>
        <p:nvSpPr>
          <p:cNvPr id="15" name="Step bg 2"/>
          <p:cNvSpPr/>
          <p:nvPr/>
        </p:nvSpPr>
        <p:spPr>
          <a:xfrm>
            <a:off x="8366760" y="2286000"/>
            <a:ext cx="868680" cy="868680"/>
          </a:xfrm>
          <a:prstGeom prst="ellipse">
            <a:avLst/>
          </a:prstGeom>
          <a:solidFill>
            <a:schemeClr val="accent1"/>
          </a:solidFill>
          <a:ln w="12700">
            <a:solidFill>
              <a:schemeClr val="accent1"/>
            </a:solidFill>
            <a:prstDash val="solid"/>
          </a:ln>
        </p:spPr>
      </p:sp>
      <p:pic>
        <p:nvPicPr>
          <p:cNvPr id="16" name="Image 2" descr="KNOW WHAT TO DO">    </p:cNvPr>
          <p:cNvPicPr>
            <a:picLocks noChangeAspect="1"/>
          </p:cNvPicPr>
          <p:nvPr/>
        </p:nvPicPr>
        <p:blipFill>
          <a:blip r:embed="rId3"/>
          <a:stretch>
            <a:fillRect/>
          </a:stretch>
        </p:blipFill>
        <p:spPr>
          <a:xfrm>
            <a:off x="8595360" y="2514600"/>
            <a:ext cx="411480" cy="411480"/>
          </a:xfrm>
          <a:prstGeom prst="rect">
            <a:avLst/>
          </a:prstGeom>
        </p:spPr>
      </p:pic>
      <p:sp>
        <p:nvSpPr>
          <p:cNvPr id="17" name="Text 12"/>
          <p:cNvSpPr txBox="1"/>
          <p:nvPr/>
        </p:nvSpPr>
        <p:spPr>
          <a:xfrm>
            <a:off x="9418320" y="2286000"/>
            <a:ext cx="2103120" cy="86868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KNOW WHAT TO DO</a:t>
            </a:r>
            <a:endParaRPr lang="en-US" sz="2200" dirty="0"/>
          </a:p>
        </p:txBody>
      </p:sp>
      <p:sp>
        <p:nvSpPr>
          <p:cNvPr id="18" name="Text 13"/>
          <p:cNvSpPr txBox="1"/>
          <p:nvPr/>
        </p:nvSpPr>
        <p:spPr>
          <a:xfrm>
            <a:off x="8366760" y="3337560"/>
            <a:ext cx="30175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One RED sign ends the check. One call, one plan, one slip.</a:t>
            </a:r>
            <a:endParaRPr lang="en-US" sz="1500" dirty="0"/>
          </a:p>
        </p:txBody>
      </p:sp>
      <p:sp>
        <p:nvSpPr>
          <p:cNvPr id="19" name="Text 14"/>
          <p:cNvSpPr txBox="1"/>
          <p:nvPr/>
        </p:nvSpPr>
        <p:spPr>
          <a:xfrm>
            <a:off x="548640" y="4800600"/>
            <a:ext cx="8229600" cy="36576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Five things only Maitri does, together</a:t>
            </a:r>
            <a:endParaRPr lang="en-US" sz="1800" dirty="0"/>
          </a:p>
        </p:txBody>
      </p:sp>
      <p:sp>
        <p:nvSpPr>
          <p:cNvPr id="20" name="USP chip 1"/>
          <p:cNvSpPr/>
          <p:nvPr/>
        </p:nvSpPr>
        <p:spPr>
          <a:xfrm>
            <a:off x="548640" y="5303520"/>
            <a:ext cx="2103120" cy="777240"/>
          </a:xfrm>
          <a:prstGeom prst="roundRect">
            <a:avLst>
              <a:gd name="adj" fmla="val 16471"/>
            </a:avLst>
          </a:prstGeom>
          <a:solidFill>
            <a:schemeClr val="accent1"/>
          </a:solidFill>
          <a:ln w="12700">
            <a:solidFill>
              <a:schemeClr val="accent1"/>
            </a:solidFill>
            <a:prstDash val="solid"/>
          </a:ln>
        </p:spPr>
      </p:sp>
      <p:sp>
        <p:nvSpPr>
          <p:cNvPr id="21" name="Text 16"/>
          <p:cNvSpPr txBox="1"/>
          <p:nvPr/>
        </p:nvSpPr>
        <p:spPr>
          <a:xfrm>
            <a:off x="65836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1</a:t>
            </a:r>
            <a:endParaRPr lang="en-US" sz="2400" dirty="0"/>
          </a:p>
        </p:txBody>
      </p:sp>
      <p:sp>
        <p:nvSpPr>
          <p:cNvPr id="22" name="Text 17"/>
          <p:cNvSpPr txBox="1"/>
          <p:nvPr/>
        </p:nvSpPr>
        <p:spPr>
          <a:xfrm>
            <a:off x="105156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Voice in, voice out</a:t>
            </a:r>
            <a:endParaRPr lang="en-US" sz="1400" dirty="0"/>
          </a:p>
        </p:txBody>
      </p:sp>
      <p:sp>
        <p:nvSpPr>
          <p:cNvPr id="23" name="USP chip 2"/>
          <p:cNvSpPr/>
          <p:nvPr/>
        </p:nvSpPr>
        <p:spPr>
          <a:xfrm>
            <a:off x="2788920" y="5303520"/>
            <a:ext cx="2103120" cy="777240"/>
          </a:xfrm>
          <a:prstGeom prst="roundRect">
            <a:avLst>
              <a:gd name="adj" fmla="val 16471"/>
            </a:avLst>
          </a:prstGeom>
          <a:solidFill>
            <a:schemeClr val="accent1"/>
          </a:solidFill>
          <a:ln w="12700">
            <a:solidFill>
              <a:schemeClr val="accent1"/>
            </a:solidFill>
            <a:prstDash val="solid"/>
          </a:ln>
        </p:spPr>
      </p:sp>
      <p:sp>
        <p:nvSpPr>
          <p:cNvPr id="24" name="Text 19"/>
          <p:cNvSpPr txBox="1"/>
          <p:nvPr/>
        </p:nvSpPr>
        <p:spPr>
          <a:xfrm>
            <a:off x="289864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2</a:t>
            </a:r>
            <a:endParaRPr lang="en-US" sz="2400" dirty="0"/>
          </a:p>
        </p:txBody>
      </p:sp>
      <p:sp>
        <p:nvSpPr>
          <p:cNvPr id="25" name="Text 20"/>
          <p:cNvSpPr txBox="1"/>
          <p:nvPr/>
        </p:nvSpPr>
        <p:spPr>
          <a:xfrm>
            <a:off x="329184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The call comes first</a:t>
            </a:r>
            <a:endParaRPr lang="en-US" sz="1400" dirty="0"/>
          </a:p>
        </p:txBody>
      </p:sp>
      <p:sp>
        <p:nvSpPr>
          <p:cNvPr id="26" name="USP chip 3"/>
          <p:cNvSpPr/>
          <p:nvPr/>
        </p:nvSpPr>
        <p:spPr>
          <a:xfrm>
            <a:off x="5029200" y="5303520"/>
            <a:ext cx="2103120" cy="777240"/>
          </a:xfrm>
          <a:prstGeom prst="roundRect">
            <a:avLst>
              <a:gd name="adj" fmla="val 16471"/>
            </a:avLst>
          </a:prstGeom>
          <a:solidFill>
            <a:schemeClr val="accent1"/>
          </a:solidFill>
          <a:ln w="12700">
            <a:solidFill>
              <a:schemeClr val="accent1"/>
            </a:solidFill>
            <a:prstDash val="solid"/>
          </a:ln>
        </p:spPr>
      </p:sp>
      <p:sp>
        <p:nvSpPr>
          <p:cNvPr id="27" name="Text 22"/>
          <p:cNvSpPr txBox="1"/>
          <p:nvPr/>
        </p:nvSpPr>
        <p:spPr>
          <a:xfrm>
            <a:off x="513892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3</a:t>
            </a:r>
            <a:endParaRPr lang="en-US" sz="2400" dirty="0"/>
          </a:p>
        </p:txBody>
      </p:sp>
      <p:sp>
        <p:nvSpPr>
          <p:cNvPr id="28" name="Text 23"/>
          <p:cNvSpPr txBox="1"/>
          <p:nvPr/>
        </p:nvSpPr>
        <p:spPr>
          <a:xfrm>
            <a:off x="553212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It shows its work</a:t>
            </a:r>
            <a:endParaRPr lang="en-US" sz="1400" dirty="0"/>
          </a:p>
        </p:txBody>
      </p:sp>
      <p:sp>
        <p:nvSpPr>
          <p:cNvPr id="29" name="USP chip 4"/>
          <p:cNvSpPr/>
          <p:nvPr/>
        </p:nvSpPr>
        <p:spPr>
          <a:xfrm>
            <a:off x="7269480" y="5303520"/>
            <a:ext cx="2103120" cy="777240"/>
          </a:xfrm>
          <a:prstGeom prst="roundRect">
            <a:avLst>
              <a:gd name="adj" fmla="val 16471"/>
            </a:avLst>
          </a:prstGeom>
          <a:solidFill>
            <a:schemeClr val="accent1"/>
          </a:solidFill>
          <a:ln w="12700">
            <a:solidFill>
              <a:schemeClr val="accent1"/>
            </a:solidFill>
            <a:prstDash val="solid"/>
          </a:ln>
        </p:spPr>
      </p:sp>
      <p:sp>
        <p:nvSpPr>
          <p:cNvPr id="30" name="Text 25"/>
          <p:cNvSpPr txBox="1"/>
          <p:nvPr/>
        </p:nvSpPr>
        <p:spPr>
          <a:xfrm>
            <a:off x="737920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4</a:t>
            </a:r>
            <a:endParaRPr lang="en-US" sz="2400" dirty="0"/>
          </a:p>
        </p:txBody>
      </p:sp>
      <p:sp>
        <p:nvSpPr>
          <p:cNvPr id="31" name="Text 26"/>
          <p:cNvSpPr txBox="1"/>
          <p:nvPr/>
        </p:nvSpPr>
        <p:spPr>
          <a:xfrm>
            <a:off x="777240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From panic to a plan</a:t>
            </a:r>
            <a:endParaRPr lang="en-US" sz="1400" dirty="0"/>
          </a:p>
        </p:txBody>
      </p:sp>
      <p:sp>
        <p:nvSpPr>
          <p:cNvPr id="32" name="USP chip 5"/>
          <p:cNvSpPr/>
          <p:nvPr/>
        </p:nvSpPr>
        <p:spPr>
          <a:xfrm>
            <a:off x="9509760" y="5303520"/>
            <a:ext cx="2103120" cy="777240"/>
          </a:xfrm>
          <a:prstGeom prst="roundRect">
            <a:avLst>
              <a:gd name="adj" fmla="val 16471"/>
            </a:avLst>
          </a:prstGeom>
          <a:solidFill>
            <a:schemeClr val="accent1"/>
          </a:solidFill>
          <a:ln w="12700">
            <a:solidFill>
              <a:schemeClr val="accent1"/>
            </a:solidFill>
            <a:prstDash val="solid"/>
          </a:ln>
        </p:spPr>
      </p:sp>
      <p:sp>
        <p:nvSpPr>
          <p:cNvPr id="33" name="Text 28"/>
          <p:cNvSpPr txBox="1"/>
          <p:nvPr/>
        </p:nvSpPr>
        <p:spPr>
          <a:xfrm>
            <a:off x="9619488" y="5303520"/>
            <a:ext cx="411480" cy="7772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5</a:t>
            </a:r>
            <a:endParaRPr lang="en-US" sz="2400" dirty="0"/>
          </a:p>
        </p:txBody>
      </p:sp>
      <p:sp>
        <p:nvSpPr>
          <p:cNvPr id="34" name="Text 29"/>
          <p:cNvSpPr txBox="1"/>
          <p:nvPr/>
        </p:nvSpPr>
        <p:spPr>
          <a:xfrm>
            <a:off x="10012680" y="5303520"/>
            <a:ext cx="1554480" cy="77724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Private and offline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ill USP 1"/>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1</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Voice in. Voice out.</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Speech-to-text and text-to-speech, built for a family that cannot type in a crisis</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speak-idle">    </p:cNvPr>
          <p:cNvPicPr>
            <a:picLocks noChangeAspect="1"/>
          </p:cNvPicPr>
          <p:nvPr/>
        </p:nvPicPr>
        <p:blipFill>
          <a:blip r:embed="rId1"/>
          <a:stretch>
            <a:fillRect/>
          </a:stretch>
        </p:blipFill>
        <p:spPr>
          <a:xfrm>
            <a:off x="685800" y="1783080"/>
            <a:ext cx="1874520" cy="3648944"/>
          </a:xfrm>
          <a:prstGeom prst="rect">
            <a:avLst/>
          </a:prstGeom>
        </p:spPr>
      </p:pic>
      <p:pic>
        <p:nvPicPr>
          <p:cNvPr id="8" name="Image 1" descr="Maitri app screen: voice-review">    </p:cNvPr>
          <p:cNvPicPr>
            <a:picLocks noChangeAspect="1"/>
          </p:cNvPicPr>
          <p:nvPr/>
        </p:nvPicPr>
        <p:blipFill>
          <a:blip r:embed="rId2"/>
          <a:stretch>
            <a:fillRect/>
          </a:stretch>
        </p:blipFill>
        <p:spPr>
          <a:xfrm>
            <a:off x="2651760" y="1783080"/>
            <a:ext cx="1874520" cy="3648944"/>
          </a:xfrm>
          <a:prstGeom prst="rect">
            <a:avLst/>
          </a:prstGeom>
        </p:spPr>
      </p:pic>
      <p:pic>
        <p:nvPicPr>
          <p:cNvPr id="9" name="Image 2" descr="Maitri app screen: question">    </p:cNvPr>
          <p:cNvPicPr>
            <a:picLocks noChangeAspect="1"/>
          </p:cNvPicPr>
          <p:nvPr/>
        </p:nvPicPr>
        <p:blipFill>
          <a:blip r:embed="rId3"/>
          <a:stretch>
            <a:fillRect/>
          </a:stretch>
        </p:blipFill>
        <p:spPr>
          <a:xfrm>
            <a:off x="4617720" y="1783080"/>
            <a:ext cx="1874520" cy="3648944"/>
          </a:xfrm>
          <a:prstGeom prst="rect">
            <a:avLst/>
          </a:prstGeom>
        </p:spPr>
      </p:pic>
      <p:sp>
        <p:nvSpPr>
          <p:cNvPr id="10" name="Ring speak-idle mic"/>
          <p:cNvSpPr/>
          <p:nvPr/>
        </p:nvSpPr>
        <p:spPr>
          <a:xfrm>
            <a:off x="808645" y="2910294"/>
            <a:ext cx="1628830" cy="727969"/>
          </a:xfrm>
          <a:prstGeom prst="roundRect">
            <a:avLst>
              <a:gd name="adj" fmla="val 7537"/>
            </a:avLst>
          </a:prstGeom>
          <a:solidFill>
            <a:srgbClr val="FFFFFF">
              <a:alpha val="0"/>
            </a:srgbClr>
          </a:solidFill>
          <a:ln w="38100">
            <a:solidFill>
              <a:schemeClr val="accent1"/>
            </a:solidFill>
            <a:prstDash val="solid"/>
          </a:ln>
        </p:spPr>
      </p:sp>
      <p:sp>
        <p:nvSpPr>
          <p:cNvPr id="11" name="Marker 1"/>
          <p:cNvSpPr/>
          <p:nvPr/>
        </p:nvSpPr>
        <p:spPr>
          <a:xfrm>
            <a:off x="653197" y="3118831"/>
            <a:ext cx="310896" cy="310896"/>
          </a:xfrm>
          <a:prstGeom prst="ellipse">
            <a:avLst/>
          </a:prstGeom>
          <a:solidFill>
            <a:schemeClr val="accent1"/>
          </a:solidFill>
          <a:ln w="19050">
            <a:solidFill>
              <a:schemeClr val="tx1"/>
            </a:solidFill>
            <a:prstDash val="solid"/>
          </a:ln>
        </p:spPr>
      </p:sp>
      <p:sp>
        <p:nvSpPr>
          <p:cNvPr id="12" name="Text 7"/>
          <p:cNvSpPr txBox="1"/>
          <p:nvPr/>
        </p:nvSpPr>
        <p:spPr>
          <a:xfrm>
            <a:off x="653197" y="3118831"/>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3" name="Ring voice-review heard"/>
          <p:cNvSpPr/>
          <p:nvPr/>
        </p:nvSpPr>
        <p:spPr>
          <a:xfrm>
            <a:off x="2774605" y="2460432"/>
            <a:ext cx="1628830" cy="449862"/>
          </a:xfrm>
          <a:prstGeom prst="roundRect">
            <a:avLst>
              <a:gd name="adj" fmla="val 12196"/>
            </a:avLst>
          </a:prstGeom>
          <a:solidFill>
            <a:srgbClr val="FFFFFF">
              <a:alpha val="0"/>
            </a:srgbClr>
          </a:solidFill>
          <a:ln w="38100">
            <a:solidFill>
              <a:schemeClr val="accent1"/>
            </a:solidFill>
            <a:prstDash val="solid"/>
          </a:ln>
        </p:spPr>
      </p:sp>
      <p:sp>
        <p:nvSpPr>
          <p:cNvPr id="14" name="Marker 2"/>
          <p:cNvSpPr/>
          <p:nvPr/>
        </p:nvSpPr>
        <p:spPr>
          <a:xfrm>
            <a:off x="2619157" y="2529915"/>
            <a:ext cx="310896" cy="310896"/>
          </a:xfrm>
          <a:prstGeom prst="ellipse">
            <a:avLst/>
          </a:prstGeom>
          <a:solidFill>
            <a:schemeClr val="accent1"/>
          </a:solidFill>
          <a:ln w="19050">
            <a:solidFill>
              <a:schemeClr val="tx1"/>
            </a:solidFill>
            <a:prstDash val="solid"/>
          </a:ln>
        </p:spPr>
      </p:sp>
      <p:sp>
        <p:nvSpPr>
          <p:cNvPr id="15" name="Text 10"/>
          <p:cNvSpPr txBox="1"/>
          <p:nvPr/>
        </p:nvSpPr>
        <p:spPr>
          <a:xfrm>
            <a:off x="2619157" y="2529915"/>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p>
        </p:txBody>
      </p:sp>
      <p:sp>
        <p:nvSpPr>
          <p:cNvPr id="16" name="Ring question listen"/>
          <p:cNvSpPr/>
          <p:nvPr/>
        </p:nvSpPr>
        <p:spPr>
          <a:xfrm>
            <a:off x="4740565" y="3532054"/>
            <a:ext cx="1628830" cy="254789"/>
          </a:xfrm>
          <a:prstGeom prst="roundRect">
            <a:avLst>
              <a:gd name="adj" fmla="val 21533"/>
            </a:avLst>
          </a:prstGeom>
          <a:solidFill>
            <a:srgbClr val="FFFFFF">
              <a:alpha val="0"/>
            </a:srgbClr>
          </a:solidFill>
          <a:ln w="38100">
            <a:solidFill>
              <a:schemeClr val="accent1"/>
            </a:solidFill>
            <a:prstDash val="solid"/>
          </a:ln>
        </p:spPr>
      </p:sp>
      <p:sp>
        <p:nvSpPr>
          <p:cNvPr id="17" name="Marker 3"/>
          <p:cNvSpPr/>
          <p:nvPr/>
        </p:nvSpPr>
        <p:spPr>
          <a:xfrm>
            <a:off x="4585117" y="3504000"/>
            <a:ext cx="310896" cy="310896"/>
          </a:xfrm>
          <a:prstGeom prst="ellipse">
            <a:avLst/>
          </a:prstGeom>
          <a:solidFill>
            <a:schemeClr val="accent1"/>
          </a:solidFill>
          <a:ln w="19050">
            <a:solidFill>
              <a:schemeClr val="tx1"/>
            </a:solidFill>
            <a:prstDash val="solid"/>
          </a:ln>
        </p:spPr>
      </p:sp>
      <p:sp>
        <p:nvSpPr>
          <p:cNvPr id="18" name="Text 13"/>
          <p:cNvSpPr txBox="1"/>
          <p:nvPr/>
        </p:nvSpPr>
        <p:spPr>
          <a:xfrm>
            <a:off x="4585117" y="3504000"/>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3</a:t>
            </a:r>
            <a:endParaRPr lang="en-US" sz="1300" dirty="0"/>
          </a:p>
        </p:txBody>
      </p:sp>
      <p:sp>
        <p:nvSpPr>
          <p:cNvPr id="19" name="Ring question voice"/>
          <p:cNvSpPr/>
          <p:nvPr/>
        </p:nvSpPr>
        <p:spPr>
          <a:xfrm>
            <a:off x="4740565" y="3859640"/>
            <a:ext cx="1628830" cy="254789"/>
          </a:xfrm>
          <a:prstGeom prst="roundRect">
            <a:avLst>
              <a:gd name="adj" fmla="val 21533"/>
            </a:avLst>
          </a:prstGeom>
          <a:solidFill>
            <a:srgbClr val="FFFFFF">
              <a:alpha val="0"/>
            </a:srgbClr>
          </a:solidFill>
          <a:ln w="38100">
            <a:solidFill>
              <a:schemeClr val="accent1"/>
            </a:solidFill>
            <a:prstDash val="solid"/>
          </a:ln>
        </p:spPr>
      </p:sp>
      <p:sp>
        <p:nvSpPr>
          <p:cNvPr id="20" name="Marker 4"/>
          <p:cNvSpPr/>
          <p:nvPr/>
        </p:nvSpPr>
        <p:spPr>
          <a:xfrm>
            <a:off x="4585117" y="3831586"/>
            <a:ext cx="310896" cy="310896"/>
          </a:xfrm>
          <a:prstGeom prst="ellipse">
            <a:avLst/>
          </a:prstGeom>
          <a:solidFill>
            <a:schemeClr val="accent1"/>
          </a:solidFill>
          <a:ln w="19050">
            <a:solidFill>
              <a:schemeClr val="tx1"/>
            </a:solidFill>
            <a:prstDash val="solid"/>
          </a:ln>
        </p:spPr>
      </p:sp>
      <p:sp>
        <p:nvSpPr>
          <p:cNvPr id="21" name="Text 16"/>
          <p:cNvSpPr txBox="1"/>
          <p:nvPr/>
        </p:nvSpPr>
        <p:spPr>
          <a:xfrm>
            <a:off x="4585117" y="3831586"/>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4</a:t>
            </a:r>
            <a:endParaRPr lang="en-US" sz="1300" dirty="0"/>
          </a:p>
        </p:txBody>
      </p:sp>
      <p:sp>
        <p:nvSpPr>
          <p:cNvPr id="22"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23" name="Text 18"/>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24" name="Text 19"/>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Speak</a:t>
            </a:r>
            <a:endParaRPr lang="en-US" sz="1900" dirty="0"/>
          </a:p>
        </p:txBody>
      </p:sp>
      <p:sp>
        <p:nvSpPr>
          <p:cNvPr id="25" name="Text 20"/>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tap, then say what is happening in Hindi or English. Speech-to-text turns it into the signs.</a:t>
            </a:r>
            <a:endParaRPr lang="en-US" sz="1400" dirty="0"/>
          </a:p>
        </p:txBody>
      </p:sp>
      <p:sp>
        <p:nvSpPr>
          <p:cNvPr id="26" name="Legend marker 2"/>
          <p:cNvSpPr/>
          <p:nvPr/>
        </p:nvSpPr>
        <p:spPr>
          <a:xfrm>
            <a:off x="7498080" y="2788920"/>
            <a:ext cx="402336" cy="402336"/>
          </a:xfrm>
          <a:prstGeom prst="ellipse">
            <a:avLst/>
          </a:prstGeom>
          <a:solidFill>
            <a:schemeClr val="accent1"/>
          </a:solidFill>
          <a:ln w="19050">
            <a:solidFill>
              <a:schemeClr val="tx1"/>
            </a:solidFill>
            <a:prstDash val="solid"/>
          </a:ln>
        </p:spPr>
      </p:sp>
      <p:sp>
        <p:nvSpPr>
          <p:cNvPr id="27" name="Text 22"/>
          <p:cNvSpPr txBox="1"/>
          <p:nvPr/>
        </p:nvSpPr>
        <p:spPr>
          <a:xfrm>
            <a:off x="7498080" y="278892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28" name="Text 23"/>
          <p:cNvSpPr txBox="1"/>
          <p:nvPr/>
        </p:nvSpPr>
        <p:spPr>
          <a:xfrm>
            <a:off x="8065008" y="275234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Check and edit</a:t>
            </a:r>
            <a:endParaRPr lang="en-US" sz="1900" dirty="0"/>
          </a:p>
        </p:txBody>
      </p:sp>
      <p:sp>
        <p:nvSpPr>
          <p:cNvPr id="29" name="Text 24"/>
          <p:cNvSpPr txBox="1"/>
          <p:nvPr/>
        </p:nvSpPr>
        <p:spPr>
          <a:xfrm>
            <a:off x="8065008" y="315468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She sees what was heard and the signs found, and can remove a wrong one. A spoken "No" is confirmed first.</a:t>
            </a:r>
            <a:endParaRPr lang="en-US" sz="1400" dirty="0"/>
          </a:p>
        </p:txBody>
      </p:sp>
      <p:sp>
        <p:nvSpPr>
          <p:cNvPr id="30" name="Legend marker 3"/>
          <p:cNvSpPr/>
          <p:nvPr/>
        </p:nvSpPr>
        <p:spPr>
          <a:xfrm>
            <a:off x="7498080" y="3977640"/>
            <a:ext cx="402336" cy="402336"/>
          </a:xfrm>
          <a:prstGeom prst="ellipse">
            <a:avLst/>
          </a:prstGeom>
          <a:solidFill>
            <a:schemeClr val="accent1"/>
          </a:solidFill>
          <a:ln w="19050">
            <a:solidFill>
              <a:schemeClr val="tx1"/>
            </a:solidFill>
            <a:prstDash val="solid"/>
          </a:ln>
        </p:spPr>
      </p:sp>
      <p:sp>
        <p:nvSpPr>
          <p:cNvPr id="31" name="Text 26"/>
          <p:cNvSpPr txBox="1"/>
          <p:nvPr/>
        </p:nvSpPr>
        <p:spPr>
          <a:xfrm>
            <a:off x="7498080" y="397764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32" name="Text 27"/>
          <p:cNvSpPr txBox="1"/>
          <p:nvPr/>
        </p:nvSpPr>
        <p:spPr>
          <a:xfrm>
            <a:off x="8065008" y="394106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Hear it back</a:t>
            </a:r>
            <a:endParaRPr lang="en-US" sz="1900" dirty="0"/>
          </a:p>
        </p:txBody>
      </p:sp>
      <p:sp>
        <p:nvSpPr>
          <p:cNvPr id="33" name="Text 28"/>
          <p:cNvSpPr txBox="1"/>
          <p:nvPr/>
        </p:nvSpPr>
        <p:spPr>
          <a:xfrm>
            <a:off x="8065008" y="434340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Listen and Slow read every question and result aloud. Text-to-speech, in Hindi or English.</a:t>
            </a:r>
            <a:endParaRPr lang="en-US" sz="1400" dirty="0"/>
          </a:p>
        </p:txBody>
      </p:sp>
      <p:sp>
        <p:nvSpPr>
          <p:cNvPr id="34" name="Legend marker 4"/>
          <p:cNvSpPr/>
          <p:nvPr/>
        </p:nvSpPr>
        <p:spPr>
          <a:xfrm>
            <a:off x="7498080" y="5166360"/>
            <a:ext cx="402336" cy="402336"/>
          </a:xfrm>
          <a:prstGeom prst="ellipse">
            <a:avLst/>
          </a:prstGeom>
          <a:solidFill>
            <a:schemeClr val="accent1"/>
          </a:solidFill>
          <a:ln w="19050">
            <a:solidFill>
              <a:schemeClr val="tx1"/>
            </a:solidFill>
            <a:prstDash val="solid"/>
          </a:ln>
        </p:spPr>
      </p:sp>
      <p:sp>
        <p:nvSpPr>
          <p:cNvPr id="35" name="Text 30"/>
          <p:cNvSpPr txBox="1"/>
          <p:nvPr/>
        </p:nvSpPr>
        <p:spPr>
          <a:xfrm>
            <a:off x="7498080" y="516636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4</a:t>
            </a:r>
            <a:endParaRPr lang="en-US" sz="1600" dirty="0"/>
          </a:p>
        </p:txBody>
      </p:sp>
      <p:sp>
        <p:nvSpPr>
          <p:cNvPr id="36" name="Text 31"/>
          <p:cNvSpPr txBox="1"/>
          <p:nvPr/>
        </p:nvSpPr>
        <p:spPr>
          <a:xfrm>
            <a:off x="8065008" y="512978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Answer by voice</a:t>
            </a:r>
            <a:endParaRPr lang="en-US" sz="1900" dirty="0"/>
          </a:p>
        </p:txBody>
      </p:sp>
      <p:sp>
        <p:nvSpPr>
          <p:cNvPr id="37" name="Text 32"/>
          <p:cNvSpPr txBox="1"/>
          <p:nvPr/>
        </p:nvSpPr>
        <p:spPr>
          <a:xfrm>
            <a:off x="8065008" y="553212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Say yes, no or not sure on any question. Tapping always works too.</a:t>
            </a:r>
            <a:endParaRPr lang="en-US" sz="1400" dirty="0"/>
          </a:p>
        </p:txBody>
      </p:sp>
      <p:sp>
        <p:nvSpPr>
          <p:cNvPr id="38" name="Text 33"/>
          <p:cNvSpPr txBox="1"/>
          <p:nvPr/>
        </p:nvSpPr>
        <p:spPr>
          <a:xfrm>
            <a:off x="731520" y="5669280"/>
            <a:ext cx="6355080" cy="502920"/>
          </a:xfrm>
          <a:prstGeom prst="rect">
            <a:avLst/>
          </a:prstGeom>
          <a:noFill/>
          <a:ln/>
        </p:spPr>
        <p:txBody>
          <a:bodyPr wrap="square" lIns="0" tIns="0" rIns="0" bIns="0" rtlCol="0" anchor="ctr"/>
          <a:lstStyle/>
          <a:p>
            <a:pPr algn="ctr" indent="0" marL="0">
              <a:buNone/>
            </a:pPr>
            <a:r>
              <a:rPr lang="en-US" sz="1300" i="1" dirty="0">
                <a:solidFill>
                  <a:schemeClr val="bg1"/>
                </a:solidFill>
                <a:latin typeface="Calibri" pitchFamily="34" charset="0"/>
                <a:ea typeface="Calibri" pitchFamily="34" charset="-122"/>
                <a:cs typeface="Calibri" pitchFamily="34" charset="-120"/>
              </a:rPr>
              <a:t>Honest note: speech recognition needs internet on most phones. Spoken output uses the phone's own voice.</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ill USP 2"/>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2</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call comes first.</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No account, no language choice, no questions between a family and the ambulance number</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first">    </p:cNvPr>
          <p:cNvPicPr>
            <a:picLocks noChangeAspect="1"/>
          </p:cNvPicPr>
          <p:nvPr/>
        </p:nvPicPr>
        <p:blipFill>
          <a:blip r:embed="rId1"/>
          <a:stretch>
            <a:fillRect/>
          </a:stretch>
        </p:blipFill>
        <p:spPr>
          <a:xfrm>
            <a:off x="1051560" y="1691640"/>
            <a:ext cx="2286000" cy="4449932"/>
          </a:xfrm>
          <a:prstGeom prst="rect">
            <a:avLst/>
          </a:prstGeom>
        </p:spPr>
      </p:pic>
      <p:pic>
        <p:nvPicPr>
          <p:cNvPr id="8" name="Image 1" descr="Maitri app screen: red">    </p:cNvPr>
          <p:cNvPicPr>
            <a:picLocks noChangeAspect="1"/>
          </p:cNvPicPr>
          <p:nvPr/>
        </p:nvPicPr>
        <p:blipFill>
          <a:blip r:embed="rId2"/>
          <a:stretch>
            <a:fillRect/>
          </a:stretch>
        </p:blipFill>
        <p:spPr>
          <a:xfrm>
            <a:off x="3749040" y="1691640"/>
            <a:ext cx="2286000" cy="4449932"/>
          </a:xfrm>
          <a:prstGeom prst="rect">
            <a:avLst/>
          </a:prstGeom>
        </p:spPr>
      </p:pic>
      <p:sp>
        <p:nvSpPr>
          <p:cNvPr id="9" name="Ring first emergency"/>
          <p:cNvSpPr/>
          <p:nvPr/>
        </p:nvSpPr>
        <p:spPr>
          <a:xfrm>
            <a:off x="1201371" y="3586121"/>
            <a:ext cx="1986379" cy="427064"/>
          </a:xfrm>
          <a:prstGeom prst="roundRect">
            <a:avLst>
              <a:gd name="adj" fmla="val 12847"/>
            </a:avLst>
          </a:prstGeom>
          <a:solidFill>
            <a:srgbClr val="FFFFFF">
              <a:alpha val="0"/>
            </a:srgbClr>
          </a:solidFill>
          <a:ln w="38100">
            <a:solidFill>
              <a:schemeClr val="accent1"/>
            </a:solidFill>
            <a:prstDash val="solid"/>
          </a:ln>
        </p:spPr>
      </p:sp>
      <p:sp>
        <p:nvSpPr>
          <p:cNvPr id="10" name="Marker 1"/>
          <p:cNvSpPr/>
          <p:nvPr/>
        </p:nvSpPr>
        <p:spPr>
          <a:xfrm>
            <a:off x="1045923" y="3644205"/>
            <a:ext cx="310896" cy="310896"/>
          </a:xfrm>
          <a:prstGeom prst="ellipse">
            <a:avLst/>
          </a:prstGeom>
          <a:solidFill>
            <a:schemeClr val="accent1"/>
          </a:solidFill>
          <a:ln w="19050">
            <a:solidFill>
              <a:schemeClr val="tx1"/>
            </a:solidFill>
            <a:prstDash val="solid"/>
          </a:ln>
        </p:spPr>
      </p:sp>
      <p:sp>
        <p:nvSpPr>
          <p:cNvPr id="11" name="Text 7"/>
          <p:cNvSpPr txBox="1"/>
          <p:nvPr/>
        </p:nvSpPr>
        <p:spPr>
          <a:xfrm>
            <a:off x="1045923" y="3644205"/>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2" name="Ring red call"/>
          <p:cNvSpPr/>
          <p:nvPr/>
        </p:nvSpPr>
        <p:spPr>
          <a:xfrm>
            <a:off x="3898851" y="4948635"/>
            <a:ext cx="1986379" cy="355107"/>
          </a:xfrm>
          <a:prstGeom prst="roundRect">
            <a:avLst>
              <a:gd name="adj" fmla="val 15450"/>
            </a:avLst>
          </a:prstGeom>
          <a:solidFill>
            <a:srgbClr val="FFFFFF">
              <a:alpha val="0"/>
            </a:srgbClr>
          </a:solidFill>
          <a:ln w="38100">
            <a:solidFill>
              <a:schemeClr val="accent1"/>
            </a:solidFill>
            <a:prstDash val="solid"/>
          </a:ln>
        </p:spPr>
      </p:sp>
      <p:sp>
        <p:nvSpPr>
          <p:cNvPr id="13" name="Marker 2"/>
          <p:cNvSpPr/>
          <p:nvPr/>
        </p:nvSpPr>
        <p:spPr>
          <a:xfrm>
            <a:off x="3743403" y="4970741"/>
            <a:ext cx="310896" cy="310896"/>
          </a:xfrm>
          <a:prstGeom prst="ellipse">
            <a:avLst/>
          </a:prstGeom>
          <a:solidFill>
            <a:schemeClr val="accent1"/>
          </a:solidFill>
          <a:ln w="19050">
            <a:solidFill>
              <a:schemeClr val="tx1"/>
            </a:solidFill>
            <a:prstDash val="solid"/>
          </a:ln>
        </p:spPr>
      </p:sp>
      <p:sp>
        <p:nvSpPr>
          <p:cNvPr id="14" name="Text 10"/>
          <p:cNvSpPr txBox="1"/>
          <p:nvPr/>
        </p:nvSpPr>
        <p:spPr>
          <a:xfrm>
            <a:off x="3743403" y="4970741"/>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p>
        </p:txBody>
      </p:sp>
      <p:sp>
        <p:nvSpPr>
          <p:cNvPr id="15" name="Ring red plan"/>
          <p:cNvSpPr/>
          <p:nvPr/>
        </p:nvSpPr>
        <p:spPr>
          <a:xfrm>
            <a:off x="3898851" y="5348130"/>
            <a:ext cx="1986379" cy="310718"/>
          </a:xfrm>
          <a:prstGeom prst="roundRect">
            <a:avLst>
              <a:gd name="adj" fmla="val 17657"/>
            </a:avLst>
          </a:prstGeom>
          <a:solidFill>
            <a:srgbClr val="FFFFFF">
              <a:alpha val="0"/>
            </a:srgbClr>
          </a:solidFill>
          <a:ln w="38100">
            <a:solidFill>
              <a:schemeClr val="accent1"/>
            </a:solidFill>
            <a:prstDash val="solid"/>
          </a:ln>
        </p:spPr>
      </p:sp>
      <p:sp>
        <p:nvSpPr>
          <p:cNvPr id="16" name="Marker 3"/>
          <p:cNvSpPr/>
          <p:nvPr/>
        </p:nvSpPr>
        <p:spPr>
          <a:xfrm>
            <a:off x="3743403" y="5348042"/>
            <a:ext cx="310896" cy="310896"/>
          </a:xfrm>
          <a:prstGeom prst="ellipse">
            <a:avLst/>
          </a:prstGeom>
          <a:solidFill>
            <a:schemeClr val="accent1"/>
          </a:solidFill>
          <a:ln w="19050">
            <a:solidFill>
              <a:schemeClr val="tx1"/>
            </a:solidFill>
            <a:prstDash val="solid"/>
          </a:ln>
        </p:spPr>
      </p:sp>
      <p:sp>
        <p:nvSpPr>
          <p:cNvPr id="17" name="Text 13"/>
          <p:cNvSpPr txBox="1"/>
          <p:nvPr/>
        </p:nvSpPr>
        <p:spPr>
          <a:xfrm>
            <a:off x="3743403" y="5348042"/>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3</a:t>
            </a:r>
            <a:endParaRPr lang="en-US" sz="1300" dirty="0"/>
          </a:p>
        </p:txBody>
      </p:sp>
      <p:sp>
        <p:nvSpPr>
          <p:cNvPr id="18"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19" name="Text 15"/>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20" name="Text 16"/>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Emergency call is the first control</a:t>
            </a:r>
            <a:endParaRPr lang="en-US" sz="1900" dirty="0"/>
          </a:p>
        </p:txBody>
      </p:sp>
      <p:sp>
        <p:nvSpPr>
          <p:cNvPr id="21" name="Text 17"/>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 the very first screen, in Hindi or English. The number comes from one config file.</a:t>
            </a:r>
            <a:endParaRPr lang="en-US" sz="1400" dirty="0"/>
          </a:p>
        </p:txBody>
      </p:sp>
      <p:sp>
        <p:nvSpPr>
          <p:cNvPr id="22" name="Legend marker 2"/>
          <p:cNvSpPr/>
          <p:nvPr/>
        </p:nvSpPr>
        <p:spPr>
          <a:xfrm>
            <a:off x="7498080" y="2788920"/>
            <a:ext cx="402336" cy="402336"/>
          </a:xfrm>
          <a:prstGeom prst="ellipse">
            <a:avLst/>
          </a:prstGeom>
          <a:solidFill>
            <a:schemeClr val="accent1"/>
          </a:solidFill>
          <a:ln w="19050">
            <a:solidFill>
              <a:schemeClr val="tx1"/>
            </a:solidFill>
            <a:prstDash val="solid"/>
          </a:ln>
        </p:spPr>
      </p:sp>
      <p:sp>
        <p:nvSpPr>
          <p:cNvPr id="23" name="Text 19"/>
          <p:cNvSpPr txBox="1"/>
          <p:nvPr/>
        </p:nvSpPr>
        <p:spPr>
          <a:xfrm>
            <a:off x="7498080" y="278892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24" name="Text 20"/>
          <p:cNvSpPr txBox="1"/>
          <p:nvPr/>
        </p:nvSpPr>
        <p:spPr>
          <a:xfrm>
            <a:off x="8065008" y="275234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One RED sign ends the check</a:t>
            </a:r>
            <a:endParaRPr lang="en-US" sz="1900" dirty="0"/>
          </a:p>
        </p:txBody>
      </p:sp>
      <p:sp>
        <p:nvSpPr>
          <p:cNvPr id="25" name="Text 21"/>
          <p:cNvSpPr txBox="1"/>
          <p:nvPr/>
        </p:nvSpPr>
        <p:spPr>
          <a:xfrm>
            <a:off x="8065008" y="315468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more questions. A large call button, then the go-now plan.</a:t>
            </a:r>
            <a:endParaRPr lang="en-US" sz="1400" dirty="0"/>
          </a:p>
        </p:txBody>
      </p:sp>
      <p:sp>
        <p:nvSpPr>
          <p:cNvPr id="26" name="Legend marker 3"/>
          <p:cNvSpPr/>
          <p:nvPr/>
        </p:nvSpPr>
        <p:spPr>
          <a:xfrm>
            <a:off x="7498080" y="3977640"/>
            <a:ext cx="402336" cy="402336"/>
          </a:xfrm>
          <a:prstGeom prst="ellipse">
            <a:avLst/>
          </a:prstGeom>
          <a:solidFill>
            <a:schemeClr val="accent1"/>
          </a:solidFill>
          <a:ln w="19050">
            <a:solidFill>
              <a:schemeClr val="tx1"/>
            </a:solidFill>
            <a:prstDash val="solid"/>
          </a:ln>
        </p:spPr>
      </p:sp>
      <p:sp>
        <p:nvSpPr>
          <p:cNvPr id="27" name="Text 23"/>
          <p:cNvSpPr txBox="1"/>
          <p:nvPr/>
        </p:nvSpPr>
        <p:spPr>
          <a:xfrm>
            <a:off x="7498080" y="397764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28" name="Text 24"/>
          <p:cNvSpPr txBox="1"/>
          <p:nvPr/>
        </p:nvSpPr>
        <p:spPr>
          <a:xfrm>
            <a:off x="8065008" y="394106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"Not sure" goes up. Never "fine".</a:t>
            </a:r>
            <a:endParaRPr lang="en-US" sz="1900" dirty="0"/>
          </a:p>
        </p:txBody>
      </p:sp>
      <p:sp>
        <p:nvSpPr>
          <p:cNvPr id="29" name="Text 25"/>
          <p:cNvSpPr txBox="1"/>
          <p:nvPr/>
        </p:nvSpPr>
        <p:spPr>
          <a:xfrm>
            <a:off x="8065008" y="434340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Over-escalating is a choice: missing a danger sign costs more than an extra visit.</a:t>
            </a:r>
            <a:endParaRPr lang="en-US" sz="1400" dirty="0"/>
          </a:p>
        </p:txBody>
      </p:sp>
      <p:sp>
        <p:nvSpPr>
          <p:cNvPr id="30" name="Level red"/>
          <p:cNvSpPr/>
          <p:nvPr/>
        </p:nvSpPr>
        <p:spPr>
          <a:xfrm>
            <a:off x="7543800" y="5257800"/>
            <a:ext cx="274320" cy="274320"/>
          </a:xfrm>
          <a:prstGeom prst="octagon">
            <a:avLst/>
          </a:prstGeom>
          <a:solidFill>
            <a:schemeClr val="accent2"/>
          </a:solidFill>
          <a:ln w="25400">
            <a:solidFill>
              <a:schemeClr val="tx1"/>
            </a:solidFill>
            <a:prstDash val="solid"/>
          </a:ln>
        </p:spPr>
      </p:sp>
      <p:sp>
        <p:nvSpPr>
          <p:cNvPr id="31" name="Text 27"/>
          <p:cNvSpPr txBox="1"/>
          <p:nvPr/>
        </p:nvSpPr>
        <p:spPr>
          <a:xfrm>
            <a:off x="7955280" y="5239512"/>
            <a:ext cx="3749040" cy="310896"/>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Go to the hospital now</a:t>
            </a:r>
            <a:endParaRPr lang="en-US" sz="1400" dirty="0"/>
          </a:p>
        </p:txBody>
      </p:sp>
      <p:sp>
        <p:nvSpPr>
          <p:cNvPr id="32" name="Level amber"/>
          <p:cNvSpPr/>
          <p:nvPr/>
        </p:nvSpPr>
        <p:spPr>
          <a:xfrm>
            <a:off x="7543800" y="5623560"/>
            <a:ext cx="274320" cy="274320"/>
          </a:xfrm>
          <a:prstGeom prst="triangle">
            <a:avLst/>
          </a:prstGeom>
          <a:solidFill>
            <a:schemeClr val="accent1"/>
          </a:solidFill>
          <a:ln w="25400">
            <a:solidFill>
              <a:schemeClr val="tx1"/>
            </a:solidFill>
            <a:prstDash val="solid"/>
          </a:ln>
        </p:spPr>
      </p:sp>
      <p:sp>
        <p:nvSpPr>
          <p:cNvPr id="33" name="Text 29"/>
          <p:cNvSpPr txBox="1"/>
          <p:nvPr/>
        </p:nvSpPr>
        <p:spPr>
          <a:xfrm>
            <a:off x="7955280" y="5605272"/>
            <a:ext cx="3749040" cy="310896"/>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See the ANM, ASHA or doctor today</a:t>
            </a:r>
            <a:endParaRPr lang="en-US" sz="1400" dirty="0"/>
          </a:p>
        </p:txBody>
      </p:sp>
      <p:sp>
        <p:nvSpPr>
          <p:cNvPr id="34" name="Level green"/>
          <p:cNvSpPr/>
          <p:nvPr/>
        </p:nvSpPr>
        <p:spPr>
          <a:xfrm>
            <a:off x="7543800" y="5989320"/>
            <a:ext cx="274320" cy="274320"/>
          </a:xfrm>
          <a:prstGeom prst="ellipse">
            <a:avLst/>
          </a:prstGeom>
          <a:solidFill>
            <a:schemeClr val="accent3"/>
          </a:solidFill>
          <a:ln w="25400">
            <a:solidFill>
              <a:schemeClr val="tx1"/>
            </a:solidFill>
            <a:prstDash val="solid"/>
          </a:ln>
        </p:spPr>
      </p:sp>
      <p:sp>
        <p:nvSpPr>
          <p:cNvPr id="35" name="Text 31"/>
          <p:cNvSpPr txBox="1"/>
          <p:nvPr/>
        </p:nvSpPr>
        <p:spPr>
          <a:xfrm>
            <a:off x="7955280" y="5971032"/>
            <a:ext cx="3749040" cy="310896"/>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No danger sign told</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ill USP 3"/>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3</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It shows its work.</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The whole reasoning on screen, in one tap, checkable by a clinician</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why">    </p:cNvPr>
          <p:cNvPicPr>
            <a:picLocks noChangeAspect="1"/>
          </p:cNvPicPr>
          <p:nvPr/>
        </p:nvPicPr>
        <p:blipFill>
          <a:blip r:embed="rId1"/>
          <a:stretch>
            <a:fillRect/>
          </a:stretch>
        </p:blipFill>
        <p:spPr>
          <a:xfrm>
            <a:off x="1051560" y="1691640"/>
            <a:ext cx="2286000" cy="4449932"/>
          </a:xfrm>
          <a:prstGeom prst="rect">
            <a:avLst/>
          </a:prstGeom>
        </p:spPr>
      </p:pic>
      <p:pic>
        <p:nvPicPr>
          <p:cNvPr id="8" name="Image 1" descr="Maitri app screen: trust">    </p:cNvPr>
          <p:cNvPicPr>
            <a:picLocks noChangeAspect="1"/>
          </p:cNvPicPr>
          <p:nvPr/>
        </p:nvPicPr>
        <p:blipFill>
          <a:blip r:embed="rId2"/>
          <a:stretch>
            <a:fillRect/>
          </a:stretch>
        </p:blipFill>
        <p:spPr>
          <a:xfrm>
            <a:off x="3749040" y="1691640"/>
            <a:ext cx="2286000" cy="4449932"/>
          </a:xfrm>
          <a:prstGeom prst="rect">
            <a:avLst/>
          </a:prstGeom>
        </p:spPr>
      </p:pic>
      <p:sp>
        <p:nvSpPr>
          <p:cNvPr id="9" name="Ring why item"/>
          <p:cNvSpPr/>
          <p:nvPr/>
        </p:nvSpPr>
        <p:spPr>
          <a:xfrm>
            <a:off x="1212468" y="3660506"/>
            <a:ext cx="1964184" cy="1520821"/>
          </a:xfrm>
          <a:prstGeom prst="roundRect">
            <a:avLst>
              <a:gd name="adj" fmla="val 3608"/>
            </a:avLst>
          </a:prstGeom>
          <a:solidFill>
            <a:srgbClr val="FFFFFF">
              <a:alpha val="0"/>
            </a:srgbClr>
          </a:solidFill>
          <a:ln w="38100">
            <a:solidFill>
              <a:schemeClr val="accent1"/>
            </a:solidFill>
            <a:prstDash val="solid"/>
          </a:ln>
        </p:spPr>
      </p:sp>
      <p:sp>
        <p:nvSpPr>
          <p:cNvPr id="10" name="Marker 1"/>
          <p:cNvSpPr/>
          <p:nvPr/>
        </p:nvSpPr>
        <p:spPr>
          <a:xfrm>
            <a:off x="1057020" y="4265469"/>
            <a:ext cx="310896" cy="310896"/>
          </a:xfrm>
          <a:prstGeom prst="ellipse">
            <a:avLst/>
          </a:prstGeom>
          <a:solidFill>
            <a:schemeClr val="accent1"/>
          </a:solidFill>
          <a:ln w="19050">
            <a:solidFill>
              <a:schemeClr val="tx1"/>
            </a:solidFill>
            <a:prstDash val="solid"/>
          </a:ln>
        </p:spPr>
      </p:sp>
      <p:sp>
        <p:nvSpPr>
          <p:cNvPr id="11" name="Text 7"/>
          <p:cNvSpPr txBox="1"/>
          <p:nvPr/>
        </p:nvSpPr>
        <p:spPr>
          <a:xfrm>
            <a:off x="1057020" y="4265469"/>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2"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13" name="Text 9"/>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14" name="Text 10"/>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"Why this result?"</a:t>
            </a:r>
            <a:endParaRPr lang="en-US" sz="1900" dirty="0"/>
          </a:p>
        </p:txBody>
      </p:sp>
      <p:sp>
        <p:nvSpPr>
          <p:cNvPr id="15" name="Text 11"/>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rule, the sign, the source, how reliable the source is, and the rule version.</a:t>
            </a:r>
            <a:endParaRPr lang="en-US" sz="1400" dirty="0"/>
          </a:p>
        </p:txBody>
      </p:sp>
      <p:sp>
        <p:nvSpPr>
          <p:cNvPr id="16" name="Legend marker 2"/>
          <p:cNvSpPr/>
          <p:nvPr/>
        </p:nvSpPr>
        <p:spPr>
          <a:xfrm>
            <a:off x="7498080" y="2788920"/>
            <a:ext cx="402336" cy="402336"/>
          </a:xfrm>
          <a:prstGeom prst="ellipse">
            <a:avLst/>
          </a:prstGeom>
          <a:solidFill>
            <a:schemeClr val="accent1"/>
          </a:solidFill>
          <a:ln w="19050">
            <a:solidFill>
              <a:schemeClr val="tx1"/>
            </a:solidFill>
            <a:prstDash val="solid"/>
          </a:ln>
        </p:spPr>
      </p:sp>
      <p:sp>
        <p:nvSpPr>
          <p:cNvPr id="17" name="Text 13"/>
          <p:cNvSpPr txBox="1"/>
          <p:nvPr/>
        </p:nvSpPr>
        <p:spPr>
          <a:xfrm>
            <a:off x="7498080" y="278892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18" name="Text 14"/>
          <p:cNvSpPr txBox="1"/>
          <p:nvPr/>
        </p:nvSpPr>
        <p:spPr>
          <a:xfrm>
            <a:off x="8065008" y="275234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No AI decides</a:t>
            </a:r>
            <a:endParaRPr lang="en-US" sz="1900" dirty="0"/>
          </a:p>
        </p:txBody>
      </p:sp>
      <p:sp>
        <p:nvSpPr>
          <p:cNvPr id="19" name="Text 15"/>
          <p:cNvSpPr txBox="1"/>
          <p:nvPr/>
        </p:nvSpPr>
        <p:spPr>
          <a:xfrm>
            <a:off x="8065008" y="315468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fixed list of rules in one file that a clinician can review without touching code.</a:t>
            </a:r>
            <a:endParaRPr lang="en-US" sz="1400" dirty="0"/>
          </a:p>
        </p:txBody>
      </p:sp>
      <p:sp>
        <p:nvSpPr>
          <p:cNvPr id="20" name="Legend marker 3"/>
          <p:cNvSpPr/>
          <p:nvPr/>
        </p:nvSpPr>
        <p:spPr>
          <a:xfrm>
            <a:off x="7498080" y="3977640"/>
            <a:ext cx="402336" cy="402336"/>
          </a:xfrm>
          <a:prstGeom prst="ellipse">
            <a:avLst/>
          </a:prstGeom>
          <a:solidFill>
            <a:schemeClr val="accent1"/>
          </a:solidFill>
          <a:ln w="19050">
            <a:solidFill>
              <a:schemeClr val="tx1"/>
            </a:solidFill>
            <a:prstDash val="solid"/>
          </a:ln>
        </p:spPr>
      </p:sp>
      <p:sp>
        <p:nvSpPr>
          <p:cNvPr id="21" name="Text 17"/>
          <p:cNvSpPr txBox="1"/>
          <p:nvPr/>
        </p:nvSpPr>
        <p:spPr>
          <a:xfrm>
            <a:off x="7498080" y="397764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22" name="Text 18"/>
          <p:cNvSpPr txBox="1"/>
          <p:nvPr/>
        </p:nvSpPr>
        <p:spPr>
          <a:xfrm>
            <a:off x="8065008" y="394106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An honest Trust page</a:t>
            </a:r>
            <a:endParaRPr lang="en-US" sz="1900" dirty="0"/>
          </a:p>
        </p:txBody>
      </p:sp>
      <p:sp>
        <p:nvSpPr>
          <p:cNvPr id="23" name="Text 19"/>
          <p:cNvSpPr txBox="1"/>
          <p:nvPr/>
        </p:nvSpPr>
        <p:spPr>
          <a:xfrm>
            <a:off x="8065008" y="434340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Review status ("none yet"), helpline status, data handling and what is simulated.</a:t>
            </a:r>
            <a:endParaRPr lang="en-US" sz="1400" dirty="0"/>
          </a:p>
        </p:txBody>
      </p:sp>
      <p:sp>
        <p:nvSpPr>
          <p:cNvPr id="24" name="Stat 0"/>
          <p:cNvSpPr/>
          <p:nvPr/>
        </p:nvSpPr>
        <p:spPr>
          <a:xfrm>
            <a:off x="7498080" y="5166360"/>
            <a:ext cx="1371600" cy="1097280"/>
          </a:xfrm>
          <a:prstGeom prst="roundRect">
            <a:avLst>
              <a:gd name="adj" fmla="val 8333"/>
            </a:avLst>
          </a:prstGeom>
          <a:solidFill>
            <a:schemeClr val="tx2"/>
          </a:solidFill>
          <a:ln w="12700">
            <a:solidFill>
              <a:schemeClr val="tx2"/>
            </a:solidFill>
            <a:prstDash val="solid"/>
          </a:ln>
        </p:spPr>
      </p:sp>
      <p:sp>
        <p:nvSpPr>
          <p:cNvPr id="25" name="Text 21"/>
          <p:cNvSpPr txBox="1"/>
          <p:nvPr/>
        </p:nvSpPr>
        <p:spPr>
          <a:xfrm>
            <a:off x="7498080" y="5212080"/>
            <a:ext cx="1371600" cy="640080"/>
          </a:xfrm>
          <a:prstGeom prst="rect">
            <a:avLst/>
          </a:prstGeom>
          <a:noFill/>
          <a:ln/>
        </p:spPr>
        <p:txBody>
          <a:bodyPr wrap="square" lIns="0" tIns="0" rIns="0" bIns="0" rtlCol="0" anchor="ctr"/>
          <a:lstStyle/>
          <a:p>
            <a:pPr algn="ctr" indent="0" marL="0">
              <a:buNone/>
            </a:pPr>
            <a:r>
              <a:rPr lang="en-US" sz="2800" b="1" dirty="0">
                <a:solidFill>
                  <a:schemeClr val="accent1"/>
                </a:solidFill>
                <a:latin typeface="Cambria" pitchFamily="34" charset="0"/>
                <a:ea typeface="Cambria" pitchFamily="34" charset="-122"/>
                <a:cs typeface="Cambria" pitchFamily="34" charset="-120"/>
              </a:rPr>
              <a:t>205</a:t>
            </a:r>
            <a:endParaRPr lang="en-US" sz="2800" dirty="0"/>
          </a:p>
        </p:txBody>
      </p:sp>
      <p:sp>
        <p:nvSpPr>
          <p:cNvPr id="26" name="Text 22"/>
          <p:cNvSpPr txBox="1"/>
          <p:nvPr/>
        </p:nvSpPr>
        <p:spPr>
          <a:xfrm>
            <a:off x="749808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automated tests</a:t>
            </a:r>
            <a:endParaRPr lang="en-US" sz="1200" dirty="0"/>
          </a:p>
        </p:txBody>
      </p:sp>
      <p:sp>
        <p:nvSpPr>
          <p:cNvPr id="27" name="Stat 1"/>
          <p:cNvSpPr/>
          <p:nvPr/>
        </p:nvSpPr>
        <p:spPr>
          <a:xfrm>
            <a:off x="8961120" y="5166360"/>
            <a:ext cx="1371600" cy="1097280"/>
          </a:xfrm>
          <a:prstGeom prst="roundRect">
            <a:avLst>
              <a:gd name="adj" fmla="val 8333"/>
            </a:avLst>
          </a:prstGeom>
          <a:solidFill>
            <a:schemeClr val="tx2"/>
          </a:solidFill>
          <a:ln w="12700">
            <a:solidFill>
              <a:schemeClr val="tx2"/>
            </a:solidFill>
            <a:prstDash val="solid"/>
          </a:ln>
        </p:spPr>
      </p:sp>
      <p:sp>
        <p:nvSpPr>
          <p:cNvPr id="28" name="Text 24"/>
          <p:cNvSpPr txBox="1"/>
          <p:nvPr/>
        </p:nvSpPr>
        <p:spPr>
          <a:xfrm>
            <a:off x="8961120" y="5212080"/>
            <a:ext cx="1371600" cy="640080"/>
          </a:xfrm>
          <a:prstGeom prst="rect">
            <a:avLst/>
          </a:prstGeom>
          <a:noFill/>
          <a:ln/>
        </p:spPr>
        <p:txBody>
          <a:bodyPr wrap="square" lIns="0" tIns="0" rIns="0" bIns="0" rtlCol="0" anchor="ctr"/>
          <a:lstStyle/>
          <a:p>
            <a:pPr algn="ctr" indent="0" marL="0">
              <a:buNone/>
            </a:pPr>
            <a:r>
              <a:rPr lang="en-US" sz="2800" b="1" dirty="0">
                <a:solidFill>
                  <a:schemeClr val="accent1"/>
                </a:solidFill>
                <a:latin typeface="Cambria" pitchFamily="34" charset="0"/>
                <a:ea typeface="Cambria" pitchFamily="34" charset="-122"/>
                <a:cs typeface="Cambria" pitchFamily="34" charset="-120"/>
              </a:rPr>
              <a:t>46</a:t>
            </a:r>
            <a:endParaRPr lang="en-US" sz="2800" dirty="0"/>
          </a:p>
        </p:txBody>
      </p:sp>
      <p:sp>
        <p:nvSpPr>
          <p:cNvPr id="29" name="Text 25"/>
          <p:cNvSpPr txBox="1"/>
          <p:nvPr/>
        </p:nvSpPr>
        <p:spPr>
          <a:xfrm>
            <a:off x="896112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rule cases</a:t>
            </a:r>
            <a:endParaRPr lang="en-US" sz="1200" dirty="0"/>
          </a:p>
        </p:txBody>
      </p:sp>
      <p:sp>
        <p:nvSpPr>
          <p:cNvPr id="30" name="Stat 2"/>
          <p:cNvSpPr/>
          <p:nvPr/>
        </p:nvSpPr>
        <p:spPr>
          <a:xfrm>
            <a:off x="10424160" y="5166360"/>
            <a:ext cx="1371600" cy="1097280"/>
          </a:xfrm>
          <a:prstGeom prst="roundRect">
            <a:avLst>
              <a:gd name="adj" fmla="val 8333"/>
            </a:avLst>
          </a:prstGeom>
          <a:solidFill>
            <a:schemeClr val="tx2"/>
          </a:solidFill>
          <a:ln w="12700">
            <a:solidFill>
              <a:schemeClr val="tx2"/>
            </a:solidFill>
            <a:prstDash val="solid"/>
          </a:ln>
        </p:spPr>
      </p:sp>
      <p:sp>
        <p:nvSpPr>
          <p:cNvPr id="31" name="Text 27"/>
          <p:cNvSpPr txBox="1"/>
          <p:nvPr/>
        </p:nvSpPr>
        <p:spPr>
          <a:xfrm>
            <a:off x="10424160" y="5212080"/>
            <a:ext cx="1371600" cy="640080"/>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12,420</a:t>
            </a:r>
            <a:endParaRPr lang="en-US" sz="2200" dirty="0"/>
          </a:p>
        </p:txBody>
      </p:sp>
      <p:sp>
        <p:nvSpPr>
          <p:cNvPr id="32" name="Text 28"/>
          <p:cNvSpPr txBox="1"/>
          <p:nvPr/>
        </p:nvSpPr>
        <p:spPr>
          <a:xfrm>
            <a:off x="10424160" y="5852160"/>
            <a:ext cx="1371600" cy="320040"/>
          </a:xfrm>
          <a:prstGeom prst="rect">
            <a:avLst/>
          </a:prstGeom>
          <a:noFill/>
          <a:ln/>
        </p:spPr>
        <p:txBody>
          <a:bodyPr wrap="square" lIns="0" tIns="0" rIns="0" bIns="0" rtlCol="0" anchor="ctr"/>
          <a:lstStyle/>
          <a:p>
            <a:pPr algn="ctr" indent="0" marL="0">
              <a:buNone/>
            </a:pPr>
            <a:r>
              <a:rPr lang="en-US" sz="1200" dirty="0">
                <a:solidFill>
                  <a:schemeClr val="bg1"/>
                </a:solidFill>
                <a:latin typeface="Calibri" pitchFamily="34" charset="0"/>
                <a:ea typeface="Calibri" pitchFamily="34" charset="-122"/>
                <a:cs typeface="Calibri" pitchFamily="34" charset="-120"/>
              </a:rPr>
              <a:t>cross-checked</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ill USP 4"/>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4</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From panic to a plan.</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The family leaves the screen knowing who to call, who goes and what to hand over</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plan">    </p:cNvPr>
          <p:cNvPicPr>
            <a:picLocks noChangeAspect="1"/>
          </p:cNvPicPr>
          <p:nvPr/>
        </p:nvPicPr>
        <p:blipFill>
          <a:blip r:embed="rId1"/>
          <a:stretch>
            <a:fillRect/>
          </a:stretch>
        </p:blipFill>
        <p:spPr>
          <a:xfrm>
            <a:off x="1051560" y="1691640"/>
            <a:ext cx="2286000" cy="4449932"/>
          </a:xfrm>
          <a:prstGeom prst="rect">
            <a:avLst/>
          </a:prstGeom>
        </p:spPr>
      </p:pic>
      <p:pic>
        <p:nvPicPr>
          <p:cNvPr id="8" name="Image 1" descr="Maitri app screen: slip">    </p:cNvPr>
          <p:cNvPicPr>
            <a:picLocks noChangeAspect="1"/>
          </p:cNvPicPr>
          <p:nvPr/>
        </p:nvPicPr>
        <p:blipFill>
          <a:blip r:embed="rId2"/>
          <a:stretch>
            <a:fillRect/>
          </a:stretch>
        </p:blipFill>
        <p:spPr>
          <a:xfrm>
            <a:off x="3749040" y="1691640"/>
            <a:ext cx="2286000" cy="4449932"/>
          </a:xfrm>
          <a:prstGeom prst="rect">
            <a:avLst/>
          </a:prstGeom>
        </p:spPr>
      </p:pic>
      <p:sp>
        <p:nvSpPr>
          <p:cNvPr id="9" name="Ring plan call"/>
          <p:cNvSpPr/>
          <p:nvPr/>
        </p:nvSpPr>
        <p:spPr>
          <a:xfrm>
            <a:off x="1577891" y="3027105"/>
            <a:ext cx="1521081" cy="310718"/>
          </a:xfrm>
          <a:prstGeom prst="roundRect">
            <a:avLst>
              <a:gd name="adj" fmla="val 17657"/>
            </a:avLst>
          </a:prstGeom>
          <a:solidFill>
            <a:srgbClr val="FFFFFF">
              <a:alpha val="0"/>
            </a:srgbClr>
          </a:solidFill>
          <a:ln w="38100">
            <a:solidFill>
              <a:schemeClr val="accent1"/>
            </a:solidFill>
            <a:prstDash val="solid"/>
          </a:ln>
        </p:spPr>
      </p:sp>
      <p:sp>
        <p:nvSpPr>
          <p:cNvPr id="10" name="Marker 1"/>
          <p:cNvSpPr/>
          <p:nvPr/>
        </p:nvSpPr>
        <p:spPr>
          <a:xfrm>
            <a:off x="1422443" y="3027016"/>
            <a:ext cx="310896" cy="310896"/>
          </a:xfrm>
          <a:prstGeom prst="ellipse">
            <a:avLst/>
          </a:prstGeom>
          <a:solidFill>
            <a:schemeClr val="accent1"/>
          </a:solidFill>
          <a:ln w="19050">
            <a:solidFill>
              <a:schemeClr val="tx1"/>
            </a:solidFill>
            <a:prstDash val="solid"/>
          </a:ln>
        </p:spPr>
      </p:sp>
      <p:sp>
        <p:nvSpPr>
          <p:cNvPr id="11" name="Text 7"/>
          <p:cNvSpPr txBox="1"/>
          <p:nvPr/>
        </p:nvSpPr>
        <p:spPr>
          <a:xfrm>
            <a:off x="1422443" y="3027016"/>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p>
        </p:txBody>
      </p:sp>
      <p:sp>
        <p:nvSpPr>
          <p:cNvPr id="12" name="Ring plan tick"/>
          <p:cNvSpPr/>
          <p:nvPr/>
        </p:nvSpPr>
        <p:spPr>
          <a:xfrm>
            <a:off x="1577891" y="4433401"/>
            <a:ext cx="1521081" cy="310718"/>
          </a:xfrm>
          <a:prstGeom prst="roundRect">
            <a:avLst>
              <a:gd name="adj" fmla="val 17657"/>
            </a:avLst>
          </a:prstGeom>
          <a:solidFill>
            <a:srgbClr val="FFFFFF">
              <a:alpha val="0"/>
            </a:srgbClr>
          </a:solidFill>
          <a:ln w="38100">
            <a:solidFill>
              <a:schemeClr val="accent1"/>
            </a:solidFill>
            <a:prstDash val="solid"/>
          </a:ln>
        </p:spPr>
      </p:sp>
      <p:sp>
        <p:nvSpPr>
          <p:cNvPr id="13" name="Marker 2"/>
          <p:cNvSpPr/>
          <p:nvPr/>
        </p:nvSpPr>
        <p:spPr>
          <a:xfrm>
            <a:off x="1422443" y="4433312"/>
            <a:ext cx="310896" cy="310896"/>
          </a:xfrm>
          <a:prstGeom prst="ellipse">
            <a:avLst/>
          </a:prstGeom>
          <a:solidFill>
            <a:schemeClr val="accent1"/>
          </a:solidFill>
          <a:ln w="19050">
            <a:solidFill>
              <a:schemeClr val="tx1"/>
            </a:solidFill>
            <a:prstDash val="solid"/>
          </a:ln>
        </p:spPr>
      </p:sp>
      <p:sp>
        <p:nvSpPr>
          <p:cNvPr id="14" name="Text 10"/>
          <p:cNvSpPr txBox="1"/>
          <p:nvPr/>
        </p:nvSpPr>
        <p:spPr>
          <a:xfrm>
            <a:off x="1422443" y="4433312"/>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2</a:t>
            </a:r>
            <a:endParaRPr lang="en-US" sz="1300" dirty="0"/>
          </a:p>
        </p:txBody>
      </p:sp>
      <p:sp>
        <p:nvSpPr>
          <p:cNvPr id="15" name="Ring slip share"/>
          <p:cNvSpPr/>
          <p:nvPr/>
        </p:nvSpPr>
        <p:spPr>
          <a:xfrm>
            <a:off x="3898851" y="5586891"/>
            <a:ext cx="1986379" cy="427064"/>
          </a:xfrm>
          <a:prstGeom prst="roundRect">
            <a:avLst>
              <a:gd name="adj" fmla="val 12847"/>
            </a:avLst>
          </a:prstGeom>
          <a:solidFill>
            <a:srgbClr val="FFFFFF">
              <a:alpha val="0"/>
            </a:srgbClr>
          </a:solidFill>
          <a:ln w="38100">
            <a:solidFill>
              <a:schemeClr val="accent1"/>
            </a:solidFill>
            <a:prstDash val="solid"/>
          </a:ln>
        </p:spPr>
      </p:sp>
      <p:sp>
        <p:nvSpPr>
          <p:cNvPr id="16" name="Marker 3"/>
          <p:cNvSpPr/>
          <p:nvPr/>
        </p:nvSpPr>
        <p:spPr>
          <a:xfrm>
            <a:off x="3743403" y="5644975"/>
            <a:ext cx="310896" cy="310896"/>
          </a:xfrm>
          <a:prstGeom prst="ellipse">
            <a:avLst/>
          </a:prstGeom>
          <a:solidFill>
            <a:schemeClr val="accent1"/>
          </a:solidFill>
          <a:ln w="19050">
            <a:solidFill>
              <a:schemeClr val="tx1"/>
            </a:solidFill>
            <a:prstDash val="solid"/>
          </a:ln>
        </p:spPr>
      </p:sp>
      <p:sp>
        <p:nvSpPr>
          <p:cNvPr id="17" name="Text 13"/>
          <p:cNvSpPr txBox="1"/>
          <p:nvPr/>
        </p:nvSpPr>
        <p:spPr>
          <a:xfrm>
            <a:off x="3743403" y="5644975"/>
            <a:ext cx="310896" cy="310896"/>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3</a:t>
            </a:r>
            <a:endParaRPr lang="en-US" sz="1300" dirty="0"/>
          </a:p>
        </p:txBody>
      </p:sp>
      <p:sp>
        <p:nvSpPr>
          <p:cNvPr id="18" name="Legend marker 1"/>
          <p:cNvSpPr/>
          <p:nvPr/>
        </p:nvSpPr>
        <p:spPr>
          <a:xfrm>
            <a:off x="7498080" y="1600200"/>
            <a:ext cx="402336" cy="402336"/>
          </a:xfrm>
          <a:prstGeom prst="ellipse">
            <a:avLst/>
          </a:prstGeom>
          <a:solidFill>
            <a:schemeClr val="accent1"/>
          </a:solidFill>
          <a:ln w="19050">
            <a:solidFill>
              <a:schemeClr val="tx1"/>
            </a:solidFill>
            <a:prstDash val="solid"/>
          </a:ln>
        </p:spPr>
      </p:sp>
      <p:sp>
        <p:nvSpPr>
          <p:cNvPr id="19" name="Text 15"/>
          <p:cNvSpPr txBox="1"/>
          <p:nvPr/>
        </p:nvSpPr>
        <p:spPr>
          <a:xfrm>
            <a:off x="7498080" y="160020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1</a:t>
            </a:r>
            <a:endParaRPr lang="en-US" sz="1600" dirty="0"/>
          </a:p>
        </p:txBody>
      </p:sp>
      <p:sp>
        <p:nvSpPr>
          <p:cNvPr id="20" name="Text 16"/>
          <p:cNvSpPr txBox="1"/>
          <p:nvPr/>
        </p:nvSpPr>
        <p:spPr>
          <a:xfrm>
            <a:off x="8065008" y="156362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The go-now plan</a:t>
            </a:r>
            <a:endParaRPr lang="en-US" sz="1900" dirty="0"/>
          </a:p>
        </p:txBody>
      </p:sp>
      <p:sp>
        <p:nvSpPr>
          <p:cNvPr id="21" name="Text 17"/>
          <p:cNvSpPr txBox="1"/>
          <p:nvPr/>
        </p:nvSpPr>
        <p:spPr>
          <a:xfrm>
            <a:off x="8065008" y="196596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Call, decide who goes, show the slip, ask for free transport and care (JSSK). One big call button.</a:t>
            </a:r>
            <a:endParaRPr lang="en-US" sz="1400" dirty="0"/>
          </a:p>
        </p:txBody>
      </p:sp>
      <p:sp>
        <p:nvSpPr>
          <p:cNvPr id="22" name="Legend marker 2"/>
          <p:cNvSpPr/>
          <p:nvPr/>
        </p:nvSpPr>
        <p:spPr>
          <a:xfrm>
            <a:off x="7498080" y="2788920"/>
            <a:ext cx="402336" cy="402336"/>
          </a:xfrm>
          <a:prstGeom prst="ellipse">
            <a:avLst/>
          </a:prstGeom>
          <a:solidFill>
            <a:schemeClr val="accent1"/>
          </a:solidFill>
          <a:ln w="19050">
            <a:solidFill>
              <a:schemeClr val="tx1"/>
            </a:solidFill>
            <a:prstDash val="solid"/>
          </a:ln>
        </p:spPr>
      </p:sp>
      <p:sp>
        <p:nvSpPr>
          <p:cNvPr id="23" name="Text 19"/>
          <p:cNvSpPr txBox="1"/>
          <p:nvPr/>
        </p:nvSpPr>
        <p:spPr>
          <a:xfrm>
            <a:off x="7498080" y="278892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24" name="Text 20"/>
          <p:cNvSpPr txBox="1"/>
          <p:nvPr/>
        </p:nvSpPr>
        <p:spPr>
          <a:xfrm>
            <a:off x="8065008" y="275234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Steps to tick off</a:t>
            </a:r>
            <a:endParaRPr lang="en-US" sz="1900" dirty="0"/>
          </a:p>
        </p:txBody>
      </p:sp>
      <p:sp>
        <p:nvSpPr>
          <p:cNvPr id="25" name="Text 21"/>
          <p:cNvSpPr txBox="1"/>
          <p:nvPr/>
        </p:nvSpPr>
        <p:spPr>
          <a:xfrm>
            <a:off x="8065008" y="315468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steps in order, each in plain words, each with a Listen button.</a:t>
            </a:r>
            <a:endParaRPr lang="en-US" sz="1400" dirty="0"/>
          </a:p>
        </p:txBody>
      </p:sp>
      <p:sp>
        <p:nvSpPr>
          <p:cNvPr id="26" name="Legend marker 3"/>
          <p:cNvSpPr/>
          <p:nvPr/>
        </p:nvSpPr>
        <p:spPr>
          <a:xfrm>
            <a:off x="7498080" y="3977640"/>
            <a:ext cx="402336" cy="402336"/>
          </a:xfrm>
          <a:prstGeom prst="ellipse">
            <a:avLst/>
          </a:prstGeom>
          <a:solidFill>
            <a:schemeClr val="accent1"/>
          </a:solidFill>
          <a:ln w="19050">
            <a:solidFill>
              <a:schemeClr val="tx1"/>
            </a:solidFill>
            <a:prstDash val="solid"/>
          </a:ln>
        </p:spPr>
      </p:sp>
      <p:sp>
        <p:nvSpPr>
          <p:cNvPr id="27" name="Text 23"/>
          <p:cNvSpPr txBox="1"/>
          <p:nvPr/>
        </p:nvSpPr>
        <p:spPr>
          <a:xfrm>
            <a:off x="7498080" y="397764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3</a:t>
            </a:r>
            <a:endParaRPr lang="en-US" sz="1600" dirty="0"/>
          </a:p>
        </p:txBody>
      </p:sp>
      <p:sp>
        <p:nvSpPr>
          <p:cNvPr id="28" name="Text 24"/>
          <p:cNvSpPr txBox="1"/>
          <p:nvPr/>
        </p:nvSpPr>
        <p:spPr>
          <a:xfrm>
            <a:off x="8065008" y="394106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The Maitri slip</a:t>
            </a:r>
            <a:endParaRPr lang="en-US" sz="1900" dirty="0"/>
          </a:p>
        </p:txBody>
      </p:sp>
      <p:sp>
        <p:nvSpPr>
          <p:cNvPr id="29" name="Text 25"/>
          <p:cNvSpPr txBox="1"/>
          <p:nvPr/>
        </p:nvSpPr>
        <p:spPr>
          <a:xfrm>
            <a:off x="8065008" y="434340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Stage, result, signs told, care contacts with their status. No name, no phone number.</a:t>
            </a:r>
            <a:endParaRPr lang="en-US" sz="1400" dirty="0"/>
          </a:p>
        </p:txBody>
      </p:sp>
      <p:sp>
        <p:nvSpPr>
          <p:cNvPr id="30" name="Legend marker 4"/>
          <p:cNvSpPr/>
          <p:nvPr/>
        </p:nvSpPr>
        <p:spPr>
          <a:xfrm>
            <a:off x="7498080" y="5166360"/>
            <a:ext cx="402336" cy="402336"/>
          </a:xfrm>
          <a:prstGeom prst="ellipse">
            <a:avLst/>
          </a:prstGeom>
          <a:solidFill>
            <a:schemeClr val="accent1"/>
          </a:solidFill>
          <a:ln w="19050">
            <a:solidFill>
              <a:schemeClr val="tx1"/>
            </a:solidFill>
            <a:prstDash val="solid"/>
          </a:ln>
        </p:spPr>
      </p:sp>
      <p:sp>
        <p:nvSpPr>
          <p:cNvPr id="31" name="Text 27"/>
          <p:cNvSpPr txBox="1"/>
          <p:nvPr/>
        </p:nvSpPr>
        <p:spPr>
          <a:xfrm>
            <a:off x="7498080" y="5166360"/>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4</a:t>
            </a:r>
            <a:endParaRPr lang="en-US" sz="1600" dirty="0"/>
          </a:p>
        </p:txBody>
      </p:sp>
      <p:sp>
        <p:nvSpPr>
          <p:cNvPr id="32" name="Text 28"/>
          <p:cNvSpPr txBox="1"/>
          <p:nvPr/>
        </p:nvSpPr>
        <p:spPr>
          <a:xfrm>
            <a:off x="8065008" y="5129784"/>
            <a:ext cx="3685032"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Shared only with consent</a:t>
            </a:r>
            <a:endParaRPr lang="en-US" sz="1900" dirty="0"/>
          </a:p>
        </p:txBody>
      </p:sp>
      <p:sp>
        <p:nvSpPr>
          <p:cNvPr id="33" name="Text 29"/>
          <p:cNvSpPr txBox="1"/>
          <p:nvPr/>
        </p:nvSpPr>
        <p:spPr>
          <a:xfrm>
            <a:off x="8065008" y="5532120"/>
            <a:ext cx="3685032"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ASHA reads it instead of asking again. She chooses a picture or plain text first.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ill USP 5"/>
          <p:cNvSpPr/>
          <p:nvPr/>
        </p:nvSpPr>
        <p:spPr>
          <a:xfrm>
            <a:off x="548640" y="457200"/>
            <a:ext cx="1188720" cy="384048"/>
          </a:xfrm>
          <a:prstGeom prst="roundRect">
            <a:avLst>
              <a:gd name="adj" fmla="val 50000"/>
            </a:avLst>
          </a:prstGeom>
          <a:solidFill>
            <a:schemeClr val="accent1"/>
          </a:solidFill>
          <a:ln w="12700">
            <a:solidFill>
              <a:schemeClr val="accent1"/>
            </a:solidFill>
            <a:prstDash val="solid"/>
          </a:ln>
        </p:spPr>
      </p:sp>
      <p:sp>
        <p:nvSpPr>
          <p:cNvPr id="3" name="Text 1"/>
          <p:cNvSpPr txBox="1"/>
          <p:nvPr/>
        </p:nvSpPr>
        <p:spPr>
          <a:xfrm>
            <a:off x="548640" y="457200"/>
            <a:ext cx="1188720" cy="384048"/>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USP 5</a:t>
            </a:r>
            <a:endParaRPr lang="en-US" sz="1500" dirty="0"/>
          </a:p>
        </p:txBody>
      </p:sp>
      <p:sp>
        <p:nvSpPr>
          <p:cNvPr id="4" name="Title"/>
          <p:cNvSpPr txBox="1"/>
          <p:nvPr/>
        </p:nvSpPr>
        <p:spPr>
          <a:xfrm>
            <a:off x="1920240" y="274320"/>
            <a:ext cx="978408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Private, offline, for everyone.</a:t>
            </a:r>
            <a:endParaRPr lang="en-US" sz="3400" dirty="0"/>
          </a:p>
        </p:txBody>
      </p:sp>
      <p:sp>
        <p:nvSpPr>
          <p:cNvPr id="5" name="Text 3"/>
          <p:cNvSpPr txBox="1"/>
          <p:nvPr/>
        </p:nvSpPr>
        <p:spPr>
          <a:xfrm>
            <a:off x="548640" y="1024128"/>
            <a:ext cx="11155680" cy="365760"/>
          </a:xfrm>
          <a:prstGeom prst="rect">
            <a:avLst/>
          </a:prstGeom>
          <a:noFill/>
          <a:ln/>
        </p:spPr>
        <p:txBody>
          <a:bodyPr wrap="square" lIns="0" tIns="0" rIns="0" bIns="0" rtlCol="0" anchor="ctr"/>
          <a:lstStyle/>
          <a:p>
            <a:pPr indent="0" marL="0">
              <a:buNone/>
            </a:pPr>
            <a:r>
              <a:rPr lang="en-US" sz="1600" dirty="0">
                <a:solidFill>
                  <a:schemeClr val="accent5"/>
                </a:solidFill>
                <a:latin typeface="Calibri" pitchFamily="34" charset="0"/>
                <a:ea typeface="Calibri" pitchFamily="34" charset="-122"/>
                <a:cs typeface="Calibri" pitchFamily="34" charset="-120"/>
              </a:rPr>
              <a:t>It still reads in greyscale, in bright sun, on a cheap phone, with no signal</a:t>
            </a:r>
            <a:endParaRPr lang="en-US" sz="1600" dirty="0"/>
          </a:p>
        </p:txBody>
      </p:sp>
      <p:sp>
        <p:nvSpPr>
          <p:cNvPr id="6" name="Phone panel"/>
          <p:cNvSpPr/>
          <p:nvPr/>
        </p:nvSpPr>
        <p:spPr>
          <a:xfrm>
            <a:off x="457200" y="1508760"/>
            <a:ext cx="6720840" cy="4800600"/>
          </a:xfrm>
          <a:prstGeom prst="roundRect">
            <a:avLst>
              <a:gd name="adj" fmla="val 3048"/>
            </a:avLst>
          </a:prstGeom>
          <a:solidFill>
            <a:schemeClr val="tx2"/>
          </a:solidFill>
          <a:ln w="12700">
            <a:solidFill>
              <a:schemeClr val="tx2"/>
            </a:solidFill>
            <a:prstDash val="solid"/>
          </a:ln>
        </p:spPr>
      </p:sp>
      <p:pic>
        <p:nvPicPr>
          <p:cNvPr id="7" name="Image 0" descr="Maitri app screen: red-en">    </p:cNvPr>
          <p:cNvPicPr>
            <a:picLocks noChangeAspect="1"/>
          </p:cNvPicPr>
          <p:nvPr/>
        </p:nvPicPr>
        <p:blipFill>
          <a:blip r:embed="rId1"/>
          <a:stretch>
            <a:fillRect/>
          </a:stretch>
        </p:blipFill>
        <p:spPr>
          <a:xfrm>
            <a:off x="685800" y="1783080"/>
            <a:ext cx="1874520" cy="3648944"/>
          </a:xfrm>
          <a:prstGeom prst="rect">
            <a:avLst/>
          </a:prstGeom>
        </p:spPr>
      </p:pic>
      <p:pic>
        <p:nvPicPr>
          <p:cNvPr id="8" name="Image 1" descr="Maitri app screen: amber-en">    </p:cNvPr>
          <p:cNvPicPr>
            <a:picLocks noChangeAspect="1"/>
          </p:cNvPicPr>
          <p:nvPr/>
        </p:nvPicPr>
        <p:blipFill>
          <a:blip r:embed="rId2"/>
          <a:stretch>
            <a:fillRect/>
          </a:stretch>
        </p:blipFill>
        <p:spPr>
          <a:xfrm>
            <a:off x="2651760" y="1783080"/>
            <a:ext cx="1874520" cy="3648944"/>
          </a:xfrm>
          <a:prstGeom prst="rect">
            <a:avLst/>
          </a:prstGeom>
        </p:spPr>
      </p:pic>
      <p:pic>
        <p:nvPicPr>
          <p:cNvPr id="9" name="Image 2" descr="Maitri app screen: green-en">    </p:cNvPr>
          <p:cNvPicPr>
            <a:picLocks noChangeAspect="1"/>
          </p:cNvPicPr>
          <p:nvPr/>
        </p:nvPicPr>
        <p:blipFill>
          <a:blip r:embed="rId3"/>
          <a:stretch>
            <a:fillRect/>
          </a:stretch>
        </p:blipFill>
        <p:spPr>
          <a:xfrm>
            <a:off x="4617720" y="1783080"/>
            <a:ext cx="1874520" cy="3648944"/>
          </a:xfrm>
          <a:prstGeom prst="rect">
            <a:avLst/>
          </a:prstGeom>
        </p:spPr>
      </p:pic>
      <p:sp>
        <p:nvSpPr>
          <p:cNvPr id="10" name="Text 5"/>
          <p:cNvSpPr txBox="1"/>
          <p:nvPr/>
        </p:nvSpPr>
        <p:spPr>
          <a:xfrm>
            <a:off x="640080" y="5623560"/>
            <a:ext cx="594360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Word + shape + colour</a:t>
            </a:r>
            <a:endParaRPr lang="en-US" sz="1800" dirty="0"/>
          </a:p>
        </p:txBody>
      </p:sp>
      <p:sp>
        <p:nvSpPr>
          <p:cNvPr id="11" name="Feat bg 0"/>
          <p:cNvSpPr/>
          <p:nvPr/>
        </p:nvSpPr>
        <p:spPr>
          <a:xfrm>
            <a:off x="7498080" y="1600200"/>
            <a:ext cx="640080" cy="640080"/>
          </a:xfrm>
          <a:prstGeom prst="ellipse">
            <a:avLst/>
          </a:prstGeom>
          <a:solidFill>
            <a:schemeClr val="tx2"/>
          </a:solidFill>
          <a:ln w="12700">
            <a:solidFill>
              <a:schemeClr val="tx2"/>
            </a:solidFill>
            <a:prstDash val="solid"/>
          </a:ln>
        </p:spPr>
      </p:sp>
      <p:pic>
        <p:nvPicPr>
          <p:cNvPr id="12" name="Image 3" descr="Works offline">    </p:cNvPr>
          <p:cNvPicPr>
            <a:picLocks noChangeAspect="1"/>
          </p:cNvPicPr>
          <p:nvPr/>
        </p:nvPicPr>
        <p:blipFill>
          <a:blip r:embed="rId4"/>
          <a:stretch>
            <a:fillRect/>
          </a:stretch>
        </p:blipFill>
        <p:spPr>
          <a:xfrm>
            <a:off x="7671816" y="1773936"/>
            <a:ext cx="292608" cy="292608"/>
          </a:xfrm>
          <a:prstGeom prst="rect">
            <a:avLst/>
          </a:prstGeom>
        </p:spPr>
      </p:pic>
      <p:sp>
        <p:nvSpPr>
          <p:cNvPr id="13" name="Text 7"/>
          <p:cNvSpPr txBox="1"/>
          <p:nvPr/>
        </p:nvSpPr>
        <p:spPr>
          <a:xfrm>
            <a:off x="8321040" y="155448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Works offline</a:t>
            </a:r>
            <a:endParaRPr lang="en-US" sz="1900" dirty="0"/>
          </a:p>
        </p:txBody>
      </p:sp>
      <p:sp>
        <p:nvSpPr>
          <p:cNvPr id="14" name="Text 8"/>
          <p:cNvSpPr txBox="1"/>
          <p:nvPr/>
        </p:nvSpPr>
        <p:spPr>
          <a:xfrm>
            <a:off x="8321040" y="194767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Verified in a browser with the network cut. Installs like an app.</a:t>
            </a:r>
            <a:endParaRPr lang="en-US" sz="1400" dirty="0"/>
          </a:p>
        </p:txBody>
      </p:sp>
      <p:sp>
        <p:nvSpPr>
          <p:cNvPr id="15" name="Feat bg 1"/>
          <p:cNvSpPr/>
          <p:nvPr/>
        </p:nvSpPr>
        <p:spPr>
          <a:xfrm>
            <a:off x="7498080" y="2788920"/>
            <a:ext cx="640080" cy="640080"/>
          </a:xfrm>
          <a:prstGeom prst="ellipse">
            <a:avLst/>
          </a:prstGeom>
          <a:solidFill>
            <a:schemeClr val="tx2"/>
          </a:solidFill>
          <a:ln w="12700">
            <a:solidFill>
              <a:schemeClr val="tx2"/>
            </a:solidFill>
            <a:prstDash val="solid"/>
          </a:ln>
        </p:spPr>
      </p:sp>
      <p:pic>
        <p:nvPicPr>
          <p:cNvPr id="16" name="Image 4" descr="Private by default">    </p:cNvPr>
          <p:cNvPicPr>
            <a:picLocks noChangeAspect="1"/>
          </p:cNvPicPr>
          <p:nvPr/>
        </p:nvPicPr>
        <p:blipFill>
          <a:blip r:embed="rId5"/>
          <a:stretch>
            <a:fillRect/>
          </a:stretch>
        </p:blipFill>
        <p:spPr>
          <a:xfrm>
            <a:off x="7671816" y="2962656"/>
            <a:ext cx="292608" cy="292608"/>
          </a:xfrm>
          <a:prstGeom prst="rect">
            <a:avLst/>
          </a:prstGeom>
        </p:spPr>
      </p:pic>
      <p:sp>
        <p:nvSpPr>
          <p:cNvPr id="17" name="Text 10"/>
          <p:cNvSpPr txBox="1"/>
          <p:nvPr/>
        </p:nvSpPr>
        <p:spPr>
          <a:xfrm>
            <a:off x="8321040" y="274320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Private by default</a:t>
            </a:r>
            <a:endParaRPr lang="en-US" sz="1900" dirty="0"/>
          </a:p>
        </p:txBody>
      </p:sp>
      <p:sp>
        <p:nvSpPr>
          <p:cNvPr id="18" name="Text 11"/>
          <p:cNvSpPr txBox="1"/>
          <p:nvPr/>
        </p:nvSpPr>
        <p:spPr>
          <a:xfrm>
            <a:off x="8321040" y="313639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account needed. "Exit now" clears everything and leaves.</a:t>
            </a:r>
            <a:endParaRPr lang="en-US" sz="1400" dirty="0"/>
          </a:p>
        </p:txBody>
      </p:sp>
      <p:sp>
        <p:nvSpPr>
          <p:cNvPr id="19" name="Feat bg 2"/>
          <p:cNvSpPr/>
          <p:nvPr/>
        </p:nvSpPr>
        <p:spPr>
          <a:xfrm>
            <a:off x="7498080" y="3977640"/>
            <a:ext cx="640080" cy="640080"/>
          </a:xfrm>
          <a:prstGeom prst="ellipse">
            <a:avLst/>
          </a:prstGeom>
          <a:solidFill>
            <a:schemeClr val="tx2"/>
          </a:solidFill>
          <a:ln w="12700">
            <a:solidFill>
              <a:schemeClr val="tx2"/>
            </a:solidFill>
            <a:prstDash val="solid"/>
          </a:ln>
        </p:spPr>
      </p:sp>
      <p:pic>
        <p:nvPicPr>
          <p:cNvPr id="20" name="Image 5" descr="Hindi and English, audited">    </p:cNvPr>
          <p:cNvPicPr>
            <a:picLocks noChangeAspect="1"/>
          </p:cNvPicPr>
          <p:nvPr/>
        </p:nvPicPr>
        <p:blipFill>
          <a:blip r:embed="rId6"/>
          <a:stretch>
            <a:fillRect/>
          </a:stretch>
        </p:blipFill>
        <p:spPr>
          <a:xfrm>
            <a:off x="7671816" y="4151376"/>
            <a:ext cx="292608" cy="292608"/>
          </a:xfrm>
          <a:prstGeom prst="rect">
            <a:avLst/>
          </a:prstGeom>
        </p:spPr>
      </p:pic>
      <p:sp>
        <p:nvSpPr>
          <p:cNvPr id="21" name="Text 13"/>
          <p:cNvSpPr txBox="1"/>
          <p:nvPr/>
        </p:nvSpPr>
        <p:spPr>
          <a:xfrm>
            <a:off x="8321040" y="393192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Hindi and English, audited</a:t>
            </a:r>
            <a:endParaRPr lang="en-US" sz="1900" dirty="0"/>
          </a:p>
        </p:txBody>
      </p:sp>
      <p:sp>
        <p:nvSpPr>
          <p:cNvPr id="22" name="Text 14"/>
          <p:cNvSpPr txBox="1"/>
          <p:nvPr/>
        </p:nvSpPr>
        <p:spPr>
          <a:xfrm>
            <a:off x="8321040" y="432511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test fails if any screen shows the wrong language.</a:t>
            </a:r>
            <a:endParaRPr lang="en-US" sz="1400" dirty="0"/>
          </a:p>
        </p:txBody>
      </p:sp>
      <p:sp>
        <p:nvSpPr>
          <p:cNvPr id="23" name="Feat bg 3"/>
          <p:cNvSpPr/>
          <p:nvPr/>
        </p:nvSpPr>
        <p:spPr>
          <a:xfrm>
            <a:off x="7498080" y="5166360"/>
            <a:ext cx="640080" cy="640080"/>
          </a:xfrm>
          <a:prstGeom prst="ellipse">
            <a:avLst/>
          </a:prstGeom>
          <a:solidFill>
            <a:schemeClr val="tx2"/>
          </a:solidFill>
          <a:ln w="12700">
            <a:solidFill>
              <a:schemeClr val="tx2"/>
            </a:solidFill>
            <a:prstDash val="solid"/>
          </a:ln>
        </p:spPr>
      </p:sp>
      <p:pic>
        <p:nvPicPr>
          <p:cNvPr id="24" name="Image 6" descr="Pictures and big buttons">    </p:cNvPr>
          <p:cNvPicPr>
            <a:picLocks noChangeAspect="1"/>
          </p:cNvPicPr>
          <p:nvPr/>
        </p:nvPicPr>
        <p:blipFill>
          <a:blip r:embed="rId7"/>
          <a:stretch>
            <a:fillRect/>
          </a:stretch>
        </p:blipFill>
        <p:spPr>
          <a:xfrm>
            <a:off x="7671816" y="5340096"/>
            <a:ext cx="292608" cy="292608"/>
          </a:xfrm>
          <a:prstGeom prst="rect">
            <a:avLst/>
          </a:prstGeom>
        </p:spPr>
      </p:pic>
      <p:sp>
        <p:nvSpPr>
          <p:cNvPr id="25" name="Text 16"/>
          <p:cNvSpPr txBox="1"/>
          <p:nvPr/>
        </p:nvSpPr>
        <p:spPr>
          <a:xfrm>
            <a:off x="8321040" y="5120640"/>
            <a:ext cx="3429000" cy="384048"/>
          </a:xfrm>
          <a:prstGeom prst="rect">
            <a:avLst/>
          </a:prstGeom>
          <a:noFill/>
          <a:ln/>
        </p:spPr>
        <p:txBody>
          <a:bodyPr wrap="square" lIns="0" tIns="0" rIns="0" bIns="0" rtlCol="0" anchor="ctr"/>
          <a:lstStyle/>
          <a:p>
            <a:pPr indent="0" marL="0">
              <a:buNone/>
            </a:pPr>
            <a:r>
              <a:rPr lang="en-US" sz="1900" b="1" dirty="0">
                <a:solidFill>
                  <a:schemeClr val="tx2"/>
                </a:solidFill>
                <a:latin typeface="Calibri" pitchFamily="34" charset="0"/>
                <a:ea typeface="Calibri" pitchFamily="34" charset="-122"/>
                <a:cs typeface="Calibri" pitchFamily="34" charset="-120"/>
              </a:rPr>
              <a:t>Pictures and big buttons</a:t>
            </a:r>
            <a:endParaRPr lang="en-US" sz="1900" dirty="0"/>
          </a:p>
        </p:txBody>
      </p:sp>
      <p:sp>
        <p:nvSpPr>
          <p:cNvPr id="26" name="Text 17"/>
          <p:cNvSpPr txBox="1"/>
          <p:nvPr/>
        </p:nvSpPr>
        <p:spPr>
          <a:xfrm>
            <a:off x="8321040" y="5513832"/>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question per screen, tick and cross, large targets, axe audit.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See it work, end to end</a:t>
            </a:r>
            <a:endParaRPr lang="en-US" sz="3600" dirty="0"/>
          </a:p>
        </p:txBody>
      </p:sp>
      <p:pic>
        <p:nvPicPr>
          <p:cNvPr id="3" name="Image 0" descr="Maitri app screen: first">    </p:cNvPr>
          <p:cNvPicPr>
            <a:picLocks noChangeAspect="1"/>
          </p:cNvPicPr>
          <p:nvPr/>
        </p:nvPicPr>
        <p:blipFill>
          <a:blip r:embed="rId1"/>
          <a:stretch>
            <a:fillRect/>
          </a:stretch>
        </p:blipFill>
        <p:spPr>
          <a:xfrm>
            <a:off x="502920" y="1371600"/>
            <a:ext cx="1737360" cy="3381948"/>
          </a:xfrm>
          <a:prstGeom prst="rect">
            <a:avLst/>
          </a:prstGeom>
        </p:spPr>
      </p:pic>
      <p:sp>
        <p:nvSpPr>
          <p:cNvPr id="4" name="Text 1"/>
          <p:cNvSpPr txBox="1"/>
          <p:nvPr/>
        </p:nvSpPr>
        <p:spPr>
          <a:xfrm>
            <a:off x="411480" y="4846320"/>
            <a:ext cx="1920240" cy="45720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Emergency call first</a:t>
            </a:r>
            <a:endParaRPr lang="en-US" sz="1400" dirty="0"/>
          </a:p>
        </p:txBody>
      </p:sp>
      <p:sp>
        <p:nvSpPr>
          <p:cNvPr id="5" name="Arrow 0"/>
          <p:cNvSpPr/>
          <p:nvPr/>
        </p:nvSpPr>
        <p:spPr>
          <a:xfrm>
            <a:off x="2240280" y="2926080"/>
            <a:ext cx="274320" cy="320040"/>
          </a:xfrm>
          <a:prstGeom prst="rightArrow">
            <a:avLst/>
          </a:prstGeom>
          <a:solidFill>
            <a:schemeClr val="accent1"/>
          </a:solidFill>
          <a:ln w="12700">
            <a:solidFill>
              <a:schemeClr val="tx1"/>
            </a:solidFill>
            <a:prstDash val="solid"/>
          </a:ln>
        </p:spPr>
      </p:sp>
      <p:pic>
        <p:nvPicPr>
          <p:cNvPr id="6" name="Image 1" descr="Maitri app screen: voice-review">    </p:cNvPr>
          <p:cNvPicPr>
            <a:picLocks noChangeAspect="1"/>
          </p:cNvPicPr>
          <p:nvPr/>
        </p:nvPicPr>
        <p:blipFill>
          <a:blip r:embed="rId2"/>
          <a:stretch>
            <a:fillRect/>
          </a:stretch>
        </p:blipFill>
        <p:spPr>
          <a:xfrm>
            <a:off x="2514600" y="1371600"/>
            <a:ext cx="1737360" cy="3381948"/>
          </a:xfrm>
          <a:prstGeom prst="rect">
            <a:avLst/>
          </a:prstGeom>
        </p:spPr>
      </p:pic>
      <p:sp>
        <p:nvSpPr>
          <p:cNvPr id="7" name="Text 3"/>
          <p:cNvSpPr txBox="1"/>
          <p:nvPr/>
        </p:nvSpPr>
        <p:spPr>
          <a:xfrm>
            <a:off x="2423160" y="4846320"/>
            <a:ext cx="1920240" cy="45720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Say it, check it</a:t>
            </a:r>
            <a:endParaRPr lang="en-US" sz="1400" dirty="0"/>
          </a:p>
        </p:txBody>
      </p:sp>
      <p:sp>
        <p:nvSpPr>
          <p:cNvPr id="8" name="Arrow 1"/>
          <p:cNvSpPr/>
          <p:nvPr/>
        </p:nvSpPr>
        <p:spPr>
          <a:xfrm>
            <a:off x="4251960" y="2926080"/>
            <a:ext cx="274320" cy="320040"/>
          </a:xfrm>
          <a:prstGeom prst="rightArrow">
            <a:avLst/>
          </a:prstGeom>
          <a:solidFill>
            <a:schemeClr val="accent1"/>
          </a:solidFill>
          <a:ln w="12700">
            <a:solidFill>
              <a:schemeClr val="tx1"/>
            </a:solidFill>
            <a:prstDash val="solid"/>
          </a:ln>
        </p:spPr>
      </p:sp>
      <p:pic>
        <p:nvPicPr>
          <p:cNvPr id="9" name="Image 2" descr="Maitri app screen: red">    </p:cNvPr>
          <p:cNvPicPr>
            <a:picLocks noChangeAspect="1"/>
          </p:cNvPicPr>
          <p:nvPr/>
        </p:nvPicPr>
        <p:blipFill>
          <a:blip r:embed="rId3"/>
          <a:stretch>
            <a:fillRect/>
          </a:stretch>
        </p:blipFill>
        <p:spPr>
          <a:xfrm>
            <a:off x="4526280" y="1371600"/>
            <a:ext cx="1737360" cy="3381948"/>
          </a:xfrm>
          <a:prstGeom prst="rect">
            <a:avLst/>
          </a:prstGeom>
        </p:spPr>
      </p:pic>
      <p:sp>
        <p:nvSpPr>
          <p:cNvPr id="10" name="Text 5"/>
          <p:cNvSpPr txBox="1"/>
          <p:nvPr/>
        </p:nvSpPr>
        <p:spPr>
          <a:xfrm>
            <a:off x="4434840" y="4846320"/>
            <a:ext cx="1920240" cy="45720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One RED sign, one call</a:t>
            </a:r>
            <a:endParaRPr lang="en-US" sz="1400" dirty="0"/>
          </a:p>
        </p:txBody>
      </p:sp>
      <p:sp>
        <p:nvSpPr>
          <p:cNvPr id="11" name="Arrow 2"/>
          <p:cNvSpPr/>
          <p:nvPr/>
        </p:nvSpPr>
        <p:spPr>
          <a:xfrm>
            <a:off x="6263640" y="2926080"/>
            <a:ext cx="274320" cy="320040"/>
          </a:xfrm>
          <a:prstGeom prst="rightArrow">
            <a:avLst/>
          </a:prstGeom>
          <a:solidFill>
            <a:schemeClr val="accent1"/>
          </a:solidFill>
          <a:ln w="12700">
            <a:solidFill>
              <a:schemeClr val="tx1"/>
            </a:solidFill>
            <a:prstDash val="solid"/>
          </a:ln>
        </p:spPr>
      </p:sp>
      <p:pic>
        <p:nvPicPr>
          <p:cNvPr id="12" name="Image 3" descr="Maitri app screen: why">    </p:cNvPr>
          <p:cNvPicPr>
            <a:picLocks noChangeAspect="1"/>
          </p:cNvPicPr>
          <p:nvPr/>
        </p:nvPicPr>
        <p:blipFill>
          <a:blip r:embed="rId4"/>
          <a:stretch>
            <a:fillRect/>
          </a:stretch>
        </p:blipFill>
        <p:spPr>
          <a:xfrm>
            <a:off x="6537960" y="1371600"/>
            <a:ext cx="1737360" cy="3381948"/>
          </a:xfrm>
          <a:prstGeom prst="rect">
            <a:avLst/>
          </a:prstGeom>
        </p:spPr>
      </p:pic>
      <p:sp>
        <p:nvSpPr>
          <p:cNvPr id="13" name="Text 7"/>
          <p:cNvSpPr txBox="1"/>
          <p:nvPr/>
        </p:nvSpPr>
        <p:spPr>
          <a:xfrm>
            <a:off x="6446520" y="4846320"/>
            <a:ext cx="1920240" cy="45720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Why this result</a:t>
            </a:r>
            <a:endParaRPr lang="en-US" sz="1400" dirty="0"/>
          </a:p>
        </p:txBody>
      </p:sp>
      <p:sp>
        <p:nvSpPr>
          <p:cNvPr id="14" name="Arrow 3"/>
          <p:cNvSpPr/>
          <p:nvPr/>
        </p:nvSpPr>
        <p:spPr>
          <a:xfrm>
            <a:off x="8275320" y="2926080"/>
            <a:ext cx="274320" cy="320040"/>
          </a:xfrm>
          <a:prstGeom prst="rightArrow">
            <a:avLst/>
          </a:prstGeom>
          <a:solidFill>
            <a:schemeClr val="accent1"/>
          </a:solidFill>
          <a:ln w="12700">
            <a:solidFill>
              <a:schemeClr val="tx1"/>
            </a:solidFill>
            <a:prstDash val="solid"/>
          </a:ln>
        </p:spPr>
      </p:sp>
      <p:pic>
        <p:nvPicPr>
          <p:cNvPr id="15" name="Image 4" descr="Maitri app screen: plan">    </p:cNvPr>
          <p:cNvPicPr>
            <a:picLocks noChangeAspect="1"/>
          </p:cNvPicPr>
          <p:nvPr/>
        </p:nvPicPr>
        <p:blipFill>
          <a:blip r:embed="rId5"/>
          <a:stretch>
            <a:fillRect/>
          </a:stretch>
        </p:blipFill>
        <p:spPr>
          <a:xfrm>
            <a:off x="8549640" y="1371600"/>
            <a:ext cx="1737360" cy="3381948"/>
          </a:xfrm>
          <a:prstGeom prst="rect">
            <a:avLst/>
          </a:prstGeom>
        </p:spPr>
      </p:pic>
      <p:sp>
        <p:nvSpPr>
          <p:cNvPr id="16" name="Text 9"/>
          <p:cNvSpPr txBox="1"/>
          <p:nvPr/>
        </p:nvSpPr>
        <p:spPr>
          <a:xfrm>
            <a:off x="8458200" y="4846320"/>
            <a:ext cx="1920240" cy="45720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Plan and slip</a:t>
            </a:r>
            <a:endParaRPr lang="en-US" sz="1400" dirty="0"/>
          </a:p>
        </p:txBody>
      </p:sp>
      <p:sp>
        <p:nvSpPr>
          <p:cNvPr id="17" name="QR"/>
          <p:cNvSpPr/>
          <p:nvPr/>
        </p:nvSpPr>
        <p:spPr>
          <a:xfrm>
            <a:off x="10561320" y="1371600"/>
            <a:ext cx="1188720" cy="1371600"/>
          </a:xfrm>
          <a:prstGeom prst="roundRect">
            <a:avLst>
              <a:gd name="adj" fmla="val 9231"/>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pic>
        <p:nvPicPr>
          <p:cNvPr id="18" name="Image 5" descr="QR code to the repository">    </p:cNvPr>
          <p:cNvPicPr>
            <a:picLocks noChangeAspect="1"/>
          </p:cNvPicPr>
          <p:nvPr/>
        </p:nvPicPr>
        <p:blipFill>
          <a:blip r:embed="rId6"/>
          <a:stretch>
            <a:fillRect/>
          </a:stretch>
        </p:blipFill>
        <p:spPr>
          <a:xfrm>
            <a:off x="10607040" y="1417320"/>
            <a:ext cx="1097280" cy="1097280"/>
          </a:xfrm>
          <a:prstGeom prst="rect">
            <a:avLst/>
          </a:prstGeom>
        </p:spPr>
      </p:pic>
      <p:sp>
        <p:nvSpPr>
          <p:cNvPr id="19" name="Text 11"/>
          <p:cNvSpPr txBox="1"/>
          <p:nvPr/>
        </p:nvSpPr>
        <p:spPr>
          <a:xfrm>
            <a:off x="10561320" y="2487168"/>
            <a:ext cx="1188720" cy="274320"/>
          </a:xfrm>
          <a:prstGeom prst="rect">
            <a:avLst/>
          </a:prstGeom>
          <a:noFill/>
          <a:ln/>
        </p:spPr>
        <p:txBody>
          <a:bodyPr wrap="square" lIns="0" tIns="0" rIns="0" bIns="0" rtlCol="0" anchor="ctr"/>
          <a:lstStyle/>
          <a:p>
            <a:pPr algn="ctr" indent="0" marL="0">
              <a:buNone/>
            </a:pPr>
            <a:r>
              <a:rPr lang="en-US" sz="900" dirty="0">
                <a:solidFill>
                  <a:schemeClr val="tx1"/>
                </a:solidFill>
                <a:latin typeface="Calibri" pitchFamily="34" charset="0"/>
                <a:ea typeface="Calibri" pitchFamily="34" charset="-122"/>
                <a:cs typeface="Calibri" pitchFamily="34" charset="-120"/>
              </a:rPr>
              <a:t>Code, video, live link</a:t>
            </a:r>
            <a:endParaRPr lang="en-US" sz="900" dirty="0"/>
          </a:p>
        </p:txBody>
      </p:sp>
      <p:sp>
        <p:nvSpPr>
          <p:cNvPr id="20" name="Text 12"/>
          <p:cNvSpPr txBox="1"/>
          <p:nvPr/>
        </p:nvSpPr>
        <p:spPr>
          <a:xfrm>
            <a:off x="548640" y="5532120"/>
            <a:ext cx="5486400" cy="3200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github.com/aafreenzy/maitri</a:t>
            </a:r>
            <a:endParaRPr lang="en-US" sz="1400" dirty="0"/>
          </a:p>
        </p:txBody>
      </p:sp>
      <p:sp>
        <p:nvSpPr>
          <p:cNvPr id="21" name="Text 13"/>
          <p:cNvSpPr txBox="1"/>
          <p:nvPr/>
        </p:nvSpPr>
        <p:spPr>
          <a:xfrm>
            <a:off x="548640" y="5852160"/>
            <a:ext cx="10058400" cy="411480"/>
          </a:xfrm>
          <a:prstGeom prst="rect">
            <a:avLst/>
          </a:prstGeom>
          <a:noFill/>
          <a:ln/>
        </p:spPr>
        <p:txBody>
          <a:bodyPr wrap="square" lIns="0" tIns="0" rIns="0" bIns="0" rtlCol="0" anchor="t"/>
          <a:lstStyle/>
          <a:p>
            <a:pPr indent="0" marL="0">
              <a:buNone/>
            </a:pPr>
            <a:r>
              <a:rPr lang="en-US" sz="1200" i="1" dirty="0">
                <a:solidFill>
                  <a:schemeClr val="accent5"/>
                </a:solidFill>
                <a:latin typeface="Calibri" pitchFamily="34" charset="0"/>
                <a:ea typeface="Calibri" pitchFamily="34" charset="-122"/>
                <a:cs typeface="Calibri" pitchFamily="34" charset="-120"/>
              </a:rPr>
              <a:t>About 30 seconds of video in docs/demo. The video's voice step uses a simulated recogniser; on a phone it is the browser's own.</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How it is built</a:t>
            </a:r>
            <a:endParaRPr lang="en-US" sz="3600" dirty="0"/>
          </a:p>
        </p:txBody>
      </p:sp>
      <p:sp>
        <p:nvSpPr>
          <p:cNvPr id="3" name="Pipeline"/>
          <p:cNvSpPr/>
          <p:nvPr/>
        </p:nvSpPr>
        <p:spPr>
          <a:xfrm>
            <a:off x="548640" y="1371600"/>
            <a:ext cx="7040880"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4" name="Text 2"/>
          <p:cNvSpPr txBox="1"/>
          <p:nvPr/>
        </p:nvSpPr>
        <p:spPr>
          <a:xfrm>
            <a:off x="777240" y="1463040"/>
            <a:ext cx="6583680" cy="3200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The voice path: no model decides</a:t>
            </a:r>
            <a:endParaRPr lang="en-US" sz="1600" dirty="0"/>
          </a:p>
        </p:txBody>
      </p:sp>
      <p:sp>
        <p:nvSpPr>
          <p:cNvPr id="5" name="Step 0"/>
          <p:cNvSpPr/>
          <p:nvPr/>
        </p:nvSpPr>
        <p:spPr>
          <a:xfrm>
            <a:off x="777240" y="1965960"/>
            <a:ext cx="1234440" cy="1051560"/>
          </a:xfrm>
          <a:prstGeom prst="roundRect">
            <a:avLst>
              <a:gd name="adj" fmla="val 8696"/>
            </a:avLst>
          </a:prstGeom>
          <a:solidFill>
            <a:schemeClr val="bg2"/>
          </a:solidFill>
          <a:ln w="19050">
            <a:solidFill>
              <a:schemeClr val="tx2"/>
            </a:solidFill>
            <a:prstDash val="solid"/>
          </a:ln>
        </p:spPr>
      </p:sp>
      <p:sp>
        <p:nvSpPr>
          <p:cNvPr id="6" name="Text 4"/>
          <p:cNvSpPr txBox="1"/>
          <p:nvPr/>
        </p:nvSpPr>
        <p:spPr>
          <a:xfrm>
            <a:off x="822960" y="1965960"/>
            <a:ext cx="1143000" cy="10515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Browser speech-to-text</a:t>
            </a:r>
            <a:endParaRPr lang="en-US" sz="1200" dirty="0"/>
          </a:p>
        </p:txBody>
      </p:sp>
      <p:sp>
        <p:nvSpPr>
          <p:cNvPr id="7" name="Pipe arrow 0"/>
          <p:cNvSpPr/>
          <p:nvPr/>
        </p:nvSpPr>
        <p:spPr>
          <a:xfrm>
            <a:off x="2020824" y="2359152"/>
            <a:ext cx="128016" cy="256032"/>
          </a:xfrm>
          <a:prstGeom prst="rightArrow">
            <a:avLst/>
          </a:prstGeom>
          <a:solidFill>
            <a:schemeClr val="accent1"/>
          </a:solidFill>
          <a:ln w="12700">
            <a:solidFill>
              <a:schemeClr val="accent1"/>
            </a:solidFill>
            <a:prstDash val="solid"/>
          </a:ln>
        </p:spPr>
      </p:sp>
      <p:sp>
        <p:nvSpPr>
          <p:cNvPr id="8" name="Step 1"/>
          <p:cNvSpPr/>
          <p:nvPr/>
        </p:nvSpPr>
        <p:spPr>
          <a:xfrm>
            <a:off x="2148840" y="1965960"/>
            <a:ext cx="1234440" cy="1051560"/>
          </a:xfrm>
          <a:prstGeom prst="roundRect">
            <a:avLst>
              <a:gd name="adj" fmla="val 8696"/>
            </a:avLst>
          </a:prstGeom>
          <a:solidFill>
            <a:schemeClr val="bg2"/>
          </a:solidFill>
          <a:ln w="19050">
            <a:solidFill>
              <a:schemeClr val="tx2"/>
            </a:solidFill>
            <a:prstDash val="solid"/>
          </a:ln>
        </p:spPr>
      </p:sp>
      <p:sp>
        <p:nvSpPr>
          <p:cNvPr id="9" name="Text 7"/>
          <p:cNvSpPr txBox="1"/>
          <p:nvPr/>
        </p:nvSpPr>
        <p:spPr>
          <a:xfrm>
            <a:off x="2194560" y="1965960"/>
            <a:ext cx="1143000" cy="10515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Transcript she can edit</a:t>
            </a:r>
            <a:endParaRPr lang="en-US" sz="1200" dirty="0"/>
          </a:p>
        </p:txBody>
      </p:sp>
      <p:sp>
        <p:nvSpPr>
          <p:cNvPr id="10" name="Pipe arrow 1"/>
          <p:cNvSpPr/>
          <p:nvPr/>
        </p:nvSpPr>
        <p:spPr>
          <a:xfrm>
            <a:off x="3392424" y="2359152"/>
            <a:ext cx="128016" cy="256032"/>
          </a:xfrm>
          <a:prstGeom prst="rightArrow">
            <a:avLst/>
          </a:prstGeom>
          <a:solidFill>
            <a:schemeClr val="accent1"/>
          </a:solidFill>
          <a:ln w="12700">
            <a:solidFill>
              <a:schemeClr val="accent1"/>
            </a:solidFill>
            <a:prstDash val="solid"/>
          </a:ln>
        </p:spPr>
      </p:sp>
      <p:sp>
        <p:nvSpPr>
          <p:cNvPr id="11" name="Step 2"/>
          <p:cNvSpPr/>
          <p:nvPr/>
        </p:nvSpPr>
        <p:spPr>
          <a:xfrm>
            <a:off x="3520440" y="1965960"/>
            <a:ext cx="1234440" cy="1051560"/>
          </a:xfrm>
          <a:prstGeom prst="roundRect">
            <a:avLst>
              <a:gd name="adj" fmla="val 8696"/>
            </a:avLst>
          </a:prstGeom>
          <a:solidFill>
            <a:schemeClr val="bg2"/>
          </a:solidFill>
          <a:ln w="19050">
            <a:solidFill>
              <a:schemeClr val="tx2"/>
            </a:solidFill>
            <a:prstDash val="solid"/>
          </a:ln>
        </p:spPr>
      </p:sp>
      <p:sp>
        <p:nvSpPr>
          <p:cNvPr id="12" name="Text 10"/>
          <p:cNvSpPr txBox="1"/>
          <p:nvPr/>
        </p:nvSpPr>
        <p:spPr>
          <a:xfrm>
            <a:off x="3566160" y="1965960"/>
            <a:ext cx="1143000" cy="10515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Word lists (Hindi, English)</a:t>
            </a:r>
            <a:endParaRPr lang="en-US" sz="1200" dirty="0"/>
          </a:p>
        </p:txBody>
      </p:sp>
      <p:sp>
        <p:nvSpPr>
          <p:cNvPr id="13" name="Pipe arrow 2"/>
          <p:cNvSpPr/>
          <p:nvPr/>
        </p:nvSpPr>
        <p:spPr>
          <a:xfrm>
            <a:off x="4764024" y="2359152"/>
            <a:ext cx="128016" cy="256032"/>
          </a:xfrm>
          <a:prstGeom prst="rightArrow">
            <a:avLst/>
          </a:prstGeom>
          <a:solidFill>
            <a:schemeClr val="accent1"/>
          </a:solidFill>
          <a:ln w="12700">
            <a:solidFill>
              <a:schemeClr val="accent1"/>
            </a:solidFill>
            <a:prstDash val="solid"/>
          </a:ln>
        </p:spPr>
      </p:sp>
      <p:sp>
        <p:nvSpPr>
          <p:cNvPr id="14" name="Step 3"/>
          <p:cNvSpPr/>
          <p:nvPr/>
        </p:nvSpPr>
        <p:spPr>
          <a:xfrm>
            <a:off x="4892040" y="1965960"/>
            <a:ext cx="1234440" cy="1051560"/>
          </a:xfrm>
          <a:prstGeom prst="roundRect">
            <a:avLst>
              <a:gd name="adj" fmla="val 8696"/>
            </a:avLst>
          </a:prstGeom>
          <a:solidFill>
            <a:schemeClr val="bg2"/>
          </a:solidFill>
          <a:ln w="19050">
            <a:solidFill>
              <a:schemeClr val="tx2"/>
            </a:solidFill>
            <a:prstDash val="solid"/>
          </a:ln>
        </p:spPr>
      </p:sp>
      <p:sp>
        <p:nvSpPr>
          <p:cNvPr id="15" name="Text 13"/>
          <p:cNvSpPr txBox="1"/>
          <p:nvPr/>
        </p:nvSpPr>
        <p:spPr>
          <a:xfrm>
            <a:off x="4937760" y="1965960"/>
            <a:ext cx="1143000" cy="10515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Same Yes / No / Not sure</a:t>
            </a:r>
            <a:endParaRPr lang="en-US" sz="1200" dirty="0"/>
          </a:p>
        </p:txBody>
      </p:sp>
      <p:sp>
        <p:nvSpPr>
          <p:cNvPr id="16" name="Pipe arrow 3"/>
          <p:cNvSpPr/>
          <p:nvPr/>
        </p:nvSpPr>
        <p:spPr>
          <a:xfrm>
            <a:off x="6135624" y="2359152"/>
            <a:ext cx="128016" cy="256032"/>
          </a:xfrm>
          <a:prstGeom prst="rightArrow">
            <a:avLst/>
          </a:prstGeom>
          <a:solidFill>
            <a:schemeClr val="accent1"/>
          </a:solidFill>
          <a:ln w="12700">
            <a:solidFill>
              <a:schemeClr val="accent1"/>
            </a:solidFill>
            <a:prstDash val="solid"/>
          </a:ln>
        </p:spPr>
      </p:sp>
      <p:sp>
        <p:nvSpPr>
          <p:cNvPr id="17" name="Step 4"/>
          <p:cNvSpPr/>
          <p:nvPr/>
        </p:nvSpPr>
        <p:spPr>
          <a:xfrm>
            <a:off x="6263640" y="1965960"/>
            <a:ext cx="1234440" cy="1051560"/>
          </a:xfrm>
          <a:prstGeom prst="roundRect">
            <a:avLst>
              <a:gd name="adj" fmla="val 8696"/>
            </a:avLst>
          </a:prstGeom>
          <a:solidFill>
            <a:schemeClr val="tx2"/>
          </a:solidFill>
          <a:ln w="19050">
            <a:solidFill>
              <a:schemeClr val="tx2"/>
            </a:solidFill>
            <a:prstDash val="solid"/>
          </a:ln>
        </p:spPr>
      </p:sp>
      <p:sp>
        <p:nvSpPr>
          <p:cNvPr id="18" name="Text 16"/>
          <p:cNvSpPr txBox="1"/>
          <p:nvPr/>
        </p:nvSpPr>
        <p:spPr>
          <a:xfrm>
            <a:off x="6309360" y="1965960"/>
            <a:ext cx="1143000" cy="1051560"/>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Rule engine</a:t>
            </a:r>
            <a:endParaRPr lang="en-US" sz="1200" dirty="0"/>
          </a:p>
        </p:txBody>
      </p:sp>
      <p:sp>
        <p:nvSpPr>
          <p:cNvPr id="19" name="Phone"/>
          <p:cNvSpPr/>
          <p:nvPr/>
        </p:nvSpPr>
        <p:spPr>
          <a:xfrm>
            <a:off x="548640" y="3429000"/>
            <a:ext cx="3429000" cy="269748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0" name="Text 18"/>
          <p:cNvSpPr txBox="1"/>
          <p:nvPr/>
        </p:nvSpPr>
        <p:spPr>
          <a:xfrm>
            <a:off x="777240" y="3520440"/>
            <a:ext cx="3017520" cy="3200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On the phone</a:t>
            </a:r>
            <a:endParaRPr lang="en-US" sz="1600" dirty="0"/>
          </a:p>
        </p:txBody>
      </p:sp>
      <p:sp>
        <p:nvSpPr>
          <p:cNvPr id="21" name="Text 19"/>
          <p:cNvSpPr txBox="1"/>
          <p:nvPr/>
        </p:nvSpPr>
        <p:spPr>
          <a:xfrm>
            <a:off x="777240" y="3886200"/>
            <a:ext cx="306324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React 18 + TypeScript + Vite</a:t>
            </a:r>
            <a:endParaRPr lang="en-US" sz="1400" dirty="0"/>
          </a:p>
          <a:p>
            <a:pPr marL="342900" indent="-342900">
              <a:spcAft>
                <a:spcPts val="500"/>
              </a:spcAft>
              <a:buSzPct val="100000"/>
              <a:buChar char="•"/>
            </a:pPr>
            <a:r>
              <a:rPr lang="en-US" sz="1400" dirty="0">
                <a:solidFill>
                  <a:schemeClr val="tx1"/>
                </a:solidFill>
              </a:rPr>
              <a:t>Rules in one JSON file</a:t>
            </a:r>
            <a:endParaRPr lang="en-US" sz="1400" dirty="0"/>
          </a:p>
          <a:p>
            <a:pPr marL="342900" indent="-342900">
              <a:spcAft>
                <a:spcPts val="500"/>
              </a:spcAft>
              <a:buSzPct val="100000"/>
              <a:buChar char="•"/>
            </a:pPr>
            <a:r>
              <a:rPr lang="en-US" sz="1400" dirty="0">
                <a:solidFill>
                  <a:schemeClr val="tx1"/>
                </a:solidFill>
              </a:rPr>
              <a:t>Service worker: offline</a:t>
            </a:r>
            <a:endParaRPr lang="en-US" sz="1400" dirty="0"/>
          </a:p>
          <a:p>
            <a:pPr marL="342900" indent="-342900">
              <a:spcAft>
                <a:spcPts val="500"/>
              </a:spcAft>
              <a:buSzPct val="100000"/>
              <a:buChar char="•"/>
            </a:pPr>
            <a:r>
              <a:rPr lang="en-US" sz="1400" dirty="0">
                <a:solidFill>
                  <a:schemeClr val="tx1"/>
                </a:solidFill>
              </a:rPr>
              <a:t>Hindi and English strings</a:t>
            </a:r>
            <a:endParaRPr lang="en-US" sz="1400" dirty="0"/>
          </a:p>
          <a:p>
            <a:pPr marL="342900" indent="-342900">
              <a:spcAft>
                <a:spcPts val="500"/>
              </a:spcAft>
              <a:buSzPct val="100000"/>
              <a:buChar char="•"/>
            </a:pPr>
            <a:r>
              <a:rPr lang="en-US" sz="1400" dirty="0">
                <a:solidFill>
                  <a:schemeClr val="tx1"/>
                </a:solidFill>
              </a:rPr>
              <a:t>Speech-to-text and text-to-speech</a:t>
            </a:r>
            <a:endParaRPr lang="en-US" sz="1400" dirty="0"/>
          </a:p>
        </p:txBody>
      </p:sp>
      <p:sp>
        <p:nvSpPr>
          <p:cNvPr id="22" name="Checks"/>
          <p:cNvSpPr/>
          <p:nvPr/>
        </p:nvSpPr>
        <p:spPr>
          <a:xfrm>
            <a:off x="4160520" y="3429000"/>
            <a:ext cx="3429000" cy="269748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3" name="Text 21"/>
          <p:cNvSpPr txBox="1"/>
          <p:nvPr/>
        </p:nvSpPr>
        <p:spPr>
          <a:xfrm>
            <a:off x="4389120" y="3520440"/>
            <a:ext cx="3017520" cy="3200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Checks</a:t>
            </a:r>
            <a:endParaRPr lang="en-US" sz="1600" dirty="0"/>
          </a:p>
        </p:txBody>
      </p:sp>
      <p:sp>
        <p:nvSpPr>
          <p:cNvPr id="24" name="Text 22"/>
          <p:cNvSpPr txBox="1"/>
          <p:nvPr/>
        </p:nvSpPr>
        <p:spPr>
          <a:xfrm>
            <a:off x="4389120" y="3886200"/>
            <a:ext cx="306324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205 automated tests</a:t>
            </a:r>
            <a:endParaRPr lang="en-US" sz="1400" dirty="0"/>
          </a:p>
          <a:p>
            <a:pPr marL="342900" indent="-342900">
              <a:spcAft>
                <a:spcPts val="500"/>
              </a:spcAft>
              <a:buSzPct val="100000"/>
              <a:buChar char="•"/>
            </a:pPr>
            <a:r>
              <a:rPr lang="en-US" sz="1400" dirty="0">
                <a:solidFill>
                  <a:schemeClr val="tx1"/>
                </a:solidFill>
              </a:rPr>
              <a:t>Python re-check, 12,420 cases</a:t>
            </a:r>
            <a:endParaRPr lang="en-US" sz="1400" dirty="0"/>
          </a:p>
          <a:p>
            <a:pPr marL="342900" indent="-342900">
              <a:spcAft>
                <a:spcPts val="500"/>
              </a:spcAft>
              <a:buSzPct val="100000"/>
              <a:buChar char="•"/>
            </a:pPr>
            <a:r>
              <a:rPr lang="en-US" sz="1400" dirty="0">
                <a:solidFill>
                  <a:schemeClr val="tx1"/>
                </a:solidFill>
              </a:rPr>
              <a:t>Database tests in real Postgres</a:t>
            </a:r>
            <a:endParaRPr lang="en-US" sz="1400" dirty="0"/>
          </a:p>
          <a:p>
            <a:pPr marL="342900" indent="-342900">
              <a:spcAft>
                <a:spcPts val="500"/>
              </a:spcAft>
              <a:buSzPct val="100000"/>
              <a:buChar char="•"/>
            </a:pPr>
            <a:r>
              <a:rPr lang="en-US" sz="1400" dirty="0">
                <a:solidFill>
                  <a:schemeClr val="tx1"/>
                </a:solidFill>
              </a:rPr>
              <a:t>axe and small-screen audits</a:t>
            </a:r>
            <a:endParaRPr lang="en-US" sz="1400" dirty="0"/>
          </a:p>
          <a:p>
            <a:pPr marL="342900" indent="-342900">
              <a:spcAft>
                <a:spcPts val="500"/>
              </a:spcAft>
              <a:buSzPct val="100000"/>
              <a:buChar char="•"/>
            </a:pPr>
            <a:r>
              <a:rPr lang="en-US" sz="1400" dirty="0">
                <a:solidFill>
                  <a:schemeClr val="tx1"/>
                </a:solidFill>
              </a:rPr>
              <a:t>CI on every pull request</a:t>
            </a:r>
            <a:endParaRPr lang="en-US" sz="1400" dirty="0"/>
          </a:p>
        </p:txBody>
      </p:sp>
      <p:sp>
        <p:nvSpPr>
          <p:cNvPr id="25" name="Cloud"/>
          <p:cNvSpPr/>
          <p:nvPr/>
        </p:nvSpPr>
        <p:spPr>
          <a:xfrm>
            <a:off x="7955280" y="1371600"/>
            <a:ext cx="3749040" cy="4754880"/>
          </a:xfrm>
          <a:prstGeom prst="roundRect">
            <a:avLst>
              <a:gd name="adj" fmla="val 2927"/>
            </a:avLst>
          </a:prstGeom>
          <a:solidFill>
            <a:schemeClr val="bg1"/>
          </a:solidFill>
          <a:ln w="25400">
            <a:solidFill>
              <a:schemeClr val="accent5"/>
            </a:solidFill>
            <a:prstDash val="dash"/>
          </a:ln>
        </p:spPr>
      </p:sp>
      <p:sp>
        <p:nvSpPr>
          <p:cNvPr id="26" name="Text 24"/>
          <p:cNvSpPr txBox="1"/>
          <p:nvPr/>
        </p:nvSpPr>
        <p:spPr>
          <a:xfrm>
            <a:off x="8183880" y="1463040"/>
            <a:ext cx="3291840" cy="320040"/>
          </a:xfrm>
          <a:prstGeom prst="rect">
            <a:avLst/>
          </a:prstGeom>
          <a:noFill/>
          <a:ln/>
        </p:spPr>
        <p:txBody>
          <a:bodyPr wrap="square" lIns="0" tIns="0" rIns="0" bIns="0" rtlCol="0" anchor="ctr"/>
          <a:lstStyle/>
          <a:p>
            <a:pPr indent="0" marL="0">
              <a:buNone/>
            </a:pPr>
            <a:r>
              <a:rPr lang="en-US" sz="1600" b="1" dirty="0">
                <a:solidFill>
                  <a:schemeClr val="accent5"/>
                </a:solidFill>
                <a:latin typeface="Calibri" pitchFamily="34" charset="0"/>
                <a:ea typeface="Calibri" pitchFamily="34" charset="-122"/>
                <a:cs typeface="Calibri" pitchFamily="34" charset="-120"/>
              </a:rPr>
              <a:t>Optional cloud (Supabase)</a:t>
            </a:r>
            <a:endParaRPr lang="en-US" sz="1600" dirty="0"/>
          </a:p>
        </p:txBody>
      </p:sp>
      <p:sp>
        <p:nvSpPr>
          <p:cNvPr id="27" name="Text 25"/>
          <p:cNvSpPr txBox="1"/>
          <p:nvPr/>
        </p:nvSpPr>
        <p:spPr>
          <a:xfrm>
            <a:off x="8183880" y="1874520"/>
            <a:ext cx="329184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Sign in with Google or a phone code</a:t>
            </a:r>
            <a:endParaRPr lang="en-US" sz="1400" dirty="0"/>
          </a:p>
        </p:txBody>
      </p:sp>
      <p:sp>
        <p:nvSpPr>
          <p:cNvPr id="28" name="Text 26"/>
          <p:cNvSpPr txBox="1"/>
          <p:nvPr/>
        </p:nvSpPr>
        <p:spPr>
          <a:xfrm>
            <a:off x="8183880" y="2377440"/>
            <a:ext cx="3291840" cy="27432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checkins</a:t>
            </a:r>
            <a:endParaRPr lang="en-US" sz="1500" dirty="0"/>
          </a:p>
        </p:txBody>
      </p:sp>
      <p:sp>
        <p:nvSpPr>
          <p:cNvPr id="29" name="Text 27"/>
          <p:cNvSpPr txBox="1"/>
          <p:nvPr/>
        </p:nvSpPr>
        <p:spPr>
          <a:xfrm>
            <a:off x="8183880" y="2670048"/>
            <a:ext cx="3291840" cy="64008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user_id, entry_date, phase, answers (json), tier, rules_version</a:t>
            </a:r>
            <a:endParaRPr lang="en-US" sz="1200" dirty="0"/>
          </a:p>
        </p:txBody>
      </p:sp>
      <p:sp>
        <p:nvSpPr>
          <p:cNvPr id="30" name="Text 28"/>
          <p:cNvSpPr txBox="1"/>
          <p:nvPr/>
        </p:nvSpPr>
        <p:spPr>
          <a:xfrm>
            <a:off x="8183880" y="3401568"/>
            <a:ext cx="3291840" cy="27432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profiles</a:t>
            </a:r>
            <a:endParaRPr lang="en-US" sz="1500" dirty="0"/>
          </a:p>
        </p:txBody>
      </p:sp>
      <p:sp>
        <p:nvSpPr>
          <p:cNvPr id="31" name="Text 29"/>
          <p:cNvSpPr txBox="1"/>
          <p:nvPr/>
        </p:nvSpPr>
        <p:spPr>
          <a:xfrm>
            <a:off x="8183880" y="3694176"/>
            <a:ext cx="3291840" cy="5486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user_id, stage, due_date, delivery_date, language</a:t>
            </a:r>
            <a:endParaRPr lang="en-US" sz="1200" dirty="0"/>
          </a:p>
        </p:txBody>
      </p:sp>
      <p:sp>
        <p:nvSpPr>
          <p:cNvPr id="32" name="Text 30"/>
          <p:cNvSpPr txBox="1"/>
          <p:nvPr/>
        </p:nvSpPr>
        <p:spPr>
          <a:xfrm>
            <a:off x="8183880" y="4343400"/>
            <a:ext cx="3291840" cy="7315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Row level security: each woman reads only her own rows. Tested in Postgres.</a:t>
            </a:r>
            <a:endParaRPr lang="en-US" sz="1300" dirty="0"/>
          </a:p>
        </p:txBody>
      </p:sp>
      <p:sp>
        <p:nvSpPr>
          <p:cNvPr id="33" name="Pill Built, not connected yet"/>
          <p:cNvSpPr/>
          <p:nvPr/>
        </p:nvSpPr>
        <p:spPr>
          <a:xfrm>
            <a:off x="8183880" y="5303520"/>
            <a:ext cx="2834640" cy="365760"/>
          </a:xfrm>
          <a:prstGeom prst="roundRect">
            <a:avLst>
              <a:gd name="adj" fmla="val 50000"/>
            </a:avLst>
          </a:prstGeom>
          <a:solidFill>
            <a:schemeClr val="accent1"/>
          </a:solidFill>
          <a:ln w="12700">
            <a:solidFill>
              <a:schemeClr val="accent1"/>
            </a:solidFill>
            <a:prstDash val="solid"/>
          </a:ln>
        </p:spPr>
      </p:sp>
      <p:sp>
        <p:nvSpPr>
          <p:cNvPr id="34" name="Text 32"/>
          <p:cNvSpPr txBox="1"/>
          <p:nvPr/>
        </p:nvSpPr>
        <p:spPr>
          <a:xfrm>
            <a:off x="8183880" y="5303520"/>
            <a:ext cx="283464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alibri" pitchFamily="34" charset="0"/>
                <a:ea typeface="Calibri" pitchFamily="34" charset="-122"/>
                <a:cs typeface="Calibri" pitchFamily="34" charset="-120"/>
              </a:rPr>
              <a:t>Built, not connected yet</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Built to be trusted. Honest about the gaps.</a:t>
            </a:r>
            <a:endParaRPr lang="en-US" sz="3600" dirty="0"/>
          </a:p>
        </p:txBody>
      </p:sp>
      <p:sp>
        <p:nvSpPr>
          <p:cNvPr id="3" name="Proof 0"/>
          <p:cNvSpPr/>
          <p:nvPr/>
        </p:nvSpPr>
        <p:spPr>
          <a:xfrm>
            <a:off x="548640" y="1417320"/>
            <a:ext cx="2103120" cy="1691640"/>
          </a:xfrm>
          <a:prstGeom prst="roundRect">
            <a:avLst>
              <a:gd name="adj" fmla="val 7568"/>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4" name="Text 2"/>
          <p:cNvSpPr txBox="1"/>
          <p:nvPr/>
        </p:nvSpPr>
        <p:spPr>
          <a:xfrm>
            <a:off x="548640" y="1508760"/>
            <a:ext cx="2103120" cy="914400"/>
          </a:xfrm>
          <a:prstGeom prst="rect">
            <a:avLst/>
          </a:prstGeom>
          <a:noFill/>
          <a:ln/>
        </p:spPr>
        <p:txBody>
          <a:bodyPr wrap="square" lIns="0" tIns="0" rIns="0" bIns="0" rtlCol="0" anchor="ctr"/>
          <a:lstStyle/>
          <a:p>
            <a:pPr algn="ctr" indent="0" marL="0">
              <a:buNone/>
            </a:pPr>
            <a:r>
              <a:rPr lang="en-US" sz="4800" b="1" dirty="0">
                <a:solidFill>
                  <a:schemeClr val="bg1"/>
                </a:solidFill>
                <a:latin typeface="Cambria" pitchFamily="34" charset="0"/>
                <a:ea typeface="Cambria" pitchFamily="34" charset="-122"/>
                <a:cs typeface="Cambria" pitchFamily="34" charset="-120"/>
              </a:rPr>
              <a:t>205</a:t>
            </a:r>
            <a:endParaRPr lang="en-US" sz="4800" dirty="0"/>
          </a:p>
        </p:txBody>
      </p:sp>
      <p:sp>
        <p:nvSpPr>
          <p:cNvPr id="5" name="Text 3"/>
          <p:cNvSpPr txBox="1"/>
          <p:nvPr/>
        </p:nvSpPr>
        <p:spPr>
          <a:xfrm>
            <a:off x="640080" y="2423160"/>
            <a:ext cx="1920240" cy="59436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tests pass</a:t>
            </a:r>
            <a:endParaRPr lang="en-US" sz="1400" dirty="0"/>
          </a:p>
        </p:txBody>
      </p:sp>
      <p:sp>
        <p:nvSpPr>
          <p:cNvPr id="6" name="Proof 1"/>
          <p:cNvSpPr/>
          <p:nvPr/>
        </p:nvSpPr>
        <p:spPr>
          <a:xfrm>
            <a:off x="2788920" y="1417320"/>
            <a:ext cx="2103120" cy="1691640"/>
          </a:xfrm>
          <a:prstGeom prst="roundRect">
            <a:avLst>
              <a:gd name="adj" fmla="val 7568"/>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7" name="Text 5"/>
          <p:cNvSpPr txBox="1"/>
          <p:nvPr/>
        </p:nvSpPr>
        <p:spPr>
          <a:xfrm>
            <a:off x="2788920" y="1508760"/>
            <a:ext cx="2103120" cy="914400"/>
          </a:xfrm>
          <a:prstGeom prst="rect">
            <a:avLst/>
          </a:prstGeom>
          <a:noFill/>
          <a:ln/>
        </p:spPr>
        <p:txBody>
          <a:bodyPr wrap="square" lIns="0" tIns="0" rIns="0" bIns="0" rtlCol="0" anchor="ctr"/>
          <a:lstStyle/>
          <a:p>
            <a:pPr algn="ctr" indent="0" marL="0">
              <a:buNone/>
            </a:pPr>
            <a:r>
              <a:rPr lang="en-US" sz="4800" b="1" dirty="0">
                <a:solidFill>
                  <a:schemeClr val="bg1"/>
                </a:solidFill>
                <a:latin typeface="Cambria" pitchFamily="34" charset="0"/>
                <a:ea typeface="Cambria" pitchFamily="34" charset="-122"/>
                <a:cs typeface="Cambria" pitchFamily="34" charset="-120"/>
              </a:rPr>
              <a:t>46</a:t>
            </a:r>
            <a:endParaRPr lang="en-US" sz="4800" dirty="0"/>
          </a:p>
        </p:txBody>
      </p:sp>
      <p:sp>
        <p:nvSpPr>
          <p:cNvPr id="8" name="Text 6"/>
          <p:cNvSpPr txBox="1"/>
          <p:nvPr/>
        </p:nvSpPr>
        <p:spPr>
          <a:xfrm>
            <a:off x="2880360" y="2423160"/>
            <a:ext cx="1920240" cy="59436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rule cases checked</a:t>
            </a:r>
            <a:endParaRPr lang="en-US" sz="1400" dirty="0"/>
          </a:p>
        </p:txBody>
      </p:sp>
      <p:sp>
        <p:nvSpPr>
          <p:cNvPr id="9" name="Proof 2"/>
          <p:cNvSpPr/>
          <p:nvPr/>
        </p:nvSpPr>
        <p:spPr>
          <a:xfrm>
            <a:off x="5029200" y="1417320"/>
            <a:ext cx="2103120" cy="1691640"/>
          </a:xfrm>
          <a:prstGeom prst="roundRect">
            <a:avLst>
              <a:gd name="adj" fmla="val 7568"/>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10" name="Text 8"/>
          <p:cNvSpPr txBox="1"/>
          <p:nvPr/>
        </p:nvSpPr>
        <p:spPr>
          <a:xfrm>
            <a:off x="5029200" y="1508760"/>
            <a:ext cx="2103120" cy="914400"/>
          </a:xfrm>
          <a:prstGeom prst="rect">
            <a:avLst/>
          </a:prstGeom>
          <a:noFill/>
          <a:ln/>
        </p:spPr>
        <p:txBody>
          <a:bodyPr wrap="square" lIns="0" tIns="0" rIns="0" bIns="0" rtlCol="0" anchor="ctr"/>
          <a:lstStyle/>
          <a:p>
            <a:pPr algn="ctr" indent="0" marL="0">
              <a:buNone/>
            </a:pPr>
            <a:r>
              <a:rPr lang="en-US" sz="3800" b="1" dirty="0">
                <a:solidFill>
                  <a:schemeClr val="bg1"/>
                </a:solidFill>
                <a:latin typeface="Cambria" pitchFamily="34" charset="0"/>
                <a:ea typeface="Cambria" pitchFamily="34" charset="-122"/>
                <a:cs typeface="Cambria" pitchFamily="34" charset="-120"/>
              </a:rPr>
              <a:t>12,420</a:t>
            </a:r>
            <a:endParaRPr lang="en-US" sz="3800" dirty="0"/>
          </a:p>
        </p:txBody>
      </p:sp>
      <p:sp>
        <p:nvSpPr>
          <p:cNvPr id="11" name="Text 9"/>
          <p:cNvSpPr txBox="1"/>
          <p:nvPr/>
        </p:nvSpPr>
        <p:spPr>
          <a:xfrm>
            <a:off x="5120640" y="2423160"/>
            <a:ext cx="1920240" cy="59436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cases re-checked in Python</a:t>
            </a:r>
            <a:endParaRPr lang="en-US" sz="1400" dirty="0"/>
          </a:p>
        </p:txBody>
      </p:sp>
      <p:sp>
        <p:nvSpPr>
          <p:cNvPr id="12" name="Proof 3"/>
          <p:cNvSpPr/>
          <p:nvPr/>
        </p:nvSpPr>
        <p:spPr>
          <a:xfrm>
            <a:off x="7269480" y="1417320"/>
            <a:ext cx="2103120" cy="1691640"/>
          </a:xfrm>
          <a:prstGeom prst="roundRect">
            <a:avLst>
              <a:gd name="adj" fmla="val 7568"/>
            </a:avLst>
          </a:prstGeom>
          <a:solidFill>
            <a:schemeClr val="tx2"/>
          </a:solidFill>
          <a:ln w="12700">
            <a:solidFill>
              <a:schemeClr val="tx2"/>
            </a:solidFill>
            <a:prstDash val="solid"/>
          </a:ln>
          <a:effectLst>
            <a:outerShdw sx="100000" sy="100000" kx="0" ky="0" algn="bl" rotWithShape="0" blurRad="101600" dist="25400" dir="5400000">
              <a:srgbClr val="111B38">
                <a:alpha val="16000"/>
              </a:srgbClr>
            </a:outerShdw>
          </a:effectLst>
        </p:spPr>
      </p:sp>
      <p:sp>
        <p:nvSpPr>
          <p:cNvPr id="13" name="Text 11"/>
          <p:cNvSpPr txBox="1"/>
          <p:nvPr/>
        </p:nvSpPr>
        <p:spPr>
          <a:xfrm>
            <a:off x="7269480" y="1508760"/>
            <a:ext cx="2103120" cy="914400"/>
          </a:xfrm>
          <a:prstGeom prst="rect">
            <a:avLst/>
          </a:prstGeom>
          <a:noFill/>
          <a:ln/>
        </p:spPr>
        <p:txBody>
          <a:bodyPr wrap="square" lIns="0" tIns="0" rIns="0" bIns="0" rtlCol="0" anchor="ctr"/>
          <a:lstStyle/>
          <a:p>
            <a:pPr algn="ctr" indent="0" marL="0">
              <a:buNone/>
            </a:pPr>
            <a:r>
              <a:rPr lang="en-US" sz="4800" b="1" dirty="0">
                <a:solidFill>
                  <a:schemeClr val="bg1"/>
                </a:solidFill>
                <a:latin typeface="Cambria" pitchFamily="34" charset="0"/>
                <a:ea typeface="Cambria" pitchFamily="34" charset="-122"/>
                <a:cs typeface="Cambria" pitchFamily="34" charset="-120"/>
              </a:rPr>
              <a:t>15</a:t>
            </a:r>
            <a:endParaRPr lang="en-US" sz="4800" dirty="0"/>
          </a:p>
        </p:txBody>
      </p:sp>
      <p:sp>
        <p:nvSpPr>
          <p:cNvPr id="14" name="Text 12"/>
          <p:cNvSpPr txBox="1"/>
          <p:nvPr/>
        </p:nvSpPr>
        <p:spPr>
          <a:xfrm>
            <a:off x="7360920" y="2423160"/>
            <a:ext cx="1920240" cy="59436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screens audited at 4 sizes</a:t>
            </a:r>
            <a:endParaRPr lang="en-US" sz="1400" dirty="0"/>
          </a:p>
        </p:txBody>
      </p:sp>
      <p:sp>
        <p:nvSpPr>
          <p:cNvPr id="15" name="Proof 4"/>
          <p:cNvSpPr/>
          <p:nvPr/>
        </p:nvSpPr>
        <p:spPr>
          <a:xfrm>
            <a:off x="9509760" y="1417320"/>
            <a:ext cx="2103120" cy="1691640"/>
          </a:xfrm>
          <a:prstGeom prst="roundRect">
            <a:avLst>
              <a:gd name="adj" fmla="val 7568"/>
            </a:avLst>
          </a:prstGeom>
          <a:solidFill>
            <a:schemeClr val="accent2"/>
          </a:solidFill>
          <a:ln w="12700">
            <a:solidFill>
              <a:schemeClr val="accent2"/>
            </a:solidFill>
            <a:prstDash val="solid"/>
          </a:ln>
          <a:effectLst>
            <a:outerShdw sx="100000" sy="100000" kx="0" ky="0" algn="bl" rotWithShape="0" blurRad="101600" dist="25400" dir="5400000">
              <a:srgbClr val="111B38">
                <a:alpha val="16000"/>
              </a:srgbClr>
            </a:outerShdw>
          </a:effectLst>
        </p:spPr>
      </p:sp>
      <p:sp>
        <p:nvSpPr>
          <p:cNvPr id="16" name="Text 14"/>
          <p:cNvSpPr txBox="1"/>
          <p:nvPr/>
        </p:nvSpPr>
        <p:spPr>
          <a:xfrm>
            <a:off x="9509760" y="1508760"/>
            <a:ext cx="2103120" cy="914400"/>
          </a:xfrm>
          <a:prstGeom prst="rect">
            <a:avLst/>
          </a:prstGeom>
          <a:noFill/>
          <a:ln/>
        </p:spPr>
        <p:txBody>
          <a:bodyPr wrap="square" lIns="0" tIns="0" rIns="0" bIns="0" rtlCol="0" anchor="ctr"/>
          <a:lstStyle/>
          <a:p>
            <a:pPr algn="ctr" indent="0" marL="0">
              <a:buNone/>
            </a:pPr>
            <a:r>
              <a:rPr lang="en-US" sz="4800" b="1" dirty="0">
                <a:solidFill>
                  <a:schemeClr val="bg1"/>
                </a:solidFill>
                <a:latin typeface="Cambria" pitchFamily="34" charset="0"/>
                <a:ea typeface="Cambria" pitchFamily="34" charset="-122"/>
                <a:cs typeface="Cambria" pitchFamily="34" charset="-120"/>
              </a:rPr>
              <a:t>0</a:t>
            </a:r>
            <a:endParaRPr lang="en-US" sz="4800" dirty="0"/>
          </a:p>
        </p:txBody>
      </p:sp>
      <p:sp>
        <p:nvSpPr>
          <p:cNvPr id="17" name="Text 15"/>
          <p:cNvSpPr txBox="1"/>
          <p:nvPr/>
        </p:nvSpPr>
        <p:spPr>
          <a:xfrm>
            <a:off x="9601200" y="2423160"/>
            <a:ext cx="1920240" cy="59436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clinician reviews yet</a:t>
            </a:r>
            <a:endParaRPr lang="en-US" sz="1400" dirty="0"/>
          </a:p>
        </p:txBody>
      </p:sp>
      <p:sp>
        <p:nvSpPr>
          <p:cNvPr id="18" name="Status 1"/>
          <p:cNvSpPr/>
          <p:nvPr/>
        </p:nvSpPr>
        <p:spPr>
          <a:xfrm>
            <a:off x="548640" y="3337560"/>
            <a:ext cx="3566160" cy="2834640"/>
          </a:xfrm>
          <a:prstGeom prst="roundRect">
            <a:avLst>
              <a:gd name="adj" fmla="val 3871"/>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9" name="Status head 0"/>
          <p:cNvSpPr/>
          <p:nvPr/>
        </p:nvSpPr>
        <p:spPr>
          <a:xfrm>
            <a:off x="822960" y="3520440"/>
            <a:ext cx="3017520" cy="457200"/>
          </a:xfrm>
          <a:prstGeom prst="roundRect">
            <a:avLst>
              <a:gd name="adj" fmla="val 50000"/>
            </a:avLst>
          </a:prstGeom>
          <a:solidFill>
            <a:schemeClr val="accent3"/>
          </a:solidFill>
          <a:ln w="12700">
            <a:solidFill>
              <a:schemeClr val="accent3"/>
            </a:solidFill>
            <a:prstDash val="solid"/>
          </a:ln>
        </p:spPr>
      </p:sp>
      <p:sp>
        <p:nvSpPr>
          <p:cNvPr id="20" name="Text 18"/>
          <p:cNvSpPr txBox="1"/>
          <p:nvPr/>
        </p:nvSpPr>
        <p:spPr>
          <a:xfrm>
            <a:off x="822960" y="3520440"/>
            <a:ext cx="301752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Works today</a:t>
            </a:r>
            <a:endParaRPr lang="en-US" sz="1600" dirty="0"/>
          </a:p>
        </p:txBody>
      </p:sp>
      <p:sp>
        <p:nvSpPr>
          <p:cNvPr id="21" name="Text 19"/>
          <p:cNvSpPr txBox="1"/>
          <p:nvPr/>
        </p:nvSpPr>
        <p:spPr>
          <a:xfrm>
            <a:off x="868680" y="4160520"/>
            <a:ext cx="3017520" cy="1920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Tap and voice check</a:t>
            </a:r>
            <a:endParaRPr lang="en-US" sz="1400" dirty="0"/>
          </a:p>
          <a:p>
            <a:pPr marL="342900" indent="-342900">
              <a:spcAft>
                <a:spcPts val="500"/>
              </a:spcAft>
              <a:buSzPct val="100000"/>
              <a:buChar char="•"/>
            </a:pPr>
            <a:r>
              <a:rPr lang="en-US" sz="1400" dirty="0">
                <a:solidFill>
                  <a:schemeClr val="tx1"/>
                </a:solidFill>
              </a:rPr>
              <a:t>Speech-to-text and text-to-speech</a:t>
            </a:r>
            <a:endParaRPr lang="en-US" sz="1400" dirty="0"/>
          </a:p>
          <a:p>
            <a:pPr marL="342900" indent="-342900">
              <a:spcAft>
                <a:spcPts val="500"/>
              </a:spcAft>
              <a:buSzPct val="100000"/>
              <a:buChar char="•"/>
            </a:pPr>
            <a:r>
              <a:rPr lang="en-US" sz="1400" dirty="0">
                <a:solidFill>
                  <a:schemeClr val="tx1"/>
                </a:solidFill>
              </a:rPr>
              <a:t>RED, plan, slip, Why</a:t>
            </a:r>
            <a:endParaRPr lang="en-US" sz="1400" dirty="0"/>
          </a:p>
          <a:p>
            <a:pPr marL="342900" indent="-342900">
              <a:spcAft>
                <a:spcPts val="500"/>
              </a:spcAft>
              <a:buSzPct val="100000"/>
              <a:buChar char="•"/>
            </a:pPr>
            <a:r>
              <a:rPr lang="en-US" sz="1400" dirty="0">
                <a:solidFill>
                  <a:schemeClr val="tx1"/>
                </a:solidFill>
              </a:rPr>
              <a:t>Offline, Hindi and English</a:t>
            </a:r>
            <a:endParaRPr lang="en-US" sz="1400" dirty="0"/>
          </a:p>
          <a:p>
            <a:pPr marL="342900" indent="-342900">
              <a:spcAft>
                <a:spcPts val="500"/>
              </a:spcAft>
              <a:buSzPct val="100000"/>
              <a:buChar char="•"/>
            </a:pPr>
            <a:r>
              <a:rPr lang="en-US" sz="1400" dirty="0">
                <a:solidFill>
                  <a:schemeClr val="tx1"/>
                </a:solidFill>
              </a:rPr>
              <a:t>Trust page</a:t>
            </a:r>
            <a:endParaRPr lang="en-US" sz="1400" dirty="0"/>
          </a:p>
        </p:txBody>
      </p:sp>
      <p:sp>
        <p:nvSpPr>
          <p:cNvPr id="22" name="Status 2"/>
          <p:cNvSpPr/>
          <p:nvPr/>
        </p:nvSpPr>
        <p:spPr>
          <a:xfrm>
            <a:off x="4297680" y="3337560"/>
            <a:ext cx="3566160" cy="2834640"/>
          </a:xfrm>
          <a:prstGeom prst="roundRect">
            <a:avLst>
              <a:gd name="adj" fmla="val 3871"/>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3" name="Status head 1"/>
          <p:cNvSpPr/>
          <p:nvPr/>
        </p:nvSpPr>
        <p:spPr>
          <a:xfrm>
            <a:off x="4572000" y="3520440"/>
            <a:ext cx="3017520" cy="45720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4572000" y="3520440"/>
            <a:ext cx="301752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Needs a real test</a:t>
            </a:r>
            <a:endParaRPr lang="en-US" sz="1600" dirty="0"/>
          </a:p>
        </p:txBody>
      </p:sp>
      <p:sp>
        <p:nvSpPr>
          <p:cNvPr id="25" name="Text 23"/>
          <p:cNvSpPr txBox="1"/>
          <p:nvPr/>
        </p:nvSpPr>
        <p:spPr>
          <a:xfrm>
            <a:off x="4617720" y="4160520"/>
            <a:ext cx="3017520" cy="1920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Voice on real phones</a:t>
            </a:r>
            <a:endParaRPr lang="en-US" sz="1400" dirty="0"/>
          </a:p>
          <a:p>
            <a:pPr marL="342900" indent="-342900">
              <a:spcAft>
                <a:spcPts val="500"/>
              </a:spcAft>
              <a:buSzPct val="100000"/>
              <a:buChar char="•"/>
            </a:pPr>
            <a:r>
              <a:rPr lang="en-US" sz="1400" dirty="0">
                <a:solidFill>
                  <a:schemeClr val="tx1"/>
                </a:solidFill>
              </a:rPr>
              <a:t>Sign-in and daily log</a:t>
            </a:r>
            <a:endParaRPr lang="en-US" sz="1400" dirty="0"/>
          </a:p>
          <a:p>
            <a:pPr marL="342900" indent="-342900">
              <a:spcAft>
                <a:spcPts val="500"/>
              </a:spcAft>
              <a:buSzPct val="100000"/>
              <a:buChar char="•"/>
            </a:pPr>
            <a:r>
              <a:rPr lang="en-US" sz="1400" dirty="0">
                <a:solidFill>
                  <a:schemeClr val="tx1"/>
                </a:solidFill>
              </a:rPr>
              <a:t>Sharing on real phones</a:t>
            </a:r>
            <a:endParaRPr lang="en-US" sz="1400" dirty="0"/>
          </a:p>
        </p:txBody>
      </p:sp>
      <p:sp>
        <p:nvSpPr>
          <p:cNvPr id="26" name="Status 3"/>
          <p:cNvSpPr/>
          <p:nvPr/>
        </p:nvSpPr>
        <p:spPr>
          <a:xfrm>
            <a:off x="8046720" y="3337560"/>
            <a:ext cx="3566160" cy="2834640"/>
          </a:xfrm>
          <a:prstGeom prst="roundRect">
            <a:avLst>
              <a:gd name="adj" fmla="val 3871"/>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27" name="Status head 2"/>
          <p:cNvSpPr/>
          <p:nvPr/>
        </p:nvSpPr>
        <p:spPr>
          <a:xfrm>
            <a:off x="8321040" y="3520440"/>
            <a:ext cx="3017520" cy="457200"/>
          </a:xfrm>
          <a:prstGeom prst="roundRect">
            <a:avLst>
              <a:gd name="adj" fmla="val 50000"/>
            </a:avLst>
          </a:prstGeom>
          <a:solidFill>
            <a:schemeClr val="accent2"/>
          </a:solidFill>
          <a:ln w="12700">
            <a:solidFill>
              <a:schemeClr val="accent2"/>
            </a:solidFill>
            <a:prstDash val="solid"/>
          </a:ln>
        </p:spPr>
      </p:sp>
      <p:sp>
        <p:nvSpPr>
          <p:cNvPr id="28" name="Text 26"/>
          <p:cNvSpPr txBox="1"/>
          <p:nvPr/>
        </p:nvSpPr>
        <p:spPr>
          <a:xfrm>
            <a:off x="8321040" y="3520440"/>
            <a:ext cx="301752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Not done yet</a:t>
            </a:r>
            <a:endParaRPr lang="en-US" sz="1600" dirty="0"/>
          </a:p>
        </p:txBody>
      </p:sp>
      <p:sp>
        <p:nvSpPr>
          <p:cNvPr id="29" name="Text 27"/>
          <p:cNvSpPr txBox="1"/>
          <p:nvPr/>
        </p:nvSpPr>
        <p:spPr>
          <a:xfrm>
            <a:off x="8366760" y="4160520"/>
            <a:ext cx="3017520" cy="19202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Clinician review</a:t>
            </a:r>
            <a:endParaRPr lang="en-US" sz="1400" dirty="0"/>
          </a:p>
          <a:p>
            <a:pPr marL="342900" indent="-342900">
              <a:spcAft>
                <a:spcPts val="500"/>
              </a:spcAft>
              <a:buSzPct val="100000"/>
              <a:buChar char="•"/>
            </a:pPr>
            <a:r>
              <a:rPr lang="en-US" sz="1400" dirty="0">
                <a:solidFill>
                  <a:schemeClr val="tx1"/>
                </a:solidFill>
              </a:rPr>
              <a:t>Recorded voice clips</a:t>
            </a:r>
            <a:endParaRPr lang="en-US" sz="1400" dirty="0"/>
          </a:p>
          <a:p>
            <a:pPr marL="342900" indent="-342900">
              <a:spcAft>
                <a:spcPts val="500"/>
              </a:spcAft>
              <a:buSzPct val="100000"/>
              <a:buChar char="•"/>
            </a:pPr>
            <a:r>
              <a:rPr lang="en-US" sz="1400" dirty="0">
                <a:solidFill>
                  <a:schemeClr val="tx1"/>
                </a:solidFill>
              </a:rPr>
              <a:t>Field test with ASHAs</a:t>
            </a:r>
            <a:endParaRPr lang="en-US" sz="1400" dirty="0"/>
          </a:p>
          <a:p>
            <a:pPr marL="342900" indent="-342900">
              <a:spcAft>
                <a:spcPts val="500"/>
              </a:spcAft>
              <a:buSzPct val="100000"/>
              <a:buChar char="•"/>
            </a:pPr>
            <a:r>
              <a:rPr lang="en-US" sz="1400" dirty="0">
                <a:solidFill>
                  <a:schemeClr val="tx1"/>
                </a:solidFill>
              </a:rPr>
              <a:t>More languages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Feasible now. Clear next steps.</a:t>
            </a:r>
            <a:endParaRPr lang="en-US" sz="3600" dirty="0"/>
          </a:p>
        </p:txBody>
      </p:sp>
      <p:sp>
        <p:nvSpPr>
          <p:cNvPr id="3" name="Feasible 1"/>
          <p:cNvSpPr/>
          <p:nvPr/>
        </p:nvSpPr>
        <p:spPr>
          <a:xfrm>
            <a:off x="548640" y="1371600"/>
            <a:ext cx="2651760"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4" name="Feas bg 0"/>
          <p:cNvSpPr/>
          <p:nvPr/>
        </p:nvSpPr>
        <p:spPr>
          <a:xfrm>
            <a:off x="777240" y="1627632"/>
            <a:ext cx="640080" cy="640080"/>
          </a:xfrm>
          <a:prstGeom prst="ellipse">
            <a:avLst/>
          </a:prstGeom>
          <a:solidFill>
            <a:schemeClr val="accent3"/>
          </a:solidFill>
          <a:ln w="12700">
            <a:solidFill>
              <a:schemeClr val="accent3"/>
            </a:solidFill>
            <a:prstDash val="solid"/>
          </a:ln>
        </p:spPr>
      </p:sp>
      <p:pic>
        <p:nvPicPr>
          <p:cNvPr id="5" name="Image 0" descr="Static site">    </p:cNvPr>
          <p:cNvPicPr>
            <a:picLocks noChangeAspect="1"/>
          </p:cNvPicPr>
          <p:nvPr/>
        </p:nvPicPr>
        <p:blipFill>
          <a:blip r:embed="rId1"/>
          <a:stretch>
            <a:fillRect/>
          </a:stretch>
        </p:blipFill>
        <p:spPr>
          <a:xfrm>
            <a:off x="941832" y="1792224"/>
            <a:ext cx="310896" cy="310896"/>
          </a:xfrm>
          <a:prstGeom prst="rect">
            <a:avLst/>
          </a:prstGeom>
        </p:spPr>
      </p:pic>
      <p:sp>
        <p:nvSpPr>
          <p:cNvPr id="6" name="Text 3"/>
          <p:cNvSpPr txBox="1"/>
          <p:nvPr/>
        </p:nvSpPr>
        <p:spPr>
          <a:xfrm>
            <a:off x="1554480" y="1572768"/>
            <a:ext cx="155448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Static site</a:t>
            </a:r>
            <a:endParaRPr lang="en-US" sz="1800" dirty="0"/>
          </a:p>
        </p:txBody>
      </p:sp>
      <p:sp>
        <p:nvSpPr>
          <p:cNvPr id="7" name="Text 4"/>
          <p:cNvSpPr txBox="1"/>
          <p:nvPr/>
        </p:nvSpPr>
        <p:spPr>
          <a:xfrm>
            <a:off x="777240" y="2286000"/>
            <a:ext cx="2286000" cy="5029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No server for the check</a:t>
            </a:r>
            <a:endParaRPr lang="en-US" sz="1400" dirty="0"/>
          </a:p>
        </p:txBody>
      </p:sp>
      <p:sp>
        <p:nvSpPr>
          <p:cNvPr id="8" name="Feasible 2"/>
          <p:cNvSpPr/>
          <p:nvPr/>
        </p:nvSpPr>
        <p:spPr>
          <a:xfrm>
            <a:off x="3383280" y="1371600"/>
            <a:ext cx="2651760"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9" name="Feas bg 1"/>
          <p:cNvSpPr/>
          <p:nvPr/>
        </p:nvSpPr>
        <p:spPr>
          <a:xfrm>
            <a:off x="3611880" y="1627632"/>
            <a:ext cx="640080" cy="640080"/>
          </a:xfrm>
          <a:prstGeom prst="ellipse">
            <a:avLst/>
          </a:prstGeom>
          <a:solidFill>
            <a:schemeClr val="accent3"/>
          </a:solidFill>
          <a:ln w="12700">
            <a:solidFill>
              <a:schemeClr val="accent3"/>
            </a:solidFill>
            <a:prstDash val="solid"/>
          </a:ln>
        </p:spPr>
      </p:sp>
      <p:pic>
        <p:nvPicPr>
          <p:cNvPr id="10" name="Image 1" descr="Offline">    </p:cNvPr>
          <p:cNvPicPr>
            <a:picLocks noChangeAspect="1"/>
          </p:cNvPicPr>
          <p:nvPr/>
        </p:nvPicPr>
        <p:blipFill>
          <a:blip r:embed="rId2"/>
          <a:stretch>
            <a:fillRect/>
          </a:stretch>
        </p:blipFill>
        <p:spPr>
          <a:xfrm>
            <a:off x="3776472" y="1792224"/>
            <a:ext cx="310896" cy="310896"/>
          </a:xfrm>
          <a:prstGeom prst="rect">
            <a:avLst/>
          </a:prstGeom>
        </p:spPr>
      </p:pic>
      <p:sp>
        <p:nvSpPr>
          <p:cNvPr id="11" name="Text 7"/>
          <p:cNvSpPr txBox="1"/>
          <p:nvPr/>
        </p:nvSpPr>
        <p:spPr>
          <a:xfrm>
            <a:off x="4389120" y="1572768"/>
            <a:ext cx="155448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Offline</a:t>
            </a:r>
            <a:endParaRPr lang="en-US" sz="1800" dirty="0"/>
          </a:p>
        </p:txBody>
      </p:sp>
      <p:sp>
        <p:nvSpPr>
          <p:cNvPr id="12" name="Text 8"/>
          <p:cNvSpPr txBox="1"/>
          <p:nvPr/>
        </p:nvSpPr>
        <p:spPr>
          <a:xfrm>
            <a:off x="3611880" y="2286000"/>
            <a:ext cx="2286000" cy="5029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Verified with the network cut</a:t>
            </a:r>
            <a:endParaRPr lang="en-US" sz="1400" dirty="0"/>
          </a:p>
        </p:txBody>
      </p:sp>
      <p:sp>
        <p:nvSpPr>
          <p:cNvPr id="13" name="Feasible 3"/>
          <p:cNvSpPr/>
          <p:nvPr/>
        </p:nvSpPr>
        <p:spPr>
          <a:xfrm>
            <a:off x="6217920" y="1371600"/>
            <a:ext cx="2651760"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4" name="Feas bg 2"/>
          <p:cNvSpPr/>
          <p:nvPr/>
        </p:nvSpPr>
        <p:spPr>
          <a:xfrm>
            <a:off x="6446520" y="1627632"/>
            <a:ext cx="640080" cy="640080"/>
          </a:xfrm>
          <a:prstGeom prst="ellipse">
            <a:avLst/>
          </a:prstGeom>
          <a:solidFill>
            <a:schemeClr val="accent3"/>
          </a:solidFill>
          <a:ln w="12700">
            <a:solidFill>
              <a:schemeClr val="accent3"/>
            </a:solidFill>
            <a:prstDash val="solid"/>
          </a:ln>
        </p:spPr>
      </p:sp>
      <p:pic>
        <p:nvPicPr>
          <p:cNvPr id="15" name="Image 2" descr="Low cost">    </p:cNvPr>
          <p:cNvPicPr>
            <a:picLocks noChangeAspect="1"/>
          </p:cNvPicPr>
          <p:nvPr/>
        </p:nvPicPr>
        <p:blipFill>
          <a:blip r:embed="rId3"/>
          <a:stretch>
            <a:fillRect/>
          </a:stretch>
        </p:blipFill>
        <p:spPr>
          <a:xfrm>
            <a:off x="6611112" y="1792224"/>
            <a:ext cx="310896" cy="310896"/>
          </a:xfrm>
          <a:prstGeom prst="rect">
            <a:avLst/>
          </a:prstGeom>
        </p:spPr>
      </p:pic>
      <p:sp>
        <p:nvSpPr>
          <p:cNvPr id="16" name="Text 11"/>
          <p:cNvSpPr txBox="1"/>
          <p:nvPr/>
        </p:nvSpPr>
        <p:spPr>
          <a:xfrm>
            <a:off x="7223760" y="1572768"/>
            <a:ext cx="155448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Low cost</a:t>
            </a:r>
            <a:endParaRPr lang="en-US" sz="1800" dirty="0"/>
          </a:p>
        </p:txBody>
      </p:sp>
      <p:sp>
        <p:nvSpPr>
          <p:cNvPr id="17" name="Text 12"/>
          <p:cNvSpPr txBox="1"/>
          <p:nvPr/>
        </p:nvSpPr>
        <p:spPr>
          <a:xfrm>
            <a:off x="6446520" y="2286000"/>
            <a:ext cx="2286000" cy="5029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About INR 6 per language for voice clips</a:t>
            </a:r>
            <a:endParaRPr lang="en-US" sz="1400" dirty="0"/>
          </a:p>
        </p:txBody>
      </p:sp>
      <p:sp>
        <p:nvSpPr>
          <p:cNvPr id="18" name="Feasible 4"/>
          <p:cNvSpPr/>
          <p:nvPr/>
        </p:nvSpPr>
        <p:spPr>
          <a:xfrm>
            <a:off x="9052560" y="1371600"/>
            <a:ext cx="2651760"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9" name="Feas bg 3"/>
          <p:cNvSpPr/>
          <p:nvPr/>
        </p:nvSpPr>
        <p:spPr>
          <a:xfrm>
            <a:off x="9281160" y="1627632"/>
            <a:ext cx="640080" cy="640080"/>
          </a:xfrm>
          <a:prstGeom prst="ellipse">
            <a:avLst/>
          </a:prstGeom>
          <a:solidFill>
            <a:schemeClr val="accent3"/>
          </a:solidFill>
          <a:ln w="12700">
            <a:solidFill>
              <a:schemeClr val="accent3"/>
            </a:solidFill>
            <a:prstDash val="solid"/>
          </a:ln>
        </p:spPr>
      </p:sp>
      <p:pic>
        <p:nvPicPr>
          <p:cNvPr id="20" name="Image 3" descr="Privacy first">    </p:cNvPr>
          <p:cNvPicPr>
            <a:picLocks noChangeAspect="1"/>
          </p:cNvPicPr>
          <p:nvPr/>
        </p:nvPicPr>
        <p:blipFill>
          <a:blip r:embed="rId4"/>
          <a:stretch>
            <a:fillRect/>
          </a:stretch>
        </p:blipFill>
        <p:spPr>
          <a:xfrm>
            <a:off x="9445752" y="1792224"/>
            <a:ext cx="310896" cy="310896"/>
          </a:xfrm>
          <a:prstGeom prst="rect">
            <a:avLst/>
          </a:prstGeom>
        </p:spPr>
      </p:pic>
      <p:sp>
        <p:nvSpPr>
          <p:cNvPr id="21" name="Text 15"/>
          <p:cNvSpPr txBox="1"/>
          <p:nvPr/>
        </p:nvSpPr>
        <p:spPr>
          <a:xfrm>
            <a:off x="10058400" y="1572768"/>
            <a:ext cx="155448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Privacy first</a:t>
            </a:r>
            <a:endParaRPr lang="en-US" sz="1800" dirty="0"/>
          </a:p>
        </p:txBody>
      </p:sp>
      <p:sp>
        <p:nvSpPr>
          <p:cNvPr id="22" name="Text 16"/>
          <p:cNvSpPr txBox="1"/>
          <p:nvPr/>
        </p:nvSpPr>
        <p:spPr>
          <a:xfrm>
            <a:off x="9281160" y="2286000"/>
            <a:ext cx="2286000" cy="5029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No account needed</a:t>
            </a:r>
            <a:endParaRPr lang="en-US" sz="1400" dirty="0"/>
          </a:p>
        </p:txBody>
      </p:sp>
      <p:sp>
        <p:nvSpPr>
          <p:cNvPr id="23" name="Timeline"/>
          <p:cNvSpPr/>
          <p:nvPr/>
        </p:nvSpPr>
        <p:spPr>
          <a:xfrm>
            <a:off x="1097280" y="4206240"/>
            <a:ext cx="9966960" cy="0"/>
          </a:xfrm>
          <a:prstGeom prst="line">
            <a:avLst/>
          </a:prstGeom>
          <a:noFill/>
          <a:ln w="38100">
            <a:solidFill>
              <a:schemeClr val="accent5"/>
            </a:solidFill>
            <a:prstDash val="solid"/>
          </a:ln>
        </p:spPr>
      </p:sp>
      <p:sp>
        <p:nvSpPr>
          <p:cNvPr id="24" name="Text 18"/>
          <p:cNvSpPr txBox="1"/>
          <p:nvPr/>
        </p:nvSpPr>
        <p:spPr>
          <a:xfrm>
            <a:off x="822960" y="3200400"/>
            <a:ext cx="237744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Now</a:t>
            </a:r>
            <a:endParaRPr lang="en-US" sz="2600" dirty="0"/>
          </a:p>
        </p:txBody>
      </p:sp>
      <p:sp>
        <p:nvSpPr>
          <p:cNvPr id="25" name="Milestone 1"/>
          <p:cNvSpPr/>
          <p:nvPr/>
        </p:nvSpPr>
        <p:spPr>
          <a:xfrm>
            <a:off x="1600200" y="3794760"/>
            <a:ext cx="822960" cy="822960"/>
          </a:xfrm>
          <a:prstGeom prst="octagon">
            <a:avLst/>
          </a:prstGeom>
          <a:solidFill>
            <a:schemeClr val="accent2"/>
          </a:solidFill>
          <a:ln w="25400">
            <a:solidFill>
              <a:schemeClr val="tx1"/>
            </a:solidFill>
            <a:prstDash val="solid"/>
          </a:ln>
        </p:spPr>
      </p:sp>
      <p:sp>
        <p:nvSpPr>
          <p:cNvPr id="26" name="Text 20"/>
          <p:cNvSpPr txBox="1"/>
          <p:nvPr/>
        </p:nvSpPr>
        <p:spPr>
          <a:xfrm>
            <a:off x="822960" y="4800600"/>
            <a:ext cx="2377440" cy="13716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Clinician review. ASHA field test. Real-phone voice test. Recorded voice clips.</a:t>
            </a:r>
            <a:endParaRPr lang="en-US" sz="1400" dirty="0"/>
          </a:p>
        </p:txBody>
      </p:sp>
      <p:sp>
        <p:nvSpPr>
          <p:cNvPr id="27" name="Text 21"/>
          <p:cNvSpPr txBox="1"/>
          <p:nvPr/>
        </p:nvSpPr>
        <p:spPr>
          <a:xfrm>
            <a:off x="3566160" y="3200400"/>
            <a:ext cx="237744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Next</a:t>
            </a:r>
            <a:endParaRPr lang="en-US" sz="2600" dirty="0"/>
          </a:p>
        </p:txBody>
      </p:sp>
      <p:sp>
        <p:nvSpPr>
          <p:cNvPr id="28" name="Milestone 2"/>
          <p:cNvSpPr/>
          <p:nvPr/>
        </p:nvSpPr>
        <p:spPr>
          <a:xfrm>
            <a:off x="4343400" y="3794760"/>
            <a:ext cx="822960" cy="822960"/>
          </a:xfrm>
          <a:prstGeom prst="triangle">
            <a:avLst/>
          </a:prstGeom>
          <a:solidFill>
            <a:schemeClr val="accent1"/>
          </a:solidFill>
          <a:ln w="25400">
            <a:solidFill>
              <a:schemeClr val="tx1"/>
            </a:solidFill>
            <a:prstDash val="solid"/>
          </a:ln>
        </p:spPr>
      </p:sp>
      <p:sp>
        <p:nvSpPr>
          <p:cNvPr id="29" name="Text 23"/>
          <p:cNvSpPr txBox="1"/>
          <p:nvPr/>
        </p:nvSpPr>
        <p:spPr>
          <a:xfrm>
            <a:off x="3566160" y="4800600"/>
            <a:ext cx="2377440" cy="13716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Odia, Assamese, Bengali with native review. Connect sign-in and the daily log.</a:t>
            </a:r>
            <a:endParaRPr lang="en-US" sz="1400" dirty="0"/>
          </a:p>
        </p:txBody>
      </p:sp>
      <p:sp>
        <p:nvSpPr>
          <p:cNvPr id="30" name="Text 24"/>
          <p:cNvSpPr txBox="1"/>
          <p:nvPr/>
        </p:nvSpPr>
        <p:spPr>
          <a:xfrm>
            <a:off x="6309360" y="3200400"/>
            <a:ext cx="237744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Then</a:t>
            </a:r>
            <a:endParaRPr lang="en-US" sz="2600" dirty="0"/>
          </a:p>
        </p:txBody>
      </p:sp>
      <p:sp>
        <p:nvSpPr>
          <p:cNvPr id="31" name="Milestone 3"/>
          <p:cNvSpPr/>
          <p:nvPr/>
        </p:nvSpPr>
        <p:spPr>
          <a:xfrm>
            <a:off x="7086600" y="3794760"/>
            <a:ext cx="822960" cy="822960"/>
          </a:xfrm>
          <a:prstGeom prst="ellipse">
            <a:avLst/>
          </a:prstGeom>
          <a:solidFill>
            <a:schemeClr val="accent3"/>
          </a:solidFill>
          <a:ln w="25400">
            <a:solidFill>
              <a:schemeClr val="tx1"/>
            </a:solidFill>
            <a:prstDash val="solid"/>
          </a:ln>
        </p:spPr>
      </p:sp>
      <p:sp>
        <p:nvSpPr>
          <p:cNvPr id="32" name="Text 26"/>
          <p:cNvSpPr txBox="1"/>
          <p:nvPr/>
        </p:nvSpPr>
        <p:spPr>
          <a:xfrm>
            <a:off x="6309360" y="4800600"/>
            <a:ext cx="2377440" cy="13716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Visit and vaccine schedules. Scheme help. Each with an official source.</a:t>
            </a:r>
            <a:endParaRPr lang="en-US" sz="1400" dirty="0"/>
          </a:p>
        </p:txBody>
      </p:sp>
      <p:sp>
        <p:nvSpPr>
          <p:cNvPr id="33" name="Text 27"/>
          <p:cNvSpPr txBox="1"/>
          <p:nvPr/>
        </p:nvSpPr>
        <p:spPr>
          <a:xfrm>
            <a:off x="9052560" y="3200400"/>
            <a:ext cx="237744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Later</a:t>
            </a:r>
            <a:endParaRPr lang="en-US" sz="2600" dirty="0"/>
          </a:p>
        </p:txBody>
      </p:sp>
      <p:sp>
        <p:nvSpPr>
          <p:cNvPr id="34" name="Milestone 4"/>
          <p:cNvSpPr/>
          <p:nvPr/>
        </p:nvSpPr>
        <p:spPr>
          <a:xfrm>
            <a:off x="9829800" y="3794760"/>
            <a:ext cx="822960" cy="822960"/>
          </a:xfrm>
          <a:prstGeom prst="ellipse">
            <a:avLst/>
          </a:prstGeom>
          <a:solidFill>
            <a:schemeClr val="accent3"/>
          </a:solidFill>
          <a:ln w="25400">
            <a:solidFill>
              <a:schemeClr val="tx1"/>
            </a:solidFill>
            <a:prstDash val="solid"/>
          </a:ln>
        </p:spPr>
      </p:sp>
      <p:sp>
        <p:nvSpPr>
          <p:cNvPr id="35" name="Text 29"/>
          <p:cNvSpPr txBox="1"/>
          <p:nvPr/>
        </p:nvSpPr>
        <p:spPr>
          <a:xfrm>
            <a:off x="9052560" y="4800600"/>
            <a:ext cx="2377440" cy="13716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Facility finder from a verified dataset.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Free for her. Funded by those who run care.</a:t>
            </a:r>
            <a:endParaRPr lang="en-US" sz="3600" dirty="0"/>
          </a:p>
        </p:txBody>
      </p:sp>
      <p:sp>
        <p:nvSpPr>
          <p:cNvPr id="3" name="Model 1"/>
          <p:cNvSpPr/>
          <p:nvPr/>
        </p:nvSpPr>
        <p:spPr>
          <a:xfrm>
            <a:off x="548640" y="1463040"/>
            <a:ext cx="3566160" cy="3291840"/>
          </a:xfrm>
          <a:prstGeom prst="roundRect">
            <a:avLst>
              <a:gd name="adj" fmla="val 333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4" name="Model bg 0"/>
          <p:cNvSpPr/>
          <p:nvPr/>
        </p:nvSpPr>
        <p:spPr>
          <a:xfrm>
            <a:off x="822960" y="1737360"/>
            <a:ext cx="868680" cy="868680"/>
          </a:xfrm>
          <a:prstGeom prst="ellipse">
            <a:avLst/>
          </a:prstGeom>
          <a:solidFill>
            <a:schemeClr val="accent1"/>
          </a:solidFill>
          <a:ln w="12700">
            <a:solidFill>
              <a:schemeClr val="accent1"/>
            </a:solidFill>
            <a:prstDash val="solid"/>
          </a:ln>
        </p:spPr>
      </p:sp>
      <p:pic>
        <p:nvPicPr>
          <p:cNvPr id="5" name="Image 0" descr="State missions and NGOs">    </p:cNvPr>
          <p:cNvPicPr>
            <a:picLocks noChangeAspect="1"/>
          </p:cNvPicPr>
          <p:nvPr/>
        </p:nvPicPr>
        <p:blipFill>
          <a:blip r:embed="rId1"/>
          <a:stretch>
            <a:fillRect/>
          </a:stretch>
        </p:blipFill>
        <p:spPr>
          <a:xfrm>
            <a:off x="1051560" y="1965960"/>
            <a:ext cx="411480" cy="411480"/>
          </a:xfrm>
          <a:prstGeom prst="rect">
            <a:avLst/>
          </a:prstGeom>
        </p:spPr>
      </p:pic>
      <p:sp>
        <p:nvSpPr>
          <p:cNvPr id="6" name="Text 3"/>
          <p:cNvSpPr txBox="1"/>
          <p:nvPr/>
        </p:nvSpPr>
        <p:spPr>
          <a:xfrm>
            <a:off x="822960" y="2834640"/>
            <a:ext cx="3017520" cy="548640"/>
          </a:xfrm>
          <a:prstGeom prst="rect">
            <a:avLst/>
          </a:prstGeom>
          <a:noFill/>
          <a:ln/>
        </p:spPr>
        <p:txBody>
          <a:bodyPr wrap="square" lIns="0" tIns="0" rIns="0" bIns="0" rtlCol="0" anchor="t"/>
          <a:lstStyle/>
          <a:p>
            <a:pPr indent="0" marL="0">
              <a:buNone/>
            </a:pPr>
            <a:r>
              <a:rPr lang="en-US" sz="2100" b="1" dirty="0">
                <a:solidFill>
                  <a:schemeClr val="tx1"/>
                </a:solidFill>
                <a:latin typeface="Calibri" pitchFamily="34" charset="0"/>
                <a:ea typeface="Calibri" pitchFamily="34" charset="-122"/>
                <a:cs typeface="Calibri" pitchFamily="34" charset="-120"/>
              </a:rPr>
              <a:t>State missions and NGOs</a:t>
            </a:r>
            <a:endParaRPr lang="en-US" sz="2100" dirty="0"/>
          </a:p>
        </p:txBody>
      </p:sp>
      <p:sp>
        <p:nvSpPr>
          <p:cNvPr id="7" name="Text 4"/>
          <p:cNvSpPr txBox="1"/>
          <p:nvPr/>
        </p:nvSpPr>
        <p:spPr>
          <a:xfrm>
            <a:off x="822960" y="3474720"/>
            <a:ext cx="3017520" cy="118872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Licence, localisation, ASHA training and a district dashboard (with consent)</a:t>
            </a:r>
            <a:endParaRPr lang="en-US" sz="1500" dirty="0"/>
          </a:p>
        </p:txBody>
      </p:sp>
      <p:sp>
        <p:nvSpPr>
          <p:cNvPr id="8" name="Model 2"/>
          <p:cNvSpPr/>
          <p:nvPr/>
        </p:nvSpPr>
        <p:spPr>
          <a:xfrm>
            <a:off x="4297680" y="1463040"/>
            <a:ext cx="3566160" cy="3291840"/>
          </a:xfrm>
          <a:prstGeom prst="roundRect">
            <a:avLst>
              <a:gd name="adj" fmla="val 333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9" name="Model bg 1"/>
          <p:cNvSpPr/>
          <p:nvPr/>
        </p:nvSpPr>
        <p:spPr>
          <a:xfrm>
            <a:off x="4572000" y="1737360"/>
            <a:ext cx="868680" cy="868680"/>
          </a:xfrm>
          <a:prstGeom prst="ellipse">
            <a:avLst/>
          </a:prstGeom>
          <a:solidFill>
            <a:schemeClr val="accent1"/>
          </a:solidFill>
          <a:ln w="12700">
            <a:solidFill>
              <a:schemeClr val="accent1"/>
            </a:solidFill>
            <a:prstDash val="solid"/>
          </a:ln>
        </p:spPr>
      </p:sp>
      <p:pic>
        <p:nvPicPr>
          <p:cNvPr id="10" name="Image 1" descr="CSR and grants">    </p:cNvPr>
          <p:cNvPicPr>
            <a:picLocks noChangeAspect="1"/>
          </p:cNvPicPr>
          <p:nvPr/>
        </p:nvPicPr>
        <p:blipFill>
          <a:blip r:embed="rId2"/>
          <a:stretch>
            <a:fillRect/>
          </a:stretch>
        </p:blipFill>
        <p:spPr>
          <a:xfrm>
            <a:off x="4800600" y="1965960"/>
            <a:ext cx="411480" cy="411480"/>
          </a:xfrm>
          <a:prstGeom prst="rect">
            <a:avLst/>
          </a:prstGeom>
        </p:spPr>
      </p:pic>
      <p:sp>
        <p:nvSpPr>
          <p:cNvPr id="11" name="Text 7"/>
          <p:cNvSpPr txBox="1"/>
          <p:nvPr/>
        </p:nvSpPr>
        <p:spPr>
          <a:xfrm>
            <a:off x="4572000" y="2834640"/>
            <a:ext cx="3017520" cy="548640"/>
          </a:xfrm>
          <a:prstGeom prst="rect">
            <a:avLst/>
          </a:prstGeom>
          <a:noFill/>
          <a:ln/>
        </p:spPr>
        <p:txBody>
          <a:bodyPr wrap="square" lIns="0" tIns="0" rIns="0" bIns="0" rtlCol="0" anchor="t"/>
          <a:lstStyle/>
          <a:p>
            <a:pPr indent="0" marL="0">
              <a:buNone/>
            </a:pPr>
            <a:r>
              <a:rPr lang="en-US" sz="2100" b="1" dirty="0">
                <a:solidFill>
                  <a:schemeClr val="tx1"/>
                </a:solidFill>
                <a:latin typeface="Calibri" pitchFamily="34" charset="0"/>
                <a:ea typeface="Calibri" pitchFamily="34" charset="-122"/>
                <a:cs typeface="Calibri" pitchFamily="34" charset="-120"/>
              </a:rPr>
              <a:t>CSR and grants</a:t>
            </a:r>
            <a:endParaRPr lang="en-US" sz="2100" dirty="0"/>
          </a:p>
        </p:txBody>
      </p:sp>
      <p:sp>
        <p:nvSpPr>
          <p:cNvPr id="12" name="Text 8"/>
          <p:cNvSpPr txBox="1"/>
          <p:nvPr/>
        </p:nvSpPr>
        <p:spPr>
          <a:xfrm>
            <a:off x="4572000" y="3474720"/>
            <a:ext cx="3017520" cy="118872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Fund new languages, voice clips and clinician review</a:t>
            </a:r>
            <a:endParaRPr lang="en-US" sz="1500" dirty="0"/>
          </a:p>
        </p:txBody>
      </p:sp>
      <p:sp>
        <p:nvSpPr>
          <p:cNvPr id="13" name="Model 3"/>
          <p:cNvSpPr/>
          <p:nvPr/>
        </p:nvSpPr>
        <p:spPr>
          <a:xfrm>
            <a:off x="8046720" y="1463040"/>
            <a:ext cx="3566160" cy="3291840"/>
          </a:xfrm>
          <a:prstGeom prst="roundRect">
            <a:avLst>
              <a:gd name="adj" fmla="val 3333"/>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4" name="Model bg 2"/>
          <p:cNvSpPr/>
          <p:nvPr/>
        </p:nvSpPr>
        <p:spPr>
          <a:xfrm>
            <a:off x="8321040" y="1737360"/>
            <a:ext cx="868680" cy="868680"/>
          </a:xfrm>
          <a:prstGeom prst="ellipse">
            <a:avLst/>
          </a:prstGeom>
          <a:solidFill>
            <a:schemeClr val="accent1"/>
          </a:solidFill>
          <a:ln w="12700">
            <a:solidFill>
              <a:schemeClr val="accent1"/>
            </a:solidFill>
            <a:prstDash val="solid"/>
          </a:ln>
        </p:spPr>
      </p:sp>
      <p:pic>
        <p:nvPicPr>
          <p:cNvPr id="15" name="Image 2" descr="Open core">    </p:cNvPr>
          <p:cNvPicPr>
            <a:picLocks noChangeAspect="1"/>
          </p:cNvPicPr>
          <p:nvPr/>
        </p:nvPicPr>
        <p:blipFill>
          <a:blip r:embed="rId3"/>
          <a:stretch>
            <a:fillRect/>
          </a:stretch>
        </p:blipFill>
        <p:spPr>
          <a:xfrm>
            <a:off x="8549640" y="1965960"/>
            <a:ext cx="411480" cy="411480"/>
          </a:xfrm>
          <a:prstGeom prst="rect">
            <a:avLst/>
          </a:prstGeom>
        </p:spPr>
      </p:pic>
      <p:sp>
        <p:nvSpPr>
          <p:cNvPr id="16" name="Text 11"/>
          <p:cNvSpPr txBox="1"/>
          <p:nvPr/>
        </p:nvSpPr>
        <p:spPr>
          <a:xfrm>
            <a:off x="8321040" y="2834640"/>
            <a:ext cx="3017520" cy="548640"/>
          </a:xfrm>
          <a:prstGeom prst="rect">
            <a:avLst/>
          </a:prstGeom>
          <a:noFill/>
          <a:ln/>
        </p:spPr>
        <p:txBody>
          <a:bodyPr wrap="square" lIns="0" tIns="0" rIns="0" bIns="0" rtlCol="0" anchor="t"/>
          <a:lstStyle/>
          <a:p>
            <a:pPr indent="0" marL="0">
              <a:buNone/>
            </a:pPr>
            <a:r>
              <a:rPr lang="en-US" sz="2100" b="1" dirty="0">
                <a:solidFill>
                  <a:schemeClr val="tx1"/>
                </a:solidFill>
                <a:latin typeface="Calibri" pitchFamily="34" charset="0"/>
                <a:ea typeface="Calibri" pitchFamily="34" charset="-122"/>
                <a:cs typeface="Calibri" pitchFamily="34" charset="-120"/>
              </a:rPr>
              <a:t>Open core</a:t>
            </a:r>
            <a:endParaRPr lang="en-US" sz="2100" dirty="0"/>
          </a:p>
        </p:txBody>
      </p:sp>
      <p:sp>
        <p:nvSpPr>
          <p:cNvPr id="17" name="Text 12"/>
          <p:cNvSpPr txBox="1"/>
          <p:nvPr/>
        </p:nvSpPr>
        <p:spPr>
          <a:xfrm>
            <a:off x="8321040" y="3474720"/>
            <a:ext cx="3017520" cy="1188720"/>
          </a:xfrm>
          <a:prstGeom prst="rect">
            <a:avLst/>
          </a:prstGeom>
          <a:noFill/>
          <a:ln/>
        </p:spPr>
        <p:txBody>
          <a:bodyPr wrap="square" lIns="0" tIns="0" rIns="0" bIns="0" rtlCol="0" anchor="t"/>
          <a:lstStyle/>
          <a:p>
            <a:pPr indent="0" marL="0">
              <a:buNone/>
            </a:pPr>
            <a:r>
              <a:rPr lang="en-US" sz="1500" dirty="0">
                <a:solidFill>
                  <a:schemeClr val="accent5"/>
                </a:solidFill>
                <a:latin typeface="Calibri" pitchFamily="34" charset="0"/>
                <a:ea typeface="Calibri" pitchFamily="34" charset="-122"/>
                <a:cs typeface="Calibri" pitchFamily="34" charset="-120"/>
              </a:rPr>
              <a:t>Rules and app stay open and auditable. Services are paid.</a:t>
            </a:r>
            <a:endParaRPr lang="en-US" sz="1500" dirty="0"/>
          </a:p>
        </p:txBody>
      </p:sp>
      <p:sp>
        <p:nvSpPr>
          <p:cNvPr id="18" name="Promise"/>
          <p:cNvSpPr/>
          <p:nvPr/>
        </p:nvSpPr>
        <p:spPr>
          <a:xfrm>
            <a:off x="548640" y="5029200"/>
            <a:ext cx="11064240" cy="1097280"/>
          </a:xfrm>
          <a:prstGeom prst="roundRect">
            <a:avLst>
              <a:gd name="adj" fmla="val 11667"/>
            </a:avLst>
          </a:prstGeom>
          <a:solidFill>
            <a:schemeClr val="tx2"/>
          </a:solidFill>
          <a:ln w="12700">
            <a:solidFill>
              <a:schemeClr val="tx2"/>
            </a:solidFill>
            <a:prstDash val="solid"/>
          </a:ln>
        </p:spPr>
      </p:sp>
      <p:sp>
        <p:nvSpPr>
          <p:cNvPr id="19" name="Text 14"/>
          <p:cNvSpPr txBox="1"/>
          <p:nvPr/>
        </p:nvSpPr>
        <p:spPr>
          <a:xfrm>
            <a:off x="822960" y="5074920"/>
            <a:ext cx="10515600" cy="594360"/>
          </a:xfrm>
          <a:prstGeom prst="rect">
            <a:avLst/>
          </a:prstGeom>
          <a:noFill/>
          <a:ln/>
        </p:spPr>
        <p:txBody>
          <a:bodyPr wrap="square" lIns="0" tIns="0" rIns="0" bIns="0"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We never sell data. No ads. Women and families pay nothing.</a:t>
            </a:r>
            <a:endParaRPr lang="en-US" sz="2200" dirty="0"/>
          </a:p>
        </p:txBody>
      </p:sp>
      <p:sp>
        <p:nvSpPr>
          <p:cNvPr id="20" name="Text 15"/>
          <p:cNvSpPr txBox="1"/>
          <p:nvPr/>
        </p:nvSpPr>
        <p:spPr>
          <a:xfrm>
            <a:off x="822960" y="5669280"/>
            <a:ext cx="10515600" cy="365760"/>
          </a:xfrm>
          <a:prstGeom prst="rect">
            <a:avLst/>
          </a:prstGeom>
          <a:noFill/>
          <a:ln/>
        </p:spPr>
        <p:txBody>
          <a:bodyPr wrap="square" lIns="0" tIns="0" rIns="0" bIns="0" rtlCol="0" anchor="ctr"/>
          <a:lstStyle/>
          <a:p>
            <a:pPr indent="0" marL="0">
              <a:buNone/>
            </a:pPr>
            <a:r>
              <a:rPr lang="en-US" sz="1400" i="1" dirty="0">
                <a:solidFill>
                  <a:schemeClr val="accent1"/>
                </a:solidFill>
                <a:latin typeface="Calibri" pitchFamily="34" charset="0"/>
                <a:ea typeface="Calibri" pitchFamily="34" charset="-122"/>
                <a:cs typeface="Calibri" pitchFamily="34" charset="-120"/>
              </a:rPr>
              <a:t>A proposed model, not yet tested with a funder.</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What broke. What we changed.</a:t>
            </a:r>
            <a:endParaRPr lang="en-US" sz="3600" dirty="0"/>
          </a:p>
        </p:txBody>
      </p:sp>
      <p:sp>
        <p:nvSpPr>
          <p:cNvPr id="3" name="Lesson 1"/>
          <p:cNvSpPr/>
          <p:nvPr/>
        </p:nvSpPr>
        <p:spPr>
          <a:xfrm>
            <a:off x="548640" y="1371600"/>
            <a:ext cx="5394960" cy="1645920"/>
          </a:xfrm>
          <a:prstGeom prst="roundRect">
            <a:avLst>
              <a:gd name="adj" fmla="val 6667"/>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4" name="Lesson bg 0"/>
          <p:cNvSpPr/>
          <p:nvPr/>
        </p:nvSpPr>
        <p:spPr>
          <a:xfrm>
            <a:off x="777240" y="1783080"/>
            <a:ext cx="731520" cy="731520"/>
          </a:xfrm>
          <a:prstGeom prst="ellipse">
            <a:avLst/>
          </a:prstGeom>
          <a:solidFill>
            <a:schemeClr val="tx2"/>
          </a:solidFill>
          <a:ln w="12700">
            <a:solidFill>
              <a:schemeClr val="tx2"/>
            </a:solidFill>
            <a:prstDash val="solid"/>
          </a:ln>
        </p:spPr>
      </p:sp>
      <p:pic>
        <p:nvPicPr>
          <p:cNvPr id="5" name="Image 0" descr="The build failed on main">    </p:cNvPr>
          <p:cNvPicPr>
            <a:picLocks noChangeAspect="1"/>
          </p:cNvPicPr>
          <p:nvPr/>
        </p:nvPicPr>
        <p:blipFill>
          <a:blip r:embed="rId1"/>
          <a:stretch>
            <a:fillRect/>
          </a:stretch>
        </p:blipFill>
        <p:spPr>
          <a:xfrm>
            <a:off x="960120" y="1965960"/>
            <a:ext cx="365760" cy="365760"/>
          </a:xfrm>
          <a:prstGeom prst="rect">
            <a:avLst/>
          </a:prstGeom>
        </p:spPr>
      </p:pic>
      <p:sp>
        <p:nvSpPr>
          <p:cNvPr id="6" name="Text 3"/>
          <p:cNvSpPr txBox="1"/>
          <p:nvPr/>
        </p:nvSpPr>
        <p:spPr>
          <a:xfrm>
            <a:off x="1737360" y="1481328"/>
            <a:ext cx="4023360"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The build failed on main</a:t>
            </a:r>
            <a:endParaRPr lang="en-US" sz="1800" dirty="0"/>
          </a:p>
        </p:txBody>
      </p:sp>
      <p:sp>
        <p:nvSpPr>
          <p:cNvPr id="7" name="Text 4"/>
          <p:cNvSpPr txBox="1"/>
          <p:nvPr/>
        </p:nvSpPr>
        <p:spPr>
          <a:xfrm>
            <a:off x="1737360" y="1938528"/>
            <a:ext cx="4023360" cy="10058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 new screen changed the flow and a test was not updated. Tests now gate the build and CI runs on every pull request.</a:t>
            </a:r>
            <a:endParaRPr lang="en-US" sz="1400" dirty="0"/>
          </a:p>
        </p:txBody>
      </p:sp>
      <p:sp>
        <p:nvSpPr>
          <p:cNvPr id="8" name="Lesson 2"/>
          <p:cNvSpPr/>
          <p:nvPr/>
        </p:nvSpPr>
        <p:spPr>
          <a:xfrm>
            <a:off x="6217920" y="1371600"/>
            <a:ext cx="5394960" cy="1645920"/>
          </a:xfrm>
          <a:prstGeom prst="roundRect">
            <a:avLst>
              <a:gd name="adj" fmla="val 6667"/>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9" name="Lesson bg 1"/>
          <p:cNvSpPr/>
          <p:nvPr/>
        </p:nvSpPr>
        <p:spPr>
          <a:xfrm>
            <a:off x="6446520" y="1783080"/>
            <a:ext cx="731520" cy="731520"/>
          </a:xfrm>
          <a:prstGeom prst="ellipse">
            <a:avLst/>
          </a:prstGeom>
          <a:solidFill>
            <a:schemeClr val="tx2"/>
          </a:solidFill>
          <a:ln w="12700">
            <a:solidFill>
              <a:schemeClr val="tx2"/>
            </a:solidFill>
            <a:prstDash val="solid"/>
          </a:ln>
        </p:spPr>
      </p:sp>
      <p:pic>
        <p:nvPicPr>
          <p:cNvPr id="10" name="Image 1" descr="Buttons clipped on short phones">    </p:cNvPr>
          <p:cNvPicPr>
            <a:picLocks noChangeAspect="1"/>
          </p:cNvPicPr>
          <p:nvPr/>
        </p:nvPicPr>
        <p:blipFill>
          <a:blip r:embed="rId2"/>
          <a:stretch>
            <a:fillRect/>
          </a:stretch>
        </p:blipFill>
        <p:spPr>
          <a:xfrm>
            <a:off x="6629400" y="1965960"/>
            <a:ext cx="365760" cy="365760"/>
          </a:xfrm>
          <a:prstGeom prst="rect">
            <a:avLst/>
          </a:prstGeom>
        </p:spPr>
      </p:pic>
      <p:sp>
        <p:nvSpPr>
          <p:cNvPr id="11" name="Text 7"/>
          <p:cNvSpPr txBox="1"/>
          <p:nvPr/>
        </p:nvSpPr>
        <p:spPr>
          <a:xfrm>
            <a:off x="7406640" y="1481328"/>
            <a:ext cx="4023360"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Buttons clipped on short phones</a:t>
            </a:r>
            <a:endParaRPr lang="en-US" sz="1800" dirty="0"/>
          </a:p>
        </p:txBody>
      </p:sp>
      <p:sp>
        <p:nvSpPr>
          <p:cNvPr id="12" name="Text 8"/>
          <p:cNvSpPr txBox="1"/>
          <p:nvPr/>
        </p:nvSpPr>
        <p:spPr>
          <a:xfrm>
            <a:off x="7406640" y="1938528"/>
            <a:ext cx="4023360" cy="10058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Items were squeezed in a scrolling column. One layout rule and a 15-screen audit fixed it.</a:t>
            </a:r>
            <a:endParaRPr lang="en-US" sz="1400" dirty="0"/>
          </a:p>
        </p:txBody>
      </p:sp>
      <p:sp>
        <p:nvSpPr>
          <p:cNvPr id="13" name="Lesson 3"/>
          <p:cNvSpPr/>
          <p:nvPr/>
        </p:nvSpPr>
        <p:spPr>
          <a:xfrm>
            <a:off x="548640" y="3200400"/>
            <a:ext cx="5394960" cy="1645920"/>
          </a:xfrm>
          <a:prstGeom prst="roundRect">
            <a:avLst>
              <a:gd name="adj" fmla="val 6667"/>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4" name="Lesson bg 2"/>
          <p:cNvSpPr/>
          <p:nvPr/>
        </p:nvSpPr>
        <p:spPr>
          <a:xfrm>
            <a:off x="777240" y="3611880"/>
            <a:ext cx="731520" cy="731520"/>
          </a:xfrm>
          <a:prstGeom prst="ellipse">
            <a:avLst/>
          </a:prstGeom>
          <a:solidFill>
            <a:schemeClr val="tx2"/>
          </a:solidFill>
          <a:ln w="12700">
            <a:solidFill>
              <a:schemeClr val="tx2"/>
            </a:solidFill>
            <a:prstDash val="solid"/>
          </a:ln>
        </p:spPr>
      </p:sp>
      <p:pic>
        <p:nvPicPr>
          <p:cNvPr id="15" name="Image 2" descr="A misheard &quot;No&quot; could hide a sign">    </p:cNvPr>
          <p:cNvPicPr>
            <a:picLocks noChangeAspect="1"/>
          </p:cNvPicPr>
          <p:nvPr/>
        </p:nvPicPr>
        <p:blipFill>
          <a:blip r:embed="rId3"/>
          <a:stretch>
            <a:fillRect/>
          </a:stretch>
        </p:blipFill>
        <p:spPr>
          <a:xfrm>
            <a:off x="960120" y="3794760"/>
            <a:ext cx="365760" cy="365760"/>
          </a:xfrm>
          <a:prstGeom prst="rect">
            <a:avLst/>
          </a:prstGeom>
        </p:spPr>
      </p:pic>
      <p:sp>
        <p:nvSpPr>
          <p:cNvPr id="16" name="Text 11"/>
          <p:cNvSpPr txBox="1"/>
          <p:nvPr/>
        </p:nvSpPr>
        <p:spPr>
          <a:xfrm>
            <a:off x="1737360" y="3310128"/>
            <a:ext cx="4023360"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 misheard "No" could hide a sign</a:t>
            </a:r>
            <a:endParaRPr lang="en-US" sz="1800" dirty="0"/>
          </a:p>
        </p:txBody>
      </p:sp>
      <p:sp>
        <p:nvSpPr>
          <p:cNvPr id="17" name="Text 12"/>
          <p:cNvSpPr txBox="1"/>
          <p:nvPr/>
        </p:nvSpPr>
        <p:spPr>
          <a:xfrm>
            <a:off x="1737360" y="3767328"/>
            <a:ext cx="4023360" cy="10058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 spoken No is confirmed. A misheard Yes only over-escalates, so it goes straight through.</a:t>
            </a:r>
            <a:endParaRPr lang="en-US" sz="1400" dirty="0"/>
          </a:p>
        </p:txBody>
      </p:sp>
      <p:sp>
        <p:nvSpPr>
          <p:cNvPr id="18" name="Lesson 4"/>
          <p:cNvSpPr/>
          <p:nvPr/>
        </p:nvSpPr>
        <p:spPr>
          <a:xfrm>
            <a:off x="6217920" y="3200400"/>
            <a:ext cx="5394960" cy="1645920"/>
          </a:xfrm>
          <a:prstGeom prst="roundRect">
            <a:avLst>
              <a:gd name="adj" fmla="val 6667"/>
            </a:avLst>
          </a:prstGeom>
          <a:solidFill>
            <a:schemeClr val="bg1"/>
          </a:solidFill>
          <a:ln w="12700">
            <a:solidFill>
              <a:schemeClr val="bg1"/>
            </a:solidFill>
            <a:prstDash val="solid"/>
          </a:ln>
          <a:effectLst>
            <a:outerShdw sx="100000" sy="100000" kx="0" ky="0" algn="bl" rotWithShape="0" blurRad="101600" dist="25400" dir="5400000">
              <a:srgbClr val="111B38">
                <a:alpha val="14000"/>
              </a:srgbClr>
            </a:outerShdw>
          </a:effectLst>
        </p:spPr>
      </p:sp>
      <p:sp>
        <p:nvSpPr>
          <p:cNvPr id="19" name="Lesson bg 3"/>
          <p:cNvSpPr/>
          <p:nvPr/>
        </p:nvSpPr>
        <p:spPr>
          <a:xfrm>
            <a:off x="6446520" y="3611880"/>
            <a:ext cx="731520" cy="731520"/>
          </a:xfrm>
          <a:prstGeom prst="ellipse">
            <a:avLst/>
          </a:prstGeom>
          <a:solidFill>
            <a:schemeClr val="tx2"/>
          </a:solidFill>
          <a:ln w="12700">
            <a:solidFill>
              <a:schemeClr val="tx2"/>
            </a:solidFill>
            <a:prstDash val="solid"/>
          </a:ln>
        </p:spPr>
      </p:sp>
      <p:pic>
        <p:nvPicPr>
          <p:cNvPr id="20" name="Image 3" descr="Voice cannot be fully tested here">    </p:cNvPr>
          <p:cNvPicPr>
            <a:picLocks noChangeAspect="1"/>
          </p:cNvPicPr>
          <p:nvPr/>
        </p:nvPicPr>
        <p:blipFill>
          <a:blip r:embed="rId4"/>
          <a:stretch>
            <a:fillRect/>
          </a:stretch>
        </p:blipFill>
        <p:spPr>
          <a:xfrm>
            <a:off x="6629400" y="3794760"/>
            <a:ext cx="365760" cy="365760"/>
          </a:xfrm>
          <a:prstGeom prst="rect">
            <a:avLst/>
          </a:prstGeom>
        </p:spPr>
      </p:pic>
      <p:sp>
        <p:nvSpPr>
          <p:cNvPr id="21" name="Text 15"/>
          <p:cNvSpPr txBox="1"/>
          <p:nvPr/>
        </p:nvSpPr>
        <p:spPr>
          <a:xfrm>
            <a:off x="7406640" y="3310128"/>
            <a:ext cx="4023360"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Voice cannot be fully tested here</a:t>
            </a:r>
            <a:endParaRPr lang="en-US" sz="1800" dirty="0"/>
          </a:p>
        </p:txBody>
      </p:sp>
      <p:sp>
        <p:nvSpPr>
          <p:cNvPr id="22" name="Text 16"/>
          <p:cNvSpPr txBox="1"/>
          <p:nvPr/>
        </p:nvSpPr>
        <p:spPr>
          <a:xfrm>
            <a:off x="7406640" y="3767328"/>
            <a:ext cx="4023360" cy="10058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Tests use a simulated recogniser, and we say so. A real-phone test is the next step.</a:t>
            </a:r>
            <a:endParaRPr lang="en-US" sz="1400" dirty="0"/>
          </a:p>
        </p:txBody>
      </p:sp>
      <p:sp>
        <p:nvSpPr>
          <p:cNvPr id="23" name="Text 17"/>
          <p:cNvSpPr txBox="1"/>
          <p:nvPr/>
        </p:nvSpPr>
        <p:spPr>
          <a:xfrm>
            <a:off x="548640" y="5120640"/>
            <a:ext cx="5486400" cy="3657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Trade-offs we chose</a:t>
            </a:r>
            <a:endParaRPr lang="en-US" sz="1700" dirty="0"/>
          </a:p>
        </p:txBody>
      </p:sp>
      <p:sp>
        <p:nvSpPr>
          <p:cNvPr id="24" name="Pill Rules, not AI"/>
          <p:cNvSpPr/>
          <p:nvPr/>
        </p:nvSpPr>
        <p:spPr>
          <a:xfrm>
            <a:off x="548640" y="5577840"/>
            <a:ext cx="2651760" cy="457200"/>
          </a:xfrm>
          <a:prstGeom prst="roundRect">
            <a:avLst>
              <a:gd name="adj" fmla="val 50000"/>
            </a:avLst>
          </a:prstGeom>
          <a:solidFill>
            <a:schemeClr val="tx2"/>
          </a:solidFill>
          <a:ln w="12700">
            <a:solidFill>
              <a:schemeClr val="tx2"/>
            </a:solidFill>
            <a:prstDash val="solid"/>
          </a:ln>
        </p:spPr>
      </p:sp>
      <p:sp>
        <p:nvSpPr>
          <p:cNvPr id="25" name="Text 19"/>
          <p:cNvSpPr txBox="1"/>
          <p:nvPr/>
        </p:nvSpPr>
        <p:spPr>
          <a:xfrm>
            <a:off x="548640" y="5577840"/>
            <a:ext cx="265176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Rules, not AI</a:t>
            </a:r>
            <a:endParaRPr lang="en-US" sz="1400" dirty="0"/>
          </a:p>
        </p:txBody>
      </p:sp>
      <p:sp>
        <p:nvSpPr>
          <p:cNvPr id="26" name="Pill Over-escalate, never under"/>
          <p:cNvSpPr/>
          <p:nvPr/>
        </p:nvSpPr>
        <p:spPr>
          <a:xfrm>
            <a:off x="3337560" y="5577840"/>
            <a:ext cx="2651760" cy="457200"/>
          </a:xfrm>
          <a:prstGeom prst="roundRect">
            <a:avLst>
              <a:gd name="adj" fmla="val 50000"/>
            </a:avLst>
          </a:prstGeom>
          <a:solidFill>
            <a:schemeClr val="accent2"/>
          </a:solidFill>
          <a:ln w="12700">
            <a:solidFill>
              <a:schemeClr val="accent2"/>
            </a:solidFill>
            <a:prstDash val="solid"/>
          </a:ln>
        </p:spPr>
      </p:sp>
      <p:sp>
        <p:nvSpPr>
          <p:cNvPr id="27" name="Text 21"/>
          <p:cNvSpPr txBox="1"/>
          <p:nvPr/>
        </p:nvSpPr>
        <p:spPr>
          <a:xfrm>
            <a:off x="3337560" y="5577840"/>
            <a:ext cx="265176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Over-escalate, never under</a:t>
            </a:r>
            <a:endParaRPr lang="en-US" sz="1400" dirty="0"/>
          </a:p>
        </p:txBody>
      </p:sp>
      <p:sp>
        <p:nvSpPr>
          <p:cNvPr id="28" name="Pill Offline over cloud"/>
          <p:cNvSpPr/>
          <p:nvPr/>
        </p:nvSpPr>
        <p:spPr>
          <a:xfrm>
            <a:off x="6126480" y="5577840"/>
            <a:ext cx="2651760" cy="457200"/>
          </a:xfrm>
          <a:prstGeom prst="roundRect">
            <a:avLst>
              <a:gd name="adj" fmla="val 50000"/>
            </a:avLst>
          </a:prstGeom>
          <a:solidFill>
            <a:schemeClr val="accent3"/>
          </a:solidFill>
          <a:ln w="12700">
            <a:solidFill>
              <a:schemeClr val="accent3"/>
            </a:solidFill>
            <a:prstDash val="solid"/>
          </a:ln>
        </p:spPr>
      </p:sp>
      <p:sp>
        <p:nvSpPr>
          <p:cNvPr id="29" name="Text 23"/>
          <p:cNvSpPr txBox="1"/>
          <p:nvPr/>
        </p:nvSpPr>
        <p:spPr>
          <a:xfrm>
            <a:off x="6126480" y="5577840"/>
            <a:ext cx="2651760" cy="45720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Offline over cloud</a:t>
            </a:r>
            <a:endParaRPr lang="en-US" sz="1400" dirty="0"/>
          </a:p>
        </p:txBody>
      </p:sp>
      <p:sp>
        <p:nvSpPr>
          <p:cNvPr id="30" name="Pill No numeric thresholds"/>
          <p:cNvSpPr/>
          <p:nvPr/>
        </p:nvSpPr>
        <p:spPr>
          <a:xfrm>
            <a:off x="8915400" y="5577840"/>
            <a:ext cx="2651760" cy="457200"/>
          </a:xfrm>
          <a:prstGeom prst="roundRect">
            <a:avLst>
              <a:gd name="adj" fmla="val 50000"/>
            </a:avLst>
          </a:prstGeom>
          <a:solidFill>
            <a:schemeClr val="accent1"/>
          </a:solidFill>
          <a:ln w="12700">
            <a:solidFill>
              <a:schemeClr val="accent1"/>
            </a:solidFill>
            <a:prstDash val="solid"/>
          </a:ln>
        </p:spPr>
      </p:sp>
      <p:sp>
        <p:nvSpPr>
          <p:cNvPr id="31" name="Text 25"/>
          <p:cNvSpPr txBox="1"/>
          <p:nvPr/>
        </p:nvSpPr>
        <p:spPr>
          <a:xfrm>
            <a:off x="8915400" y="5577840"/>
            <a:ext cx="2651760" cy="45720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No numeric thresholds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640080"/>
            <a:ext cx="10972800" cy="1188720"/>
          </a:xfrm>
          <a:prstGeom prst="rect">
            <a:avLst/>
          </a:prstGeom>
          <a:noFill/>
          <a:ln/>
        </p:spPr>
        <p:txBody>
          <a:bodyPr wrap="square" lIns="0" tIns="0" rIns="0" bIns="0" rtlCol="0" anchor="ctr"/>
          <a:lstStyle/>
          <a:p>
            <a:pPr indent="0" marL="0">
              <a:buNone/>
            </a:pPr>
            <a:r>
              <a:rPr lang="en-US" sz="7000" b="1" dirty="0">
                <a:solidFill>
                  <a:schemeClr val="accent1"/>
                </a:solidFill>
                <a:latin typeface="Cambria" pitchFamily="34" charset="0"/>
                <a:ea typeface="Cambria" pitchFamily="34" charset="-122"/>
                <a:cs typeface="Cambria" pitchFamily="34" charset="-120"/>
              </a:rPr>
              <a:t>Every minute counts.</a:t>
            </a:r>
            <a:endParaRPr lang="en-US" sz="7000" dirty="0"/>
          </a:p>
        </p:txBody>
      </p:sp>
      <p:sp>
        <p:nvSpPr>
          <p:cNvPr id="3" name="Text 1"/>
          <p:cNvSpPr txBox="1"/>
          <p:nvPr/>
        </p:nvSpPr>
        <p:spPr>
          <a:xfrm>
            <a:off x="640080" y="1828800"/>
            <a:ext cx="10972800" cy="822960"/>
          </a:xfrm>
          <a:prstGeom prst="rect">
            <a:avLst/>
          </a:prstGeom>
          <a:noFill/>
          <a:ln/>
        </p:spPr>
        <p:txBody>
          <a:bodyPr wrap="square" lIns="0" tIns="0" rIns="0" bIns="0" rtlCol="0" anchor="ctr"/>
          <a:lstStyle/>
          <a:p>
            <a:pPr indent="0" marL="0">
              <a:buNone/>
            </a:pPr>
            <a:r>
              <a:rPr lang="en-US" sz="4000" dirty="0">
                <a:solidFill>
                  <a:schemeClr val="bg1"/>
                </a:solidFill>
                <a:latin typeface="Cambria" pitchFamily="34" charset="0"/>
                <a:ea typeface="Cambria" pitchFamily="34" charset="-122"/>
                <a:cs typeface="Cambria" pitchFamily="34" charset="-120"/>
              </a:rPr>
              <a:t>Maitri makes the next one clear.</a:t>
            </a:r>
            <a:endParaRPr lang="en-US" sz="4000" dirty="0"/>
          </a:p>
        </p:txBody>
      </p:sp>
      <p:sp>
        <p:nvSpPr>
          <p:cNvPr id="4" name="Text 2"/>
          <p:cNvSpPr txBox="1"/>
          <p:nvPr/>
        </p:nvSpPr>
        <p:spPr>
          <a:xfrm>
            <a:off x="640080" y="2697480"/>
            <a:ext cx="1097280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Speak it. See why. Call at once.</a:t>
            </a:r>
            <a:endParaRPr lang="en-US" sz="2200" dirty="0"/>
          </a:p>
        </p:txBody>
      </p:sp>
      <p:sp>
        <p:nvSpPr>
          <p:cNvPr id="5" name="Text 3"/>
          <p:cNvSpPr txBox="1"/>
          <p:nvPr/>
        </p:nvSpPr>
        <p:spPr>
          <a:xfrm>
            <a:off x="640080" y="3429000"/>
            <a:ext cx="10972800" cy="365760"/>
          </a:xfrm>
          <a:prstGeom prst="rect">
            <a:avLst/>
          </a:prstGeom>
          <a:noFill/>
          <a:ln/>
        </p:spPr>
        <p:txBody>
          <a:bodyPr wrap="square" lIns="0" tIns="0" rIns="0" bIns="0" rtlCol="0" anchor="ctr"/>
          <a:lstStyle/>
          <a:p>
            <a:pPr indent="0" marL="0">
              <a:buNone/>
            </a:pPr>
            <a:r>
              <a:rPr lang="en-US" sz="1800" b="1" dirty="0">
                <a:solidFill>
                  <a:schemeClr val="bg1"/>
                </a:solidFill>
                <a:latin typeface="Calibri" pitchFamily="34" charset="0"/>
                <a:ea typeface="Calibri" pitchFamily="34" charset="-122"/>
                <a:cs typeface="Calibri" pitchFamily="34" charset="-120"/>
              </a:rPr>
              <a:t>To take it from prototype to pilot, we need three things</a:t>
            </a:r>
            <a:endParaRPr lang="en-US" sz="1800" dirty="0"/>
          </a:p>
        </p:txBody>
      </p:sp>
      <p:sp>
        <p:nvSpPr>
          <p:cNvPr id="6" name="Ask 1"/>
          <p:cNvSpPr/>
          <p:nvPr/>
        </p:nvSpPr>
        <p:spPr>
          <a:xfrm>
            <a:off x="640080" y="3931920"/>
            <a:ext cx="2926080" cy="1554480"/>
          </a:xfrm>
          <a:prstGeom prst="roundRect">
            <a:avLst>
              <a:gd name="adj" fmla="val 8235"/>
            </a:avLst>
          </a:prstGeom>
          <a:solidFill>
            <a:schemeClr val="accent1"/>
          </a:solidFill>
          <a:ln w="12700">
            <a:solidFill>
              <a:schemeClr val="accent1"/>
            </a:solidFill>
            <a:prstDash val="solid"/>
          </a:ln>
        </p:spPr>
      </p:sp>
      <p:pic>
        <p:nvPicPr>
          <p:cNvPr id="7" name="Image 0" descr="A clinician reviewer">    </p:cNvPr>
          <p:cNvPicPr>
            <a:picLocks noChangeAspect="1"/>
          </p:cNvPicPr>
          <p:nvPr/>
        </p:nvPicPr>
        <p:blipFill>
          <a:blip r:embed="rId1"/>
          <a:stretch>
            <a:fillRect/>
          </a:stretch>
        </p:blipFill>
        <p:spPr>
          <a:xfrm>
            <a:off x="868680" y="4160520"/>
            <a:ext cx="457200" cy="457200"/>
          </a:xfrm>
          <a:prstGeom prst="rect">
            <a:avLst/>
          </a:prstGeom>
        </p:spPr>
      </p:pic>
      <p:sp>
        <p:nvSpPr>
          <p:cNvPr id="8" name="Text 5"/>
          <p:cNvSpPr txBox="1"/>
          <p:nvPr/>
        </p:nvSpPr>
        <p:spPr>
          <a:xfrm>
            <a:off x="146304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 clinician reviewer</a:t>
            </a:r>
            <a:endParaRPr lang="en-US" sz="1800" dirty="0"/>
          </a:p>
        </p:txBody>
      </p:sp>
      <p:sp>
        <p:nvSpPr>
          <p:cNvPr id="9" name="Text 6"/>
          <p:cNvSpPr txBox="1"/>
          <p:nvPr/>
        </p:nvSpPr>
        <p:spPr>
          <a:xfrm>
            <a:off x="86868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check and sign off the rules</a:t>
            </a:r>
            <a:endParaRPr lang="en-US" sz="1400" dirty="0"/>
          </a:p>
        </p:txBody>
      </p:sp>
      <p:sp>
        <p:nvSpPr>
          <p:cNvPr id="10" name="Ask 2"/>
          <p:cNvSpPr/>
          <p:nvPr/>
        </p:nvSpPr>
        <p:spPr>
          <a:xfrm>
            <a:off x="3703320" y="3931920"/>
            <a:ext cx="2926080" cy="1554480"/>
          </a:xfrm>
          <a:prstGeom prst="roundRect">
            <a:avLst>
              <a:gd name="adj" fmla="val 8235"/>
            </a:avLst>
          </a:prstGeom>
          <a:solidFill>
            <a:schemeClr val="accent1"/>
          </a:solidFill>
          <a:ln w="12700">
            <a:solidFill>
              <a:schemeClr val="accent1"/>
            </a:solidFill>
            <a:prstDash val="solid"/>
          </a:ln>
        </p:spPr>
      </p:sp>
      <p:pic>
        <p:nvPicPr>
          <p:cNvPr id="11" name="Image 1" descr="An ASHA district">    </p:cNvPr>
          <p:cNvPicPr>
            <a:picLocks noChangeAspect="1"/>
          </p:cNvPicPr>
          <p:nvPr/>
        </p:nvPicPr>
        <p:blipFill>
          <a:blip r:embed="rId2"/>
          <a:stretch>
            <a:fillRect/>
          </a:stretch>
        </p:blipFill>
        <p:spPr>
          <a:xfrm>
            <a:off x="3931920" y="4160520"/>
            <a:ext cx="457200" cy="457200"/>
          </a:xfrm>
          <a:prstGeom prst="rect">
            <a:avLst/>
          </a:prstGeom>
        </p:spPr>
      </p:pic>
      <p:sp>
        <p:nvSpPr>
          <p:cNvPr id="12" name="Text 8"/>
          <p:cNvSpPr txBox="1"/>
          <p:nvPr/>
        </p:nvSpPr>
        <p:spPr>
          <a:xfrm>
            <a:off x="452628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An ASHA district</a:t>
            </a:r>
            <a:endParaRPr lang="en-US" sz="1800" dirty="0"/>
          </a:p>
        </p:txBody>
      </p:sp>
      <p:sp>
        <p:nvSpPr>
          <p:cNvPr id="13" name="Text 9"/>
          <p:cNvSpPr txBox="1"/>
          <p:nvPr/>
        </p:nvSpPr>
        <p:spPr>
          <a:xfrm>
            <a:off x="393192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pilot with real families</a:t>
            </a:r>
            <a:endParaRPr lang="en-US" sz="1400" dirty="0"/>
          </a:p>
        </p:txBody>
      </p:sp>
      <p:sp>
        <p:nvSpPr>
          <p:cNvPr id="14" name="Ask 3"/>
          <p:cNvSpPr/>
          <p:nvPr/>
        </p:nvSpPr>
        <p:spPr>
          <a:xfrm>
            <a:off x="6766560" y="3931920"/>
            <a:ext cx="2926080" cy="1554480"/>
          </a:xfrm>
          <a:prstGeom prst="roundRect">
            <a:avLst>
              <a:gd name="adj" fmla="val 8235"/>
            </a:avLst>
          </a:prstGeom>
          <a:solidFill>
            <a:schemeClr val="accent1"/>
          </a:solidFill>
          <a:ln w="12700">
            <a:solidFill>
              <a:schemeClr val="accent1"/>
            </a:solidFill>
            <a:prstDash val="solid"/>
          </a:ln>
        </p:spPr>
      </p:sp>
      <p:pic>
        <p:nvPicPr>
          <p:cNvPr id="15" name="Image 2" descr="Language partners">    </p:cNvPr>
          <p:cNvPicPr>
            <a:picLocks noChangeAspect="1"/>
          </p:cNvPicPr>
          <p:nvPr/>
        </p:nvPicPr>
        <p:blipFill>
          <a:blip r:embed="rId3"/>
          <a:stretch>
            <a:fillRect/>
          </a:stretch>
        </p:blipFill>
        <p:spPr>
          <a:xfrm>
            <a:off x="6995160" y="4160520"/>
            <a:ext cx="457200" cy="457200"/>
          </a:xfrm>
          <a:prstGeom prst="rect">
            <a:avLst/>
          </a:prstGeom>
        </p:spPr>
      </p:pic>
      <p:sp>
        <p:nvSpPr>
          <p:cNvPr id="16" name="Text 11"/>
          <p:cNvSpPr txBox="1"/>
          <p:nvPr/>
        </p:nvSpPr>
        <p:spPr>
          <a:xfrm>
            <a:off x="7589520" y="4114800"/>
            <a:ext cx="201168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Language partners</a:t>
            </a:r>
            <a:endParaRPr lang="en-US" sz="1800" dirty="0"/>
          </a:p>
        </p:txBody>
      </p:sp>
      <p:sp>
        <p:nvSpPr>
          <p:cNvPr id="17" name="Text 12"/>
          <p:cNvSpPr txBox="1"/>
          <p:nvPr/>
        </p:nvSpPr>
        <p:spPr>
          <a:xfrm>
            <a:off x="6995160" y="4754880"/>
            <a:ext cx="2560320" cy="594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Odia, Assamese, Bengali</a:t>
            </a:r>
            <a:endParaRPr lang="en-US" sz="1400" dirty="0"/>
          </a:p>
        </p:txBody>
      </p:sp>
      <p:sp>
        <p:nvSpPr>
          <p:cNvPr id="18" name="QR card"/>
          <p:cNvSpPr/>
          <p:nvPr/>
        </p:nvSpPr>
        <p:spPr>
          <a:xfrm>
            <a:off x="10058400" y="3931920"/>
            <a:ext cx="1600200" cy="1737360"/>
          </a:xfrm>
          <a:prstGeom prst="roundRect">
            <a:avLst>
              <a:gd name="adj" fmla="val 6857"/>
            </a:avLst>
          </a:prstGeom>
          <a:solidFill>
            <a:schemeClr val="bg1"/>
          </a:solidFill>
          <a:ln w="12700">
            <a:solidFill>
              <a:schemeClr val="bg1"/>
            </a:solidFill>
            <a:prstDash val="solid"/>
          </a:ln>
        </p:spPr>
      </p:sp>
      <p:pic>
        <p:nvPicPr>
          <p:cNvPr id="19" name="Image 3" descr="QR code to the repository">    </p:cNvPr>
          <p:cNvPicPr>
            <a:picLocks noChangeAspect="1"/>
          </p:cNvPicPr>
          <p:nvPr/>
        </p:nvPicPr>
        <p:blipFill>
          <a:blip r:embed="rId4"/>
          <a:stretch>
            <a:fillRect/>
          </a:stretch>
        </p:blipFill>
        <p:spPr>
          <a:xfrm>
            <a:off x="10149840" y="4005072"/>
            <a:ext cx="1417320" cy="1417320"/>
          </a:xfrm>
          <a:prstGeom prst="rect">
            <a:avLst/>
          </a:prstGeom>
        </p:spPr>
      </p:pic>
      <p:sp>
        <p:nvSpPr>
          <p:cNvPr id="20" name="Text 14"/>
          <p:cNvSpPr txBox="1"/>
          <p:nvPr/>
        </p:nvSpPr>
        <p:spPr>
          <a:xfrm>
            <a:off x="10058400" y="5440680"/>
            <a:ext cx="1600200" cy="228600"/>
          </a:xfrm>
          <a:prstGeom prst="rect">
            <a:avLst/>
          </a:prstGeom>
          <a:noFill/>
          <a:ln/>
        </p:spPr>
        <p:txBody>
          <a:bodyPr wrap="square" lIns="0" tIns="0" rIns="0" bIns="0" rtlCol="0" anchor="ctr"/>
          <a:lstStyle/>
          <a:p>
            <a:pPr algn="ctr" indent="0" marL="0">
              <a:buNone/>
            </a:pPr>
            <a:r>
              <a:rPr lang="en-US" sz="900" dirty="0">
                <a:solidFill>
                  <a:schemeClr val="tx1"/>
                </a:solidFill>
                <a:latin typeface="Calibri" pitchFamily="34" charset="0"/>
                <a:ea typeface="Calibri" pitchFamily="34" charset="-122"/>
                <a:cs typeface="Calibri" pitchFamily="34" charset="-120"/>
              </a:rPr>
              <a:t>Scan for code and video</a:t>
            </a:r>
            <a:endParaRPr lang="en-US" sz="900" dirty="0"/>
          </a:p>
        </p:txBody>
      </p:sp>
      <p:sp>
        <p:nvSpPr>
          <p:cNvPr id="21" name="Text 15"/>
          <p:cNvSpPr txBox="1"/>
          <p:nvPr/>
        </p:nvSpPr>
        <p:spPr>
          <a:xfrm>
            <a:off x="640080" y="5897880"/>
            <a:ext cx="9144000" cy="45720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Maitri. The friend who tells the family what to do now.</a:t>
            </a:r>
            <a:endParaRPr lang="en-US" sz="2000" dirty="0"/>
          </a:p>
        </p:txBody>
      </p:sp>
      <p:sp>
        <p:nvSpPr>
          <p:cNvPr id="22" name="Text 16"/>
          <p:cNvSpPr txBox="1"/>
          <p:nvPr/>
        </p:nvSpPr>
        <p:spPr>
          <a:xfrm>
            <a:off x="640080" y="6355080"/>
            <a:ext cx="10058400" cy="274320"/>
          </a:xfrm>
          <a:prstGeom prst="rect">
            <a:avLst/>
          </a:prstGeom>
          <a:noFill/>
          <a:ln/>
        </p:spPr>
        <p:txBody>
          <a:bodyPr wrap="square" lIns="0" tIns="0" rIns="0" bIns="0" rtlCol="0" anchor="ctr"/>
          <a:lstStyle/>
          <a:p>
            <a:pPr indent="0" marL="0">
              <a:buNone/>
            </a:pPr>
            <a:r>
              <a:rPr lang="en-US" sz="1100" dirty="0">
                <a:solidFill>
                  <a:schemeClr val="accent6"/>
                </a:solidFill>
                <a:latin typeface="Calibri" pitchFamily="34" charset="0"/>
                <a:ea typeface="Calibri" pitchFamily="34" charset="-122"/>
                <a:cs typeface="Calibri" pitchFamily="34" charset="-120"/>
              </a:rPr>
              <a:t>Education tool. Does not diagnose. Rules are a draft, not yet reviewed by a doctor.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Sources and credits</a:t>
            </a:r>
            <a:endParaRPr lang="en-US" sz="3600" dirty="0"/>
          </a:p>
        </p:txBody>
      </p:sp>
      <p:sp>
        <p:nvSpPr>
          <p:cNvPr id="3" name="Text 1"/>
          <p:cNvSpPr txBox="1"/>
          <p:nvPr/>
        </p:nvSpPr>
        <p:spPr>
          <a:xfrm>
            <a:off x="548640" y="1463040"/>
            <a:ext cx="1106424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MoHFW Mother and Child Protection card  |  HBNC leaflet  |  WHO essential practice guide, chapters B and D</a:t>
            </a:r>
            <a:endParaRPr lang="en-US" sz="1600" dirty="0"/>
          </a:p>
          <a:p>
            <a:pPr marL="342900" indent="-342900">
              <a:spcAft>
                <a:spcPts val="1000"/>
              </a:spcAft>
              <a:buSzPct val="100000"/>
              <a:buChar char="•"/>
            </a:pPr>
            <a:r>
              <a:rPr lang="en-US" sz="1600" dirty="0">
                <a:solidFill>
                  <a:schemeClr val="bg2"/>
                </a:solidFill>
              </a:rPr>
              <a:t>JSSK guidelines (NHM)  |  PIB note on Tele-MANAS 14416</a:t>
            </a:r>
            <a:endParaRPr lang="en-US" sz="1600" dirty="0"/>
          </a:p>
          <a:p>
            <a:pPr marL="342900" indent="-342900">
              <a:spcAft>
                <a:spcPts val="1000"/>
              </a:spcAft>
              <a:buSzPct val="100000"/>
              <a:buChar char="•"/>
            </a:pPr>
            <a:r>
              <a:rPr lang="en-US" sz="1600" dirty="0">
                <a:solidFill>
                  <a:schemeClr val="bg2"/>
                </a:solidFill>
              </a:rPr>
              <a:t>NFHS-6 findings and SRS maternal mortality bulletin 2021-23 (secondary coverage, labelled in the repository)</a:t>
            </a:r>
            <a:endParaRPr lang="en-US" sz="1600" dirty="0"/>
          </a:p>
          <a:p>
            <a:pPr marL="342900" indent="-342900">
              <a:spcAft>
                <a:spcPts val="1000"/>
              </a:spcAft>
              <a:buSzPct val="100000"/>
              <a:buChar char="•"/>
            </a:pPr>
            <a:r>
              <a:rPr lang="en-US" sz="1600" dirty="0">
                <a:solidFill>
                  <a:schemeClr val="bg2"/>
                </a:solidFill>
              </a:rPr>
              <a:t>BMC Pregnancy and Childbirth 2019 delay study  |  Cochrane 2020 mobile messaging review  |  Kenya PROMPTS trial</a:t>
            </a:r>
            <a:endParaRPr lang="en-US" sz="1600" dirty="0"/>
          </a:p>
          <a:p>
            <a:pPr marL="342900" indent="-342900">
              <a:spcAft>
                <a:spcPts val="1000"/>
              </a:spcAft>
              <a:buSzPct val="100000"/>
              <a:buChar char="•"/>
            </a:pPr>
            <a:r>
              <a:rPr lang="en-US" sz="1600" dirty="0">
                <a:solidFill>
                  <a:schemeClr val="bg2"/>
                </a:solidFill>
              </a:rPr>
              <a:t>Built with React, TypeScript, Vite, Vitest, PGlite (tests), Supabase client. Fonts: Yatra One and Mukta (SIL OFL). Pictograms drawn for this project.</a:t>
            </a:r>
            <a:endParaRPr lang="en-US" sz="1600" dirty="0"/>
          </a:p>
          <a:p>
            <a:pPr marL="342900" indent="-342900">
              <a:spcAft>
                <a:spcPts val="1000"/>
              </a:spcAft>
              <a:buSzPct val="100000"/>
              <a:buChar char="•"/>
            </a:pPr>
            <a:r>
              <a:rPr lang="en-US" sz="1600" dirty="0">
                <a:solidFill>
                  <a:schemeClr val="bg2"/>
                </a:solidFill>
              </a:rPr>
              <a:t>AI assistance: built with Claude Code. The team is responsible for all content.</a:t>
            </a:r>
            <a:endParaRPr lang="en-US" sz="1600" dirty="0"/>
          </a:p>
        </p:txBody>
      </p:sp>
      <p:sp>
        <p:nvSpPr>
          <p:cNvPr id="4" name="Text 2"/>
          <p:cNvSpPr txBox="1"/>
          <p:nvPr/>
        </p:nvSpPr>
        <p:spPr>
          <a:xfrm>
            <a:off x="548640" y="5394960"/>
            <a:ext cx="731520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libri" pitchFamily="34" charset="0"/>
                <a:ea typeface="Calibri" pitchFamily="34" charset="-122"/>
                <a:cs typeface="Calibri" pitchFamily="34" charset="-120"/>
              </a:rPr>
              <a:t>github.com/aafreenzy/maitri</a:t>
            </a:r>
            <a:endParaRPr lang="en-US" sz="2400" dirty="0"/>
          </a:p>
        </p:txBody>
      </p:sp>
      <p:sp>
        <p:nvSpPr>
          <p:cNvPr id="5" name="Text 3"/>
          <p:cNvSpPr txBox="1"/>
          <p:nvPr/>
        </p:nvSpPr>
        <p:spPr>
          <a:xfrm>
            <a:off x="548640" y="5989320"/>
            <a:ext cx="10972800" cy="32004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Education tool. Does not diagnose. Rules are a draft, not reviewed by a doctor.</a:t>
            </a:r>
            <a:endParaRPr lang="en-US" sz="1400" dirty="0"/>
          </a:p>
        </p:txBody>
      </p:sp>
    </p:spTree>
  </p:cSld>
  <p:clrMapOvr>
    <a:masterClrMapping/>
  </p:clrMapOvr>
</p:sld>
</file>

<file path=ppt/theme/theme1.xml><?xml version="1.0" encoding="utf-8"?>
<a:theme xmlns:a="http://schemas.openxmlformats.org/drawingml/2006/main" name="Maitri">
  <a:themeElements>
    <a:clrScheme name="Maitri">
      <a:dk1>
        <a:srgbClr val="111B38"/>
      </a:dk1>
      <a:lt1>
        <a:srgbClr val="FFFFFF"/>
      </a:lt1>
      <a:dk2>
        <a:srgbClr val="23358A"/>
      </a:dk2>
      <a:lt2>
        <a:srgbClr val="E6EEF6"/>
      </a:lt2>
      <a:accent1>
        <a:srgbClr val="F7B500"/>
      </a:accent1>
      <a:accent2>
        <a:srgbClr val="C4122F"/>
      </a:accent2>
      <a:accent3>
        <a:srgbClr val="0F7A6B"/>
      </a:accent3>
      <a:accent4>
        <a:srgbClr val="23358A"/>
      </a:accent4>
      <a:accent5>
        <a:srgbClr val="4A5878"/>
      </a:accent5>
      <a:accent6>
        <a:srgbClr val="8FA3C8"/>
      </a:accent6>
      <a:hlink>
        <a:srgbClr val="23358A"/>
      </a:hlink>
      <a:folHlink>
        <a:srgbClr val="4A5878"/>
      </a:folHlink>
    </a:clrScheme>
    <a:fontScheme name="Maitr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Maitri - recHERsion 2026</dc:title>
  <dc:subject>PptxGenJS Presentation</dc:subject>
  <dc:creator>Team Decyphers</dc:creator>
  <cp:lastModifiedBy>Team Decyphers</cp:lastModifiedBy>
  <cp:revision>1</cp:revision>
  <dcterms:created xsi:type="dcterms:W3CDTF">2026-10-25T15:04:33Z</dcterms:created>
  <dcterms:modified xsi:type="dcterms:W3CDTF">2026-10-25T15:04:33Z</dcterms:modified>
</cp:coreProperties>
</file>