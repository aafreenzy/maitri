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Maitri means friendship. Open with one sentence: it is 11:40 at night and nobody in the room knows if this is an emergency. Three words to remember: speak it, see why, call at once. Introduce the team: Aafreen Khan, team leader, Aastha Pandya and Prisha Sharma.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in two sentences, slowly; say it is illustrative. Then the numbers, exactly: 25.2M registered births (secondary). 48.6% is one West Bengal hospital study, not national, and is verified. One in three is derived from NFHS-6 coverage. Never present these as lives saved. The classic three delays are recognise, decide, reach; Maitri works on the first two. The problem in one line: the family does not lack a hospital, they lack a clear next step in the first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the alternatives: a helpline gives real advice in Hindi and a card is printed and auditable. The gap is that none of them works offline, speaks with the family, shows its reasoning and hands a summary to the ASHA, together. This is our assessment from limited searching; we do not claim to be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proposition in one line: other tools tell a woman what her symptoms might mean; Maitri tells her family what to do in the next ten minutes, and shows exactly why. The next three slides show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1: voice. Speech-to-text uses the phone browser's own speech recognition (Hindi and English); on Chrome it may send audio to the browser vendor and the app says so; it needs internet on most phones. Text-to-speech uses a recorded clip if present, otherwise the phone's own Hindi voice; no recorded clips are shipped yet. A spoken No is confirmed because a misheard Yes only over-escalates while a misheard No could hide a sign. Tapping always works. USP 2: the emergency call is the first control on the first screen; one RED sign ends the check. A browser cannot dial without a tap, so the call link is the biggest control. Only 14416 is a confirmed number; the Trust page shows the status of the others. The three levels are our own design based on the MCP card and WHO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3: every verdict is traceable. The Why panel lists each rule that applied, its source and reliability. An independent Python implementation agrees on all 46 rule cases and on 12,420 generated answer sets. No clinician has reviewed the rules yet and the app says so. USP 4: the go-now plan targets the decision delay. The slip carries what she told so the ASHA or doctor does not re-ask while she is in distress. Sharing asks for consent first; nothing leaves the phone before she chooses.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5. The three results are shown here in greyscale: the word and the shape carry the level, not only the colour. Offline use was verified in a browser with the network cut. No account is needed; Exit now clears every key and leaves. The language test fails on English words in Hindi or Hindi text in English, including accessibility labels. An axe audit and a 15-screen small-screen audit are recorded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red tile out loud: no clinician has reviewed the rules yet. Tests check the code matches the rule table; they are not clinical validation. Voice is tested with a simulated recogniser. No recorded voice clips are shipped, so text-to-speech depends on the phone having a Hindi voice. No machine-learning model decides anything. The optional cloud part is built and tested in a local Postgres and a simulated client; it is not connected to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blocks real use is people, not code: a named clinician reviewer, native reviewers for each language and a district health mission for a pilot. Funding is a proposal: the check is a public-health tool and stays free. Revenue would come from deployments, grants and CSR, and paid services around an open core. No data is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the ask, then pause. Every minute counts; Maitri makes the next one clear. Three things we need: a clinician reviewer, an ASHA district for a pilot, and language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E6EEF6"/>
        </a:solidFill>
      </p:bgPr>
    </p:bg>
    <p:spTree>
      <p:nvGrpSpPr>
        <p:cNvPr id="1" name=""/>
        <p:cNvGrpSpPr/>
        <p:nvPr/>
      </p:nvGrpSpPr>
      <p:grpSpPr>
        <a:xfrm>
          <a:off x="0" y="0"/>
          <a:ext cx="0" cy="0"/>
          <a:chOff x="0" y="0"/>
          <a:chExt cx="0" cy="0"/>
        </a:xfrm>
      </p:grpSpPr>
      <p:sp>
        <p:nvSpPr>
          <p:cNvPr id="2" name="Text 0"/>
          <p:cNvSpPr/>
          <p:nvPr/>
        </p:nvSpPr>
        <p:spPr>
          <a:xfrm>
            <a:off x="548640" y="644652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Maitri  |  recHERsion 2026</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B38"/>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EAL">
    <p:bg>
      <p:bgPr>
        <a:solidFill>
          <a:srgbClr val="0F7A6B"/>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IL">
    <p:bg>
      <p:bgPr>
        <a:solidFill>
          <a:srgbClr val="23358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slideLayout" Target="../slideLayouts/slideLayout2.xml"/><Relationship Id="rId2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6400800" cy="1463040"/>
          </a:xfrm>
          <a:prstGeom prst="rect">
            <a:avLst/>
          </a:prstGeom>
          <a:noFill/>
          <a:ln/>
        </p:spPr>
        <p:txBody>
          <a:bodyPr wrap="square" lIns="0" tIns="0" rIns="0" bIns="0" rtlCol="0" anchor="ctr"/>
          <a:lstStyle/>
          <a:p>
            <a:pPr indent="0" marL="0">
              <a:buNone/>
            </a:pPr>
            <a:r>
              <a:rPr lang="en-US" sz="9600" b="1" dirty="0">
                <a:solidFill>
                  <a:schemeClr val="bg1"/>
                </a:solidFill>
                <a:latin typeface="Cambria" pitchFamily="34" charset="0"/>
                <a:ea typeface="Cambria" pitchFamily="34" charset="-122"/>
                <a:cs typeface="Cambria" pitchFamily="34" charset="-120"/>
              </a:rPr>
              <a:t>Maitri</a:t>
            </a:r>
            <a:endParaRPr lang="en-US" sz="9600" dirty="0"/>
          </a:p>
        </p:txBody>
      </p:sp>
      <p:sp>
        <p:nvSpPr>
          <p:cNvPr id="3" name="Text 1"/>
          <p:cNvSpPr txBox="1"/>
          <p:nvPr/>
        </p:nvSpPr>
        <p:spPr>
          <a:xfrm>
            <a:off x="640080" y="2377440"/>
            <a:ext cx="6035040" cy="1097280"/>
          </a:xfrm>
          <a:prstGeom prst="rect">
            <a:avLst/>
          </a:prstGeom>
          <a:noFill/>
          <a:ln/>
        </p:spPr>
        <p:txBody>
          <a:bodyPr wrap="square" lIns="0" tIns="0" rIns="0" bIns="0" rtlCol="0" anchor="t"/>
          <a:lstStyle/>
          <a:p>
            <a:pPr indent="0" marL="0">
              <a:buNone/>
            </a:pPr>
            <a:r>
              <a:rPr lang="en-US" sz="3000" dirty="0">
                <a:solidFill>
                  <a:schemeClr val="bg1"/>
                </a:solidFill>
                <a:latin typeface="Calibri" pitchFamily="34" charset="0"/>
                <a:ea typeface="Calibri" pitchFamily="34" charset="-122"/>
                <a:cs typeface="Calibri" pitchFamily="34" charset="-120"/>
              </a:rPr>
              <a:t>The friend who answers when it matters most.</a:t>
            </a:r>
            <a:endParaRPr lang="en-US" sz="3000" dirty="0"/>
          </a:p>
        </p:txBody>
      </p:sp>
      <p:sp>
        <p:nvSpPr>
          <p:cNvPr id="4" name="Text 2"/>
          <p:cNvSpPr txBox="1"/>
          <p:nvPr/>
        </p:nvSpPr>
        <p:spPr>
          <a:xfrm>
            <a:off x="640080" y="3520440"/>
            <a:ext cx="6035040" cy="640080"/>
          </a:xfrm>
          <a:prstGeom prst="rect">
            <a:avLst/>
          </a:prstGeom>
          <a:noFill/>
          <a:ln/>
        </p:spPr>
        <p:txBody>
          <a:bodyPr wrap="square" lIns="0" tIns="0" rIns="0" bIns="0" rtlCol="0" anchor="t"/>
          <a:lstStyle/>
          <a:p>
            <a:pPr indent="0" marL="0">
              <a:buNone/>
            </a:pPr>
            <a:r>
              <a:rPr lang="en-US" sz="1700" dirty="0">
                <a:solidFill>
                  <a:schemeClr val="bg2"/>
                </a:solidFill>
                <a:latin typeface="Calibri" pitchFamily="34" charset="0"/>
                <a:ea typeface="Calibri" pitchFamily="34" charset="-122"/>
                <a:cs typeface="Calibri" pitchFamily="34" charset="-120"/>
              </a:rPr>
              <a:t>Voice-first maternal emergency guidance for every family</a:t>
            </a:r>
            <a:endParaRPr lang="en-US" sz="1700" dirty="0"/>
          </a:p>
        </p:txBody>
      </p:sp>
      <p:sp>
        <p:nvSpPr>
          <p:cNvPr id="5" name="Text 3"/>
          <p:cNvSpPr txBox="1"/>
          <p:nvPr/>
        </p:nvSpPr>
        <p:spPr>
          <a:xfrm>
            <a:off x="640080" y="4160520"/>
            <a:ext cx="603504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libri" pitchFamily="34" charset="0"/>
                <a:ea typeface="Calibri" pitchFamily="34" charset="-122"/>
                <a:cs typeface="Calibri" pitchFamily="34" charset="-120"/>
              </a:rPr>
              <a:t>Speak it. See why. Call at once.</a:t>
            </a:r>
            <a:endParaRPr lang="en-US" sz="2200" dirty="0"/>
          </a:p>
        </p:txBody>
      </p:sp>
      <p:sp>
        <p:nvSpPr>
          <p:cNvPr id="6" name="Red"/>
          <p:cNvSpPr/>
          <p:nvPr/>
        </p:nvSpPr>
        <p:spPr>
          <a:xfrm>
            <a:off x="640080" y="4754880"/>
            <a:ext cx="457200" cy="457200"/>
          </a:xfrm>
          <a:prstGeom prst="octagon">
            <a:avLst/>
          </a:prstGeom>
          <a:solidFill>
            <a:schemeClr val="accent2"/>
          </a:solidFill>
          <a:ln w="25400">
            <a:solidFill>
              <a:schemeClr val="tx1"/>
            </a:solidFill>
            <a:prstDash val="solid"/>
          </a:ln>
        </p:spPr>
      </p:sp>
      <p:sp>
        <p:nvSpPr>
          <p:cNvPr id="7" name="Amber"/>
          <p:cNvSpPr/>
          <p:nvPr/>
        </p:nvSpPr>
        <p:spPr>
          <a:xfrm>
            <a:off x="1280160" y="4754880"/>
            <a:ext cx="457200" cy="457200"/>
          </a:xfrm>
          <a:prstGeom prst="triangle">
            <a:avLst/>
          </a:prstGeom>
          <a:solidFill>
            <a:schemeClr val="accent1"/>
          </a:solidFill>
          <a:ln w="25400">
            <a:solidFill>
              <a:schemeClr val="tx1"/>
            </a:solidFill>
            <a:prstDash val="solid"/>
          </a:ln>
        </p:spPr>
      </p:sp>
      <p:sp>
        <p:nvSpPr>
          <p:cNvPr id="8" name="Green"/>
          <p:cNvSpPr/>
          <p:nvPr/>
        </p:nvSpPr>
        <p:spPr>
          <a:xfrm>
            <a:off x="1920240" y="4754880"/>
            <a:ext cx="457200" cy="457200"/>
          </a:xfrm>
          <a:prstGeom prst="ellipse">
            <a:avLst/>
          </a:prstGeom>
          <a:solidFill>
            <a:schemeClr val="accent3"/>
          </a:solidFill>
          <a:ln w="25400">
            <a:solidFill>
              <a:schemeClr val="tx1"/>
            </a:solidFill>
            <a:prstDash val="solid"/>
          </a:ln>
        </p:spPr>
      </p:sp>
      <p:sp>
        <p:nvSpPr>
          <p:cNvPr id="9" name="Text 7"/>
          <p:cNvSpPr txBox="1"/>
          <p:nvPr/>
        </p:nvSpPr>
        <p:spPr>
          <a:xfrm>
            <a:off x="640080" y="5394960"/>
            <a:ext cx="6400800" cy="411480"/>
          </a:xfrm>
          <a:prstGeom prst="rect">
            <a:avLst/>
          </a:prstGeom>
          <a:noFill/>
          <a:ln/>
        </p:spPr>
        <p:txBody>
          <a:bodyPr wrap="square" lIns="0" tIns="0" rIns="0" bIns="0" rtlCol="0" anchor="ctr"/>
          <a:lstStyle/>
          <a:p>
            <a:pPr indent="0" marL="0">
              <a:buNone/>
            </a:pPr>
            <a:r>
              <a:rPr lang="en-US" sz="2200" b="1" dirty="0">
                <a:solidFill>
                  <a:schemeClr val="bg1"/>
                </a:solidFill>
                <a:latin typeface="Calibri" pitchFamily="34" charset="0"/>
                <a:ea typeface="Calibri" pitchFamily="34" charset="-122"/>
                <a:cs typeface="Calibri" pitchFamily="34" charset="-120"/>
              </a:rPr>
              <a:t>Team Decyphers</a:t>
            </a:r>
            <a:endParaRPr lang="en-US" sz="2200" dirty="0"/>
          </a:p>
        </p:txBody>
      </p:sp>
      <p:sp>
        <p:nvSpPr>
          <p:cNvPr id="10" name="Text 8"/>
          <p:cNvSpPr txBox="1"/>
          <p:nvPr/>
        </p:nvSpPr>
        <p:spPr>
          <a:xfrm>
            <a:off x="640080" y="5806440"/>
            <a:ext cx="640080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Aafreen Khan (team leader)  |  Aastha Pandya  |  Prisha Sharma</a:t>
            </a:r>
            <a:endParaRPr lang="en-US" sz="1500" dirty="0"/>
          </a:p>
        </p:txBody>
      </p:sp>
      <p:sp>
        <p:nvSpPr>
          <p:cNvPr id="11" name="Text 9"/>
          <p:cNvSpPr txBox="1"/>
          <p:nvPr/>
        </p:nvSpPr>
        <p:spPr>
          <a:xfrm>
            <a:off x="640080" y="6217920"/>
            <a:ext cx="6400800" cy="320040"/>
          </a:xfrm>
          <a:prstGeom prst="rect">
            <a:avLst/>
          </a:prstGeom>
          <a:noFill/>
          <a:ln/>
        </p:spPr>
        <p:txBody>
          <a:bodyPr wrap="square" lIns="0" tIns="0" rIns="0" bIns="0" rtlCol="0" anchor="ctr"/>
          <a:lstStyle/>
          <a:p>
            <a:pPr indent="0" marL="0">
              <a:buNone/>
            </a:pPr>
            <a:r>
              <a:rPr lang="en-US" sz="1300" dirty="0">
                <a:solidFill>
                  <a:schemeClr val="accent6"/>
                </a:solidFill>
                <a:latin typeface="Calibri" pitchFamily="34" charset="0"/>
                <a:ea typeface="Calibri" pitchFamily="34" charset="-122"/>
                <a:cs typeface="Calibri" pitchFamily="34" charset="-120"/>
              </a:rPr>
              <a:t>recHERsion 2026  |  Problem Statement 1: Women's Healthcare</a:t>
            </a:r>
            <a:endParaRPr lang="en-US" sz="1300" dirty="0"/>
          </a:p>
        </p:txBody>
      </p:sp>
      <p:pic>
        <p:nvPicPr>
          <p:cNvPr id="12" name="Image 0" descr="Maitri app screen: red">    </p:cNvPr>
          <p:cNvPicPr>
            <a:picLocks noChangeAspect="1"/>
          </p:cNvPicPr>
          <p:nvPr/>
        </p:nvPicPr>
        <p:blipFill>
          <a:blip r:embed="rId1"/>
          <a:stretch>
            <a:fillRect/>
          </a:stretch>
        </p:blipFill>
        <p:spPr>
          <a:xfrm>
            <a:off x="6858000" y="502920"/>
            <a:ext cx="2560320" cy="4983924"/>
          </a:xfrm>
          <a:prstGeom prst="rect">
            <a:avLst/>
          </a:prstGeom>
        </p:spPr>
      </p:pic>
      <p:pic>
        <p:nvPicPr>
          <p:cNvPr id="13" name="Image 1" descr="Maitri app screen: voice-review">    </p:cNvPr>
          <p:cNvPicPr>
            <a:picLocks noChangeAspect="1"/>
          </p:cNvPicPr>
          <p:nvPr/>
        </p:nvPicPr>
        <p:blipFill>
          <a:blip r:embed="rId2"/>
          <a:stretch>
            <a:fillRect/>
          </a:stretch>
        </p:blipFill>
        <p:spPr>
          <a:xfrm>
            <a:off x="9372600" y="1325880"/>
            <a:ext cx="2560320" cy="49839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57200"/>
            <a:ext cx="548640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libri" pitchFamily="34" charset="0"/>
                <a:ea typeface="Calibri" pitchFamily="34" charset="-122"/>
                <a:cs typeface="Calibri" pitchFamily="34" charset="-120"/>
              </a:rPr>
              <a:t>11:40 pm</a:t>
            </a:r>
            <a:endParaRPr lang="en-US" sz="2400" dirty="0"/>
          </a:p>
        </p:txBody>
      </p:sp>
      <p:sp>
        <p:nvSpPr>
          <p:cNvPr id="3" name="Text 1"/>
          <p:cNvSpPr txBox="1"/>
          <p:nvPr/>
        </p:nvSpPr>
        <p:spPr>
          <a:xfrm>
            <a:off x="640080" y="960120"/>
            <a:ext cx="6309360" cy="173736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Six hours after the birth, the bleeding has not stopped.</a:t>
            </a:r>
            <a:endParaRPr lang="en-US" sz="3600" dirty="0"/>
          </a:p>
        </p:txBody>
      </p:sp>
      <p:sp>
        <p:nvSpPr>
          <p:cNvPr id="4" name="Text 2"/>
          <p:cNvSpPr txBox="1"/>
          <p:nvPr/>
        </p:nvSpPr>
        <p:spPr>
          <a:xfrm>
            <a:off x="640080" y="2788920"/>
            <a:ext cx="6309360" cy="1188720"/>
          </a:xfrm>
          <a:prstGeom prst="rect">
            <a:avLst/>
          </a:prstGeom>
          <a:noFill/>
          <a:ln/>
        </p:spPr>
        <p:txBody>
          <a:bodyPr wrap="square" lIns="0" tIns="0" rIns="0" bIns="0" rtlCol="0" anchor="t"/>
          <a:lstStyle/>
          <a:p>
            <a:pPr indent="0" marL="0">
              <a:buNone/>
            </a:pPr>
            <a:r>
              <a:rPr lang="en-US" sz="1800" dirty="0">
                <a:solidFill>
                  <a:schemeClr val="bg2"/>
                </a:solidFill>
                <a:latin typeface="Calibri" pitchFamily="34" charset="0"/>
                <a:ea typeface="Calibri" pitchFamily="34" charset="-122"/>
                <a:cs typeface="Calibri" pitchFamily="34" charset="-120"/>
              </a:rPr>
              <a:t>Her husband holds the phone. Her mother-in-law says wait for morning. Nobody in the room knows if this is normal.</a:t>
            </a:r>
            <a:endParaRPr lang="en-US" sz="1800" dirty="0"/>
          </a:p>
        </p:txBody>
      </p:sp>
      <p:sp>
        <p:nvSpPr>
          <p:cNvPr id="5" name="Text 3"/>
          <p:cNvSpPr txBox="1"/>
          <p:nvPr/>
        </p:nvSpPr>
        <p:spPr>
          <a:xfrm>
            <a:off x="640080" y="4114800"/>
            <a:ext cx="5486400" cy="274320"/>
          </a:xfrm>
          <a:prstGeom prst="rect">
            <a:avLst/>
          </a:prstGeom>
          <a:noFill/>
          <a:ln/>
        </p:spPr>
        <p:txBody>
          <a:bodyPr wrap="square" lIns="0" tIns="0" rIns="0" bIns="0" rtlCol="0" anchor="ctr"/>
          <a:lstStyle/>
          <a:p>
            <a:pPr indent="0" marL="0">
              <a:buNone/>
            </a:pPr>
            <a:r>
              <a:rPr lang="en-US" sz="1100" i="1" dirty="0">
                <a:solidFill>
                  <a:schemeClr val="accent6"/>
                </a:solidFill>
                <a:latin typeface="Calibri" pitchFamily="34" charset="0"/>
                <a:ea typeface="Calibri" pitchFamily="34" charset="-122"/>
                <a:cs typeface="Calibri" pitchFamily="34" charset="-120"/>
              </a:rPr>
              <a:t>Illustrative scene, not a real person.</a:t>
            </a:r>
            <a:endParaRPr lang="en-US" sz="1100" dirty="0"/>
          </a:p>
        </p:txBody>
      </p:sp>
      <p:sp>
        <p:nvSpPr>
          <p:cNvPr id="6" name="Stat tile 1"/>
          <p:cNvSpPr/>
          <p:nvPr/>
        </p:nvSpPr>
        <p:spPr>
          <a:xfrm>
            <a:off x="7315200" y="457200"/>
            <a:ext cx="4297680" cy="1234440"/>
          </a:xfrm>
          <a:prstGeom prst="roundRect">
            <a:avLst>
              <a:gd name="adj" fmla="val 8889"/>
            </a:avLst>
          </a:prstGeom>
          <a:solidFill>
            <a:schemeClr val="tx2"/>
          </a:solidFill>
          <a:ln w="12700">
            <a:solidFill>
              <a:schemeClr val="tx2"/>
            </a:solidFill>
            <a:prstDash val="solid"/>
          </a:ln>
        </p:spPr>
      </p:sp>
      <p:sp>
        <p:nvSpPr>
          <p:cNvPr id="7" name="Text 5"/>
          <p:cNvSpPr txBox="1"/>
          <p:nvPr/>
        </p:nvSpPr>
        <p:spPr>
          <a:xfrm>
            <a:off x="7498080" y="457200"/>
            <a:ext cx="1737360" cy="123444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25.2M</a:t>
            </a:r>
            <a:endParaRPr lang="en-US" sz="3600" dirty="0"/>
          </a:p>
        </p:txBody>
      </p:sp>
      <p:sp>
        <p:nvSpPr>
          <p:cNvPr id="8" name="Text 6"/>
          <p:cNvSpPr txBox="1"/>
          <p:nvPr/>
        </p:nvSpPr>
        <p:spPr>
          <a:xfrm>
            <a:off x="9281160" y="566928"/>
            <a:ext cx="2194560" cy="731520"/>
          </a:xfrm>
          <a:prstGeom prst="rect">
            <a:avLst/>
          </a:prstGeom>
          <a:noFill/>
          <a:ln/>
        </p:spPr>
        <p:txBody>
          <a:bodyPr wrap="square" lIns="0" tIns="0" rIns="0" bIns="0" rtlCol="0" anchor="t"/>
          <a:lstStyle/>
          <a:p>
            <a:pPr indent="0" marL="0">
              <a:buNone/>
            </a:pPr>
            <a:r>
              <a:rPr lang="en-US" sz="1200" dirty="0">
                <a:solidFill>
                  <a:schemeClr val="bg1"/>
                </a:solidFill>
                <a:latin typeface="Calibri" pitchFamily="34" charset="0"/>
                <a:ea typeface="Calibri" pitchFamily="34" charset="-122"/>
                <a:cs typeface="Calibri" pitchFamily="34" charset="-120"/>
              </a:rPr>
              <a:t>births a year in India</a:t>
            </a:r>
            <a:endParaRPr lang="en-US" sz="1200" dirty="0"/>
          </a:p>
        </p:txBody>
      </p:sp>
      <p:sp>
        <p:nvSpPr>
          <p:cNvPr id="9" name="Text 7"/>
          <p:cNvSpPr txBox="1"/>
          <p:nvPr/>
        </p:nvSpPr>
        <p:spPr>
          <a:xfrm>
            <a:off x="9281160" y="1371600"/>
            <a:ext cx="219456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Secondary source</a:t>
            </a:r>
            <a:endParaRPr lang="en-US" sz="1000" dirty="0"/>
          </a:p>
        </p:txBody>
      </p:sp>
      <p:sp>
        <p:nvSpPr>
          <p:cNvPr id="10" name="Stat tile 2"/>
          <p:cNvSpPr/>
          <p:nvPr/>
        </p:nvSpPr>
        <p:spPr>
          <a:xfrm>
            <a:off x="7315200" y="1828800"/>
            <a:ext cx="4297680" cy="1234440"/>
          </a:xfrm>
          <a:prstGeom prst="roundRect">
            <a:avLst>
              <a:gd name="adj" fmla="val 8889"/>
            </a:avLst>
          </a:prstGeom>
          <a:solidFill>
            <a:schemeClr val="accent2"/>
          </a:solidFill>
          <a:ln w="12700">
            <a:solidFill>
              <a:schemeClr val="accent2"/>
            </a:solidFill>
            <a:prstDash val="solid"/>
          </a:ln>
        </p:spPr>
      </p:sp>
      <p:sp>
        <p:nvSpPr>
          <p:cNvPr id="11" name="Text 9"/>
          <p:cNvSpPr txBox="1"/>
          <p:nvPr/>
        </p:nvSpPr>
        <p:spPr>
          <a:xfrm>
            <a:off x="7498080" y="1828800"/>
            <a:ext cx="1737360" cy="123444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48.6%</a:t>
            </a:r>
            <a:endParaRPr lang="en-US" sz="3600" dirty="0"/>
          </a:p>
        </p:txBody>
      </p:sp>
      <p:sp>
        <p:nvSpPr>
          <p:cNvPr id="12" name="Text 10"/>
          <p:cNvSpPr txBox="1"/>
          <p:nvPr/>
        </p:nvSpPr>
        <p:spPr>
          <a:xfrm>
            <a:off x="9281160" y="1938528"/>
            <a:ext cx="2194560" cy="731520"/>
          </a:xfrm>
          <a:prstGeom prst="rect">
            <a:avLst/>
          </a:prstGeom>
          <a:noFill/>
          <a:ln/>
        </p:spPr>
        <p:txBody>
          <a:bodyPr wrap="square" lIns="0" tIns="0" rIns="0" bIns="0" rtlCol="0" anchor="t"/>
          <a:lstStyle/>
          <a:p>
            <a:pPr indent="0" marL="0">
              <a:buNone/>
            </a:pPr>
            <a:r>
              <a:rPr lang="en-US" sz="1200" dirty="0">
                <a:solidFill>
                  <a:schemeClr val="bg1"/>
                </a:solidFill>
                <a:latin typeface="Calibri" pitchFamily="34" charset="0"/>
                <a:ea typeface="Calibri" pitchFamily="34" charset="-122"/>
                <a:cs typeface="Calibri" pitchFamily="34" charset="-120"/>
              </a:rPr>
              <a:t>of maternal deaths in one hospital study involved a delay in deciding or seeking care</a:t>
            </a:r>
            <a:endParaRPr lang="en-US" sz="1200" dirty="0"/>
          </a:p>
        </p:txBody>
      </p:sp>
      <p:sp>
        <p:nvSpPr>
          <p:cNvPr id="13" name="Text 11"/>
          <p:cNvSpPr txBox="1"/>
          <p:nvPr/>
        </p:nvSpPr>
        <p:spPr>
          <a:xfrm>
            <a:off x="9281160" y="2743200"/>
            <a:ext cx="219456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Verified, single study</a:t>
            </a:r>
            <a:endParaRPr lang="en-US" sz="1000" dirty="0"/>
          </a:p>
        </p:txBody>
      </p:sp>
      <p:sp>
        <p:nvSpPr>
          <p:cNvPr id="14" name="Stat tile 3"/>
          <p:cNvSpPr/>
          <p:nvPr/>
        </p:nvSpPr>
        <p:spPr>
          <a:xfrm>
            <a:off x="7315200" y="3200400"/>
            <a:ext cx="4297680" cy="1234440"/>
          </a:xfrm>
          <a:prstGeom prst="roundRect">
            <a:avLst>
              <a:gd name="adj" fmla="val 8889"/>
            </a:avLst>
          </a:prstGeom>
          <a:solidFill>
            <a:schemeClr val="tx2"/>
          </a:solidFill>
          <a:ln w="12700">
            <a:solidFill>
              <a:schemeClr val="tx2"/>
            </a:solidFill>
            <a:prstDash val="solid"/>
          </a:ln>
        </p:spPr>
      </p:sp>
      <p:sp>
        <p:nvSpPr>
          <p:cNvPr id="15" name="Text 13"/>
          <p:cNvSpPr txBox="1"/>
          <p:nvPr/>
        </p:nvSpPr>
        <p:spPr>
          <a:xfrm>
            <a:off x="7498080" y="3200400"/>
            <a:ext cx="1737360" cy="123444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1 in 3</a:t>
            </a:r>
            <a:endParaRPr lang="en-US" sz="3600" dirty="0"/>
          </a:p>
        </p:txBody>
      </p:sp>
      <p:sp>
        <p:nvSpPr>
          <p:cNvPr id="16" name="Text 14"/>
          <p:cNvSpPr txBox="1"/>
          <p:nvPr/>
        </p:nvSpPr>
        <p:spPr>
          <a:xfrm>
            <a:off x="9281160" y="3310128"/>
            <a:ext cx="2194560" cy="731520"/>
          </a:xfrm>
          <a:prstGeom prst="rect">
            <a:avLst/>
          </a:prstGeom>
          <a:noFill/>
          <a:ln/>
        </p:spPr>
        <p:txBody>
          <a:bodyPr wrap="square" lIns="0" tIns="0" rIns="0" bIns="0" rtlCol="0" anchor="t"/>
          <a:lstStyle/>
          <a:p>
            <a:pPr indent="0" marL="0">
              <a:buNone/>
            </a:pPr>
            <a:r>
              <a:rPr lang="en-US" sz="1200" dirty="0">
                <a:solidFill>
                  <a:schemeClr val="bg1"/>
                </a:solidFill>
                <a:latin typeface="Calibri" pitchFamily="34" charset="0"/>
                <a:ea typeface="Calibri" pitchFamily="34" charset="-122"/>
                <a:cs typeface="Calibri" pitchFamily="34" charset="-120"/>
              </a:rPr>
              <a:t>women has fewer than four antenatal visits</a:t>
            </a:r>
            <a:endParaRPr lang="en-US" sz="1200" dirty="0"/>
          </a:p>
        </p:txBody>
      </p:sp>
      <p:sp>
        <p:nvSpPr>
          <p:cNvPr id="17" name="Text 15"/>
          <p:cNvSpPr txBox="1"/>
          <p:nvPr/>
        </p:nvSpPr>
        <p:spPr>
          <a:xfrm>
            <a:off x="9281160" y="4114800"/>
            <a:ext cx="219456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Secondary, derived</a:t>
            </a:r>
            <a:endParaRPr lang="en-US" sz="1000" dirty="0"/>
          </a:p>
        </p:txBody>
      </p:sp>
      <p:sp>
        <p:nvSpPr>
          <p:cNvPr id="18" name="Problem band"/>
          <p:cNvSpPr/>
          <p:nvPr/>
        </p:nvSpPr>
        <p:spPr>
          <a:xfrm>
            <a:off x="640080" y="4663440"/>
            <a:ext cx="10972800" cy="1508760"/>
          </a:xfrm>
          <a:prstGeom prst="roundRect">
            <a:avLst>
              <a:gd name="adj" fmla="val 8485"/>
            </a:avLst>
          </a:prstGeom>
          <a:solidFill>
            <a:schemeClr val="accent1"/>
          </a:solidFill>
          <a:ln w="12700">
            <a:solidFill>
              <a:schemeClr val="accent1"/>
            </a:solidFill>
            <a:prstDash val="solid"/>
          </a:ln>
        </p:spPr>
      </p:sp>
      <p:sp>
        <p:nvSpPr>
          <p:cNvPr id="19" name="Text 17"/>
          <p:cNvSpPr txBox="1"/>
          <p:nvPr/>
        </p:nvSpPr>
        <p:spPr>
          <a:xfrm>
            <a:off x="914400" y="4754880"/>
            <a:ext cx="3657600" cy="3200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THE PROBLEM</a:t>
            </a:r>
            <a:endParaRPr lang="en-US" sz="1400" dirty="0"/>
          </a:p>
        </p:txBody>
      </p:sp>
      <p:sp>
        <p:nvSpPr>
          <p:cNvPr id="20" name="Text 18"/>
          <p:cNvSpPr txBox="1"/>
          <p:nvPr/>
        </p:nvSpPr>
        <p:spPr>
          <a:xfrm>
            <a:off x="914400" y="5074920"/>
            <a:ext cx="10424160" cy="100584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A warning sign appears and the family cannot tell if it is routine or an emergency. They wait, argue and call the wrong person. Those lost minutes, before anyone has asked for help, are what we solve.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Why today's options fail the family</a:t>
            </a:r>
            <a:endParaRPr lang="en-US" sz="3600" dirty="0"/>
          </a:p>
        </p:txBody>
      </p:sp>
      <p:sp>
        <p:nvSpPr>
          <p:cNvPr id="3" name="Maitri column highlight"/>
          <p:cNvSpPr/>
          <p:nvPr/>
        </p:nvSpPr>
        <p:spPr>
          <a:xfrm>
            <a:off x="9966960" y="1371600"/>
            <a:ext cx="1783080" cy="4343400"/>
          </a:xfrm>
          <a:prstGeom prst="roundRect">
            <a:avLst>
              <a:gd name="adj" fmla="val 6154"/>
            </a:avLst>
          </a:prstGeom>
          <a:solidFill>
            <a:srgbClr val="FFF3CC"/>
          </a:solidFill>
          <a:ln w="38100">
            <a:solidFill>
              <a:schemeClr val="accent1"/>
            </a:solidFill>
            <a:prstDash val="solid"/>
          </a:ln>
        </p:spPr>
      </p:sp>
      <p:sp>
        <p:nvSpPr>
          <p:cNvPr id="4" name="Text 2"/>
          <p:cNvSpPr txBox="1"/>
          <p:nvPr/>
        </p:nvSpPr>
        <p:spPr>
          <a:xfrm>
            <a:off x="4663440" y="1481328"/>
            <a:ext cx="1691640" cy="457200"/>
          </a:xfrm>
          <a:prstGeom prst="rect">
            <a:avLst/>
          </a:prstGeom>
          <a:noFill/>
          <a:ln/>
        </p:spPr>
        <p:txBody>
          <a:bodyPr wrap="square" lIns="0" tIns="0" rIns="0" bIns="0" rtlCol="0" anchor="ctr"/>
          <a:lstStyle/>
          <a:p>
            <a:pPr algn="ctr" indent="0" marL="0">
              <a:buNone/>
            </a:pPr>
            <a:r>
              <a:rPr lang="en-US" sz="1500" b="1" dirty="0">
                <a:solidFill>
                  <a:schemeClr val="accent5"/>
                </a:solidFill>
                <a:latin typeface="Calibri" pitchFamily="34" charset="0"/>
                <a:ea typeface="Calibri" pitchFamily="34" charset="-122"/>
                <a:cs typeface="Calibri" pitchFamily="34" charset="-120"/>
              </a:rPr>
              <a:t>Paper card</a:t>
            </a:r>
            <a:endParaRPr lang="en-US" sz="1500" dirty="0"/>
          </a:p>
        </p:txBody>
      </p:sp>
      <p:sp>
        <p:nvSpPr>
          <p:cNvPr id="5" name="Text 3"/>
          <p:cNvSpPr txBox="1"/>
          <p:nvPr/>
        </p:nvSpPr>
        <p:spPr>
          <a:xfrm>
            <a:off x="6446520" y="1481328"/>
            <a:ext cx="1691640" cy="457200"/>
          </a:xfrm>
          <a:prstGeom prst="rect">
            <a:avLst/>
          </a:prstGeom>
          <a:noFill/>
          <a:ln/>
        </p:spPr>
        <p:txBody>
          <a:bodyPr wrap="square" lIns="0" tIns="0" rIns="0" bIns="0" rtlCol="0" anchor="ctr"/>
          <a:lstStyle/>
          <a:p>
            <a:pPr algn="ctr" indent="0" marL="0">
              <a:buNone/>
            </a:pPr>
            <a:r>
              <a:rPr lang="en-US" sz="1500" b="1" dirty="0">
                <a:solidFill>
                  <a:schemeClr val="accent5"/>
                </a:solidFill>
                <a:latin typeface="Calibri" pitchFamily="34" charset="0"/>
                <a:ea typeface="Calibri" pitchFamily="34" charset="-122"/>
                <a:cs typeface="Calibri" pitchFamily="34" charset="-120"/>
              </a:rPr>
              <a:t>Helpline</a:t>
            </a:r>
            <a:endParaRPr lang="en-US" sz="1500" dirty="0"/>
          </a:p>
        </p:txBody>
      </p:sp>
      <p:sp>
        <p:nvSpPr>
          <p:cNvPr id="6" name="Text 4"/>
          <p:cNvSpPr txBox="1"/>
          <p:nvPr/>
        </p:nvSpPr>
        <p:spPr>
          <a:xfrm>
            <a:off x="8229600" y="1481328"/>
            <a:ext cx="1691640" cy="457200"/>
          </a:xfrm>
          <a:prstGeom prst="rect">
            <a:avLst/>
          </a:prstGeom>
          <a:noFill/>
          <a:ln/>
        </p:spPr>
        <p:txBody>
          <a:bodyPr wrap="square" lIns="0" tIns="0" rIns="0" bIns="0" rtlCol="0" anchor="ctr"/>
          <a:lstStyle/>
          <a:p>
            <a:pPr algn="ctr" indent="0" marL="0">
              <a:buNone/>
            </a:pPr>
            <a:r>
              <a:rPr lang="en-US" sz="1500" b="1" dirty="0">
                <a:solidFill>
                  <a:schemeClr val="accent5"/>
                </a:solidFill>
                <a:latin typeface="Calibri" pitchFamily="34" charset="0"/>
                <a:ea typeface="Calibri" pitchFamily="34" charset="-122"/>
                <a:cs typeface="Calibri" pitchFamily="34" charset="-120"/>
              </a:rPr>
              <a:t>Symptom chatbot</a:t>
            </a:r>
            <a:endParaRPr lang="en-US" sz="1500" dirty="0"/>
          </a:p>
        </p:txBody>
      </p:sp>
      <p:sp>
        <p:nvSpPr>
          <p:cNvPr id="7" name="Text 5"/>
          <p:cNvSpPr txBox="1"/>
          <p:nvPr/>
        </p:nvSpPr>
        <p:spPr>
          <a:xfrm>
            <a:off x="10012680" y="1481328"/>
            <a:ext cx="1691640" cy="45720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Maitri</a:t>
            </a:r>
            <a:endParaRPr lang="en-US" sz="2000" dirty="0"/>
          </a:p>
        </p:txBody>
      </p:sp>
      <p:sp>
        <p:nvSpPr>
          <p:cNvPr id="8" name="Text 6"/>
          <p:cNvSpPr txBox="1"/>
          <p:nvPr/>
        </p:nvSpPr>
        <p:spPr>
          <a:xfrm>
            <a:off x="548640" y="205740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Works with no internet</a:t>
            </a:r>
            <a:endParaRPr lang="en-US" sz="1800" dirty="0"/>
          </a:p>
        </p:txBody>
      </p:sp>
      <p:sp>
        <p:nvSpPr>
          <p:cNvPr id="9" name="Row rule 0"/>
          <p:cNvSpPr/>
          <p:nvPr/>
        </p:nvSpPr>
        <p:spPr>
          <a:xfrm>
            <a:off x="548640" y="2715768"/>
            <a:ext cx="3931920" cy="0"/>
          </a:xfrm>
          <a:prstGeom prst="line">
            <a:avLst/>
          </a:prstGeom>
          <a:noFill/>
          <a:ln w="12700">
            <a:solidFill>
              <a:srgbClr val="C9D3E3"/>
            </a:solidFill>
            <a:prstDash val="solid"/>
          </a:ln>
        </p:spPr>
      </p:sp>
      <p:sp>
        <p:nvSpPr>
          <p:cNvPr id="10" name="Cell 0-0"/>
          <p:cNvSpPr/>
          <p:nvPr/>
        </p:nvSpPr>
        <p:spPr>
          <a:xfrm>
            <a:off x="5298948" y="2144268"/>
            <a:ext cx="420624" cy="420624"/>
          </a:xfrm>
          <a:prstGeom prst="ellipse">
            <a:avLst/>
          </a:prstGeom>
          <a:solidFill>
            <a:schemeClr val="accent3"/>
          </a:solidFill>
          <a:ln w="12700">
            <a:solidFill>
              <a:schemeClr val="accent3"/>
            </a:solidFill>
            <a:prstDash val="solid"/>
          </a:ln>
        </p:spPr>
      </p:sp>
      <p:pic>
        <p:nvPicPr>
          <p:cNvPr id="11" name="Image 0" descr="yes">    </p:cNvPr>
          <p:cNvPicPr>
            <a:picLocks noChangeAspect="1"/>
          </p:cNvPicPr>
          <p:nvPr/>
        </p:nvPicPr>
        <p:blipFill>
          <a:blip r:embed="rId1"/>
          <a:stretch>
            <a:fillRect/>
          </a:stretch>
        </p:blipFill>
        <p:spPr>
          <a:xfrm>
            <a:off x="5404104" y="2249424"/>
            <a:ext cx="210312" cy="210312"/>
          </a:xfrm>
          <a:prstGeom prst="rect">
            <a:avLst/>
          </a:prstGeom>
        </p:spPr>
      </p:pic>
      <p:sp>
        <p:nvSpPr>
          <p:cNvPr id="12" name="Cell 0-1"/>
          <p:cNvSpPr/>
          <p:nvPr/>
        </p:nvSpPr>
        <p:spPr>
          <a:xfrm>
            <a:off x="7082028" y="2144268"/>
            <a:ext cx="420624" cy="420624"/>
          </a:xfrm>
          <a:prstGeom prst="ellipse">
            <a:avLst/>
          </a:prstGeom>
          <a:solidFill>
            <a:srgbClr val="8C98B0"/>
          </a:solidFill>
          <a:ln w="12700">
            <a:solidFill>
              <a:srgbClr val="8C98B0"/>
            </a:solidFill>
            <a:prstDash val="solid"/>
          </a:ln>
        </p:spPr>
      </p:sp>
      <p:pic>
        <p:nvPicPr>
          <p:cNvPr id="13" name="Image 1" descr="no">    </p:cNvPr>
          <p:cNvPicPr>
            <a:picLocks noChangeAspect="1"/>
          </p:cNvPicPr>
          <p:nvPr/>
        </p:nvPicPr>
        <p:blipFill>
          <a:blip r:embed="rId2"/>
          <a:stretch>
            <a:fillRect/>
          </a:stretch>
        </p:blipFill>
        <p:spPr>
          <a:xfrm>
            <a:off x="7187184" y="2249424"/>
            <a:ext cx="210312" cy="210312"/>
          </a:xfrm>
          <a:prstGeom prst="rect">
            <a:avLst/>
          </a:prstGeom>
        </p:spPr>
      </p:pic>
      <p:sp>
        <p:nvSpPr>
          <p:cNvPr id="14" name="Cell 0-2"/>
          <p:cNvSpPr/>
          <p:nvPr/>
        </p:nvSpPr>
        <p:spPr>
          <a:xfrm>
            <a:off x="8865108" y="2144268"/>
            <a:ext cx="420624" cy="420624"/>
          </a:xfrm>
          <a:prstGeom prst="ellipse">
            <a:avLst/>
          </a:prstGeom>
          <a:solidFill>
            <a:srgbClr val="8C98B0"/>
          </a:solidFill>
          <a:ln w="12700">
            <a:solidFill>
              <a:srgbClr val="8C98B0"/>
            </a:solidFill>
            <a:prstDash val="solid"/>
          </a:ln>
        </p:spPr>
      </p:sp>
      <p:pic>
        <p:nvPicPr>
          <p:cNvPr id="15" name="Image 2" descr="no">    </p:cNvPr>
          <p:cNvPicPr>
            <a:picLocks noChangeAspect="1"/>
          </p:cNvPicPr>
          <p:nvPr/>
        </p:nvPicPr>
        <p:blipFill>
          <a:blip r:embed="rId3"/>
          <a:stretch>
            <a:fillRect/>
          </a:stretch>
        </p:blipFill>
        <p:spPr>
          <a:xfrm>
            <a:off x="8970264" y="2249424"/>
            <a:ext cx="210312" cy="210312"/>
          </a:xfrm>
          <a:prstGeom prst="rect">
            <a:avLst/>
          </a:prstGeom>
        </p:spPr>
      </p:pic>
      <p:sp>
        <p:nvSpPr>
          <p:cNvPr id="16" name="Cell 0-3"/>
          <p:cNvSpPr/>
          <p:nvPr/>
        </p:nvSpPr>
        <p:spPr>
          <a:xfrm>
            <a:off x="10607040" y="2103120"/>
            <a:ext cx="502920" cy="502920"/>
          </a:xfrm>
          <a:prstGeom prst="ellipse">
            <a:avLst/>
          </a:prstGeom>
          <a:solidFill>
            <a:schemeClr val="accent3"/>
          </a:solidFill>
          <a:ln w="12700">
            <a:solidFill>
              <a:schemeClr val="accent3"/>
            </a:solidFill>
            <a:prstDash val="solid"/>
          </a:ln>
        </p:spPr>
      </p:sp>
      <p:pic>
        <p:nvPicPr>
          <p:cNvPr id="17" name="Image 3" descr="yes">    </p:cNvPr>
          <p:cNvPicPr>
            <a:picLocks noChangeAspect="1"/>
          </p:cNvPicPr>
          <p:nvPr/>
        </p:nvPicPr>
        <p:blipFill>
          <a:blip r:embed="rId4"/>
          <a:stretch>
            <a:fillRect/>
          </a:stretch>
        </p:blipFill>
        <p:spPr>
          <a:xfrm>
            <a:off x="10732770" y="2228850"/>
            <a:ext cx="251460" cy="251460"/>
          </a:xfrm>
          <a:prstGeom prst="rect">
            <a:avLst/>
          </a:prstGeom>
        </p:spPr>
      </p:pic>
      <p:sp>
        <p:nvSpPr>
          <p:cNvPr id="18" name="Text 12"/>
          <p:cNvSpPr txBox="1"/>
          <p:nvPr/>
        </p:nvSpPr>
        <p:spPr>
          <a:xfrm>
            <a:off x="548640" y="278892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Hindi: listens and answers aloud</a:t>
            </a:r>
            <a:endParaRPr lang="en-US" sz="1800" dirty="0"/>
          </a:p>
        </p:txBody>
      </p:sp>
      <p:sp>
        <p:nvSpPr>
          <p:cNvPr id="19" name="Row rule 1"/>
          <p:cNvSpPr/>
          <p:nvPr/>
        </p:nvSpPr>
        <p:spPr>
          <a:xfrm>
            <a:off x="548640" y="3447288"/>
            <a:ext cx="3931920" cy="0"/>
          </a:xfrm>
          <a:prstGeom prst="line">
            <a:avLst/>
          </a:prstGeom>
          <a:noFill/>
          <a:ln w="12700">
            <a:solidFill>
              <a:srgbClr val="C9D3E3"/>
            </a:solidFill>
            <a:prstDash val="solid"/>
          </a:ln>
        </p:spPr>
      </p:sp>
      <p:sp>
        <p:nvSpPr>
          <p:cNvPr id="20" name="Cell 1-0"/>
          <p:cNvSpPr/>
          <p:nvPr/>
        </p:nvSpPr>
        <p:spPr>
          <a:xfrm>
            <a:off x="5298948" y="2875788"/>
            <a:ext cx="420624" cy="420624"/>
          </a:xfrm>
          <a:prstGeom prst="ellipse">
            <a:avLst/>
          </a:prstGeom>
          <a:solidFill>
            <a:srgbClr val="8C98B0"/>
          </a:solidFill>
          <a:ln w="12700">
            <a:solidFill>
              <a:srgbClr val="8C98B0"/>
            </a:solidFill>
            <a:prstDash val="solid"/>
          </a:ln>
        </p:spPr>
      </p:sp>
      <p:pic>
        <p:nvPicPr>
          <p:cNvPr id="21" name="Image 4" descr="no">    </p:cNvPr>
          <p:cNvPicPr>
            <a:picLocks noChangeAspect="1"/>
          </p:cNvPicPr>
          <p:nvPr/>
        </p:nvPicPr>
        <p:blipFill>
          <a:blip r:embed="rId5"/>
          <a:stretch>
            <a:fillRect/>
          </a:stretch>
        </p:blipFill>
        <p:spPr>
          <a:xfrm>
            <a:off x="5404104" y="2980944"/>
            <a:ext cx="210312" cy="210312"/>
          </a:xfrm>
          <a:prstGeom prst="rect">
            <a:avLst/>
          </a:prstGeom>
        </p:spPr>
      </p:pic>
      <p:sp>
        <p:nvSpPr>
          <p:cNvPr id="22" name="Cell 1-1"/>
          <p:cNvSpPr/>
          <p:nvPr/>
        </p:nvSpPr>
        <p:spPr>
          <a:xfrm>
            <a:off x="7082028" y="2875788"/>
            <a:ext cx="420624" cy="420624"/>
          </a:xfrm>
          <a:prstGeom prst="ellipse">
            <a:avLst/>
          </a:prstGeom>
          <a:solidFill>
            <a:schemeClr val="accent3"/>
          </a:solidFill>
          <a:ln w="12700">
            <a:solidFill>
              <a:schemeClr val="accent3"/>
            </a:solidFill>
            <a:prstDash val="solid"/>
          </a:ln>
        </p:spPr>
      </p:sp>
      <p:pic>
        <p:nvPicPr>
          <p:cNvPr id="23" name="Image 5" descr="yes">    </p:cNvPr>
          <p:cNvPicPr>
            <a:picLocks noChangeAspect="1"/>
          </p:cNvPicPr>
          <p:nvPr/>
        </p:nvPicPr>
        <p:blipFill>
          <a:blip r:embed="rId6"/>
          <a:stretch>
            <a:fillRect/>
          </a:stretch>
        </p:blipFill>
        <p:spPr>
          <a:xfrm>
            <a:off x="7187184" y="2980944"/>
            <a:ext cx="210312" cy="210312"/>
          </a:xfrm>
          <a:prstGeom prst="rect">
            <a:avLst/>
          </a:prstGeom>
        </p:spPr>
      </p:pic>
      <p:sp>
        <p:nvSpPr>
          <p:cNvPr id="24" name="Cell 1-2"/>
          <p:cNvSpPr/>
          <p:nvPr/>
        </p:nvSpPr>
        <p:spPr>
          <a:xfrm>
            <a:off x="8865108" y="2875788"/>
            <a:ext cx="420624" cy="420624"/>
          </a:xfrm>
          <a:prstGeom prst="ellipse">
            <a:avLst/>
          </a:prstGeom>
          <a:solidFill>
            <a:schemeClr val="accent1"/>
          </a:solidFill>
          <a:ln w="12700">
            <a:solidFill>
              <a:schemeClr val="accent1"/>
            </a:solidFill>
            <a:prstDash val="solid"/>
          </a:ln>
        </p:spPr>
      </p:sp>
      <p:pic>
        <p:nvPicPr>
          <p:cNvPr id="25" name="Image 6" descr="partly">    </p:cNvPr>
          <p:cNvPicPr>
            <a:picLocks noChangeAspect="1"/>
          </p:cNvPicPr>
          <p:nvPr/>
        </p:nvPicPr>
        <p:blipFill>
          <a:blip r:embed="rId7"/>
          <a:stretch>
            <a:fillRect/>
          </a:stretch>
        </p:blipFill>
        <p:spPr>
          <a:xfrm>
            <a:off x="8970264" y="2980944"/>
            <a:ext cx="210312" cy="210312"/>
          </a:xfrm>
          <a:prstGeom prst="rect">
            <a:avLst/>
          </a:prstGeom>
        </p:spPr>
      </p:pic>
      <p:sp>
        <p:nvSpPr>
          <p:cNvPr id="26" name="Cell 1-3"/>
          <p:cNvSpPr/>
          <p:nvPr/>
        </p:nvSpPr>
        <p:spPr>
          <a:xfrm>
            <a:off x="10607040" y="2834640"/>
            <a:ext cx="502920" cy="502920"/>
          </a:xfrm>
          <a:prstGeom prst="ellipse">
            <a:avLst/>
          </a:prstGeom>
          <a:solidFill>
            <a:schemeClr val="accent3"/>
          </a:solidFill>
          <a:ln w="12700">
            <a:solidFill>
              <a:schemeClr val="accent3"/>
            </a:solidFill>
            <a:prstDash val="solid"/>
          </a:ln>
        </p:spPr>
      </p:sp>
      <p:pic>
        <p:nvPicPr>
          <p:cNvPr id="27" name="Image 7" descr="yes">    </p:cNvPr>
          <p:cNvPicPr>
            <a:picLocks noChangeAspect="1"/>
          </p:cNvPicPr>
          <p:nvPr/>
        </p:nvPicPr>
        <p:blipFill>
          <a:blip r:embed="rId8"/>
          <a:stretch>
            <a:fillRect/>
          </a:stretch>
        </p:blipFill>
        <p:spPr>
          <a:xfrm>
            <a:off x="10732770" y="2960370"/>
            <a:ext cx="251460" cy="251460"/>
          </a:xfrm>
          <a:prstGeom prst="rect">
            <a:avLst/>
          </a:prstGeom>
        </p:spPr>
      </p:pic>
      <p:sp>
        <p:nvSpPr>
          <p:cNvPr id="28" name="Text 18"/>
          <p:cNvSpPr txBox="1"/>
          <p:nvPr/>
        </p:nvSpPr>
        <p:spPr>
          <a:xfrm>
            <a:off x="548640" y="352044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Tells the family the next step</a:t>
            </a:r>
            <a:endParaRPr lang="en-US" sz="1800" dirty="0"/>
          </a:p>
        </p:txBody>
      </p:sp>
      <p:sp>
        <p:nvSpPr>
          <p:cNvPr id="29" name="Row rule 2"/>
          <p:cNvSpPr/>
          <p:nvPr/>
        </p:nvSpPr>
        <p:spPr>
          <a:xfrm>
            <a:off x="548640" y="4178808"/>
            <a:ext cx="3931920" cy="0"/>
          </a:xfrm>
          <a:prstGeom prst="line">
            <a:avLst/>
          </a:prstGeom>
          <a:noFill/>
          <a:ln w="12700">
            <a:solidFill>
              <a:srgbClr val="C9D3E3"/>
            </a:solidFill>
            <a:prstDash val="solid"/>
          </a:ln>
        </p:spPr>
      </p:sp>
      <p:sp>
        <p:nvSpPr>
          <p:cNvPr id="30" name="Cell 2-0"/>
          <p:cNvSpPr/>
          <p:nvPr/>
        </p:nvSpPr>
        <p:spPr>
          <a:xfrm>
            <a:off x="5298948" y="3607308"/>
            <a:ext cx="420624" cy="420624"/>
          </a:xfrm>
          <a:prstGeom prst="ellipse">
            <a:avLst/>
          </a:prstGeom>
          <a:solidFill>
            <a:schemeClr val="accent1"/>
          </a:solidFill>
          <a:ln w="12700">
            <a:solidFill>
              <a:schemeClr val="accent1"/>
            </a:solidFill>
            <a:prstDash val="solid"/>
          </a:ln>
        </p:spPr>
      </p:sp>
      <p:pic>
        <p:nvPicPr>
          <p:cNvPr id="31" name="Image 8" descr="partly">    </p:cNvPr>
          <p:cNvPicPr>
            <a:picLocks noChangeAspect="1"/>
          </p:cNvPicPr>
          <p:nvPr/>
        </p:nvPicPr>
        <p:blipFill>
          <a:blip r:embed="rId9"/>
          <a:stretch>
            <a:fillRect/>
          </a:stretch>
        </p:blipFill>
        <p:spPr>
          <a:xfrm>
            <a:off x="5404104" y="3712464"/>
            <a:ext cx="210312" cy="210312"/>
          </a:xfrm>
          <a:prstGeom prst="rect">
            <a:avLst/>
          </a:prstGeom>
        </p:spPr>
      </p:pic>
      <p:sp>
        <p:nvSpPr>
          <p:cNvPr id="32" name="Cell 2-1"/>
          <p:cNvSpPr/>
          <p:nvPr/>
        </p:nvSpPr>
        <p:spPr>
          <a:xfrm>
            <a:off x="7082028" y="3607308"/>
            <a:ext cx="420624" cy="420624"/>
          </a:xfrm>
          <a:prstGeom prst="ellipse">
            <a:avLst/>
          </a:prstGeom>
          <a:solidFill>
            <a:schemeClr val="accent3"/>
          </a:solidFill>
          <a:ln w="12700">
            <a:solidFill>
              <a:schemeClr val="accent3"/>
            </a:solidFill>
            <a:prstDash val="solid"/>
          </a:ln>
        </p:spPr>
      </p:sp>
      <p:pic>
        <p:nvPicPr>
          <p:cNvPr id="33" name="Image 9" descr="yes">    </p:cNvPr>
          <p:cNvPicPr>
            <a:picLocks noChangeAspect="1"/>
          </p:cNvPicPr>
          <p:nvPr/>
        </p:nvPicPr>
        <p:blipFill>
          <a:blip r:embed="rId10"/>
          <a:stretch>
            <a:fillRect/>
          </a:stretch>
        </p:blipFill>
        <p:spPr>
          <a:xfrm>
            <a:off x="7187184" y="3712464"/>
            <a:ext cx="210312" cy="210312"/>
          </a:xfrm>
          <a:prstGeom prst="rect">
            <a:avLst/>
          </a:prstGeom>
        </p:spPr>
      </p:pic>
      <p:sp>
        <p:nvSpPr>
          <p:cNvPr id="34" name="Cell 2-2"/>
          <p:cNvSpPr/>
          <p:nvPr/>
        </p:nvSpPr>
        <p:spPr>
          <a:xfrm>
            <a:off x="8865108" y="3607308"/>
            <a:ext cx="420624" cy="420624"/>
          </a:xfrm>
          <a:prstGeom prst="ellipse">
            <a:avLst/>
          </a:prstGeom>
          <a:solidFill>
            <a:schemeClr val="accent1"/>
          </a:solidFill>
          <a:ln w="12700">
            <a:solidFill>
              <a:schemeClr val="accent1"/>
            </a:solidFill>
            <a:prstDash val="solid"/>
          </a:ln>
        </p:spPr>
      </p:sp>
      <p:pic>
        <p:nvPicPr>
          <p:cNvPr id="35" name="Image 10" descr="partly">    </p:cNvPr>
          <p:cNvPicPr>
            <a:picLocks noChangeAspect="1"/>
          </p:cNvPicPr>
          <p:nvPr/>
        </p:nvPicPr>
        <p:blipFill>
          <a:blip r:embed="rId11"/>
          <a:stretch>
            <a:fillRect/>
          </a:stretch>
        </p:blipFill>
        <p:spPr>
          <a:xfrm>
            <a:off x="8970264" y="3712464"/>
            <a:ext cx="210312" cy="210312"/>
          </a:xfrm>
          <a:prstGeom prst="rect">
            <a:avLst/>
          </a:prstGeom>
        </p:spPr>
      </p:pic>
      <p:sp>
        <p:nvSpPr>
          <p:cNvPr id="36" name="Cell 2-3"/>
          <p:cNvSpPr/>
          <p:nvPr/>
        </p:nvSpPr>
        <p:spPr>
          <a:xfrm>
            <a:off x="10607040" y="3566160"/>
            <a:ext cx="502920" cy="502920"/>
          </a:xfrm>
          <a:prstGeom prst="ellipse">
            <a:avLst/>
          </a:prstGeom>
          <a:solidFill>
            <a:schemeClr val="accent3"/>
          </a:solidFill>
          <a:ln w="12700">
            <a:solidFill>
              <a:schemeClr val="accent3"/>
            </a:solidFill>
            <a:prstDash val="solid"/>
          </a:ln>
        </p:spPr>
      </p:sp>
      <p:pic>
        <p:nvPicPr>
          <p:cNvPr id="37" name="Image 11" descr="yes">    </p:cNvPr>
          <p:cNvPicPr>
            <a:picLocks noChangeAspect="1"/>
          </p:cNvPicPr>
          <p:nvPr/>
        </p:nvPicPr>
        <p:blipFill>
          <a:blip r:embed="rId12"/>
          <a:stretch>
            <a:fillRect/>
          </a:stretch>
        </p:blipFill>
        <p:spPr>
          <a:xfrm>
            <a:off x="10732770" y="3691890"/>
            <a:ext cx="251460" cy="251460"/>
          </a:xfrm>
          <a:prstGeom prst="rect">
            <a:avLst/>
          </a:prstGeom>
        </p:spPr>
      </p:pic>
      <p:sp>
        <p:nvSpPr>
          <p:cNvPr id="38" name="Text 24"/>
          <p:cNvSpPr txBox="1"/>
          <p:nvPr/>
        </p:nvSpPr>
        <p:spPr>
          <a:xfrm>
            <a:off x="548640" y="425196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Shows why, with its sources</a:t>
            </a:r>
            <a:endParaRPr lang="en-US" sz="1800" dirty="0"/>
          </a:p>
        </p:txBody>
      </p:sp>
      <p:sp>
        <p:nvSpPr>
          <p:cNvPr id="39" name="Row rule 3"/>
          <p:cNvSpPr/>
          <p:nvPr/>
        </p:nvSpPr>
        <p:spPr>
          <a:xfrm>
            <a:off x="548640" y="4910328"/>
            <a:ext cx="3931920" cy="0"/>
          </a:xfrm>
          <a:prstGeom prst="line">
            <a:avLst/>
          </a:prstGeom>
          <a:noFill/>
          <a:ln w="12700">
            <a:solidFill>
              <a:srgbClr val="C9D3E3"/>
            </a:solidFill>
            <a:prstDash val="solid"/>
          </a:ln>
        </p:spPr>
      </p:sp>
      <p:sp>
        <p:nvSpPr>
          <p:cNvPr id="40" name="Cell 3-0"/>
          <p:cNvSpPr/>
          <p:nvPr/>
        </p:nvSpPr>
        <p:spPr>
          <a:xfrm>
            <a:off x="5298948" y="4338828"/>
            <a:ext cx="420624" cy="420624"/>
          </a:xfrm>
          <a:prstGeom prst="ellipse">
            <a:avLst/>
          </a:prstGeom>
          <a:solidFill>
            <a:schemeClr val="accent3"/>
          </a:solidFill>
          <a:ln w="12700">
            <a:solidFill>
              <a:schemeClr val="accent3"/>
            </a:solidFill>
            <a:prstDash val="solid"/>
          </a:ln>
        </p:spPr>
      </p:sp>
      <p:pic>
        <p:nvPicPr>
          <p:cNvPr id="41" name="Image 12" descr="yes">    </p:cNvPr>
          <p:cNvPicPr>
            <a:picLocks noChangeAspect="1"/>
          </p:cNvPicPr>
          <p:nvPr/>
        </p:nvPicPr>
        <p:blipFill>
          <a:blip r:embed="rId13"/>
          <a:stretch>
            <a:fillRect/>
          </a:stretch>
        </p:blipFill>
        <p:spPr>
          <a:xfrm>
            <a:off x="5404104" y="4443984"/>
            <a:ext cx="210312" cy="210312"/>
          </a:xfrm>
          <a:prstGeom prst="rect">
            <a:avLst/>
          </a:prstGeom>
        </p:spPr>
      </p:pic>
      <p:sp>
        <p:nvSpPr>
          <p:cNvPr id="42" name="Cell 3-1"/>
          <p:cNvSpPr/>
          <p:nvPr/>
        </p:nvSpPr>
        <p:spPr>
          <a:xfrm>
            <a:off x="7082028" y="4338828"/>
            <a:ext cx="420624" cy="420624"/>
          </a:xfrm>
          <a:prstGeom prst="ellipse">
            <a:avLst/>
          </a:prstGeom>
          <a:solidFill>
            <a:srgbClr val="8C98B0"/>
          </a:solidFill>
          <a:ln w="12700">
            <a:solidFill>
              <a:srgbClr val="8C98B0"/>
            </a:solidFill>
            <a:prstDash val="solid"/>
          </a:ln>
        </p:spPr>
      </p:sp>
      <p:pic>
        <p:nvPicPr>
          <p:cNvPr id="43" name="Image 13" descr="no">    </p:cNvPr>
          <p:cNvPicPr>
            <a:picLocks noChangeAspect="1"/>
          </p:cNvPicPr>
          <p:nvPr/>
        </p:nvPicPr>
        <p:blipFill>
          <a:blip r:embed="rId14"/>
          <a:stretch>
            <a:fillRect/>
          </a:stretch>
        </p:blipFill>
        <p:spPr>
          <a:xfrm>
            <a:off x="7187184" y="4443984"/>
            <a:ext cx="210312" cy="210312"/>
          </a:xfrm>
          <a:prstGeom prst="rect">
            <a:avLst/>
          </a:prstGeom>
        </p:spPr>
      </p:pic>
      <p:sp>
        <p:nvSpPr>
          <p:cNvPr id="44" name="Cell 3-2"/>
          <p:cNvSpPr/>
          <p:nvPr/>
        </p:nvSpPr>
        <p:spPr>
          <a:xfrm>
            <a:off x="8865108" y="4338828"/>
            <a:ext cx="420624" cy="420624"/>
          </a:xfrm>
          <a:prstGeom prst="ellipse">
            <a:avLst/>
          </a:prstGeom>
          <a:solidFill>
            <a:srgbClr val="8C98B0"/>
          </a:solidFill>
          <a:ln w="12700">
            <a:solidFill>
              <a:srgbClr val="8C98B0"/>
            </a:solidFill>
            <a:prstDash val="solid"/>
          </a:ln>
        </p:spPr>
      </p:sp>
      <p:pic>
        <p:nvPicPr>
          <p:cNvPr id="45" name="Image 14" descr="no">    </p:cNvPr>
          <p:cNvPicPr>
            <a:picLocks noChangeAspect="1"/>
          </p:cNvPicPr>
          <p:nvPr/>
        </p:nvPicPr>
        <p:blipFill>
          <a:blip r:embed="rId15"/>
          <a:stretch>
            <a:fillRect/>
          </a:stretch>
        </p:blipFill>
        <p:spPr>
          <a:xfrm>
            <a:off x="8970264" y="4443984"/>
            <a:ext cx="210312" cy="210312"/>
          </a:xfrm>
          <a:prstGeom prst="rect">
            <a:avLst/>
          </a:prstGeom>
        </p:spPr>
      </p:pic>
      <p:sp>
        <p:nvSpPr>
          <p:cNvPr id="46" name="Cell 3-3"/>
          <p:cNvSpPr/>
          <p:nvPr/>
        </p:nvSpPr>
        <p:spPr>
          <a:xfrm>
            <a:off x="10607040" y="4297680"/>
            <a:ext cx="502920" cy="502920"/>
          </a:xfrm>
          <a:prstGeom prst="ellipse">
            <a:avLst/>
          </a:prstGeom>
          <a:solidFill>
            <a:schemeClr val="accent3"/>
          </a:solidFill>
          <a:ln w="12700">
            <a:solidFill>
              <a:schemeClr val="accent3"/>
            </a:solidFill>
            <a:prstDash val="solid"/>
          </a:ln>
        </p:spPr>
      </p:sp>
      <p:pic>
        <p:nvPicPr>
          <p:cNvPr id="47" name="Image 15" descr="yes">    </p:cNvPr>
          <p:cNvPicPr>
            <a:picLocks noChangeAspect="1"/>
          </p:cNvPicPr>
          <p:nvPr/>
        </p:nvPicPr>
        <p:blipFill>
          <a:blip r:embed="rId16"/>
          <a:stretch>
            <a:fillRect/>
          </a:stretch>
        </p:blipFill>
        <p:spPr>
          <a:xfrm>
            <a:off x="10732770" y="4423410"/>
            <a:ext cx="251460" cy="251460"/>
          </a:xfrm>
          <a:prstGeom prst="rect">
            <a:avLst/>
          </a:prstGeom>
        </p:spPr>
      </p:pic>
      <p:sp>
        <p:nvSpPr>
          <p:cNvPr id="48" name="Text 30"/>
          <p:cNvSpPr txBox="1"/>
          <p:nvPr/>
        </p:nvSpPr>
        <p:spPr>
          <a:xfrm>
            <a:off x="548640" y="498348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Hands a summary to the ASHA or doctor</a:t>
            </a:r>
            <a:endParaRPr lang="en-US" sz="1800" dirty="0"/>
          </a:p>
        </p:txBody>
      </p:sp>
      <p:sp>
        <p:nvSpPr>
          <p:cNvPr id="49" name="Row rule 4"/>
          <p:cNvSpPr/>
          <p:nvPr/>
        </p:nvSpPr>
        <p:spPr>
          <a:xfrm>
            <a:off x="548640" y="5641848"/>
            <a:ext cx="3931920" cy="0"/>
          </a:xfrm>
          <a:prstGeom prst="line">
            <a:avLst/>
          </a:prstGeom>
          <a:noFill/>
          <a:ln w="12700">
            <a:solidFill>
              <a:srgbClr val="C9D3E3"/>
            </a:solidFill>
            <a:prstDash val="solid"/>
          </a:ln>
        </p:spPr>
      </p:sp>
      <p:sp>
        <p:nvSpPr>
          <p:cNvPr id="50" name="Cell 4-0"/>
          <p:cNvSpPr/>
          <p:nvPr/>
        </p:nvSpPr>
        <p:spPr>
          <a:xfrm>
            <a:off x="5298948" y="5070348"/>
            <a:ext cx="420624" cy="420624"/>
          </a:xfrm>
          <a:prstGeom prst="ellipse">
            <a:avLst/>
          </a:prstGeom>
          <a:solidFill>
            <a:srgbClr val="8C98B0"/>
          </a:solidFill>
          <a:ln w="12700">
            <a:solidFill>
              <a:srgbClr val="8C98B0"/>
            </a:solidFill>
            <a:prstDash val="solid"/>
          </a:ln>
        </p:spPr>
      </p:sp>
      <p:pic>
        <p:nvPicPr>
          <p:cNvPr id="51" name="Image 16" descr="no">    </p:cNvPr>
          <p:cNvPicPr>
            <a:picLocks noChangeAspect="1"/>
          </p:cNvPicPr>
          <p:nvPr/>
        </p:nvPicPr>
        <p:blipFill>
          <a:blip r:embed="rId17"/>
          <a:stretch>
            <a:fillRect/>
          </a:stretch>
        </p:blipFill>
        <p:spPr>
          <a:xfrm>
            <a:off x="5404104" y="5175504"/>
            <a:ext cx="210312" cy="210312"/>
          </a:xfrm>
          <a:prstGeom prst="rect">
            <a:avLst/>
          </a:prstGeom>
        </p:spPr>
      </p:pic>
      <p:sp>
        <p:nvSpPr>
          <p:cNvPr id="52" name="Cell 4-1"/>
          <p:cNvSpPr/>
          <p:nvPr/>
        </p:nvSpPr>
        <p:spPr>
          <a:xfrm>
            <a:off x="7082028" y="5070348"/>
            <a:ext cx="420624" cy="420624"/>
          </a:xfrm>
          <a:prstGeom prst="ellipse">
            <a:avLst/>
          </a:prstGeom>
          <a:solidFill>
            <a:srgbClr val="8C98B0"/>
          </a:solidFill>
          <a:ln w="12700">
            <a:solidFill>
              <a:srgbClr val="8C98B0"/>
            </a:solidFill>
            <a:prstDash val="solid"/>
          </a:ln>
        </p:spPr>
      </p:sp>
      <p:pic>
        <p:nvPicPr>
          <p:cNvPr id="53" name="Image 17" descr="no">    </p:cNvPr>
          <p:cNvPicPr>
            <a:picLocks noChangeAspect="1"/>
          </p:cNvPicPr>
          <p:nvPr/>
        </p:nvPicPr>
        <p:blipFill>
          <a:blip r:embed="rId18"/>
          <a:stretch>
            <a:fillRect/>
          </a:stretch>
        </p:blipFill>
        <p:spPr>
          <a:xfrm>
            <a:off x="7187184" y="5175504"/>
            <a:ext cx="210312" cy="210312"/>
          </a:xfrm>
          <a:prstGeom prst="rect">
            <a:avLst/>
          </a:prstGeom>
        </p:spPr>
      </p:pic>
      <p:sp>
        <p:nvSpPr>
          <p:cNvPr id="54" name="Cell 4-2"/>
          <p:cNvSpPr/>
          <p:nvPr/>
        </p:nvSpPr>
        <p:spPr>
          <a:xfrm>
            <a:off x="8865108" y="5070348"/>
            <a:ext cx="420624" cy="420624"/>
          </a:xfrm>
          <a:prstGeom prst="ellipse">
            <a:avLst/>
          </a:prstGeom>
          <a:solidFill>
            <a:srgbClr val="8C98B0"/>
          </a:solidFill>
          <a:ln w="12700">
            <a:solidFill>
              <a:srgbClr val="8C98B0"/>
            </a:solidFill>
            <a:prstDash val="solid"/>
          </a:ln>
        </p:spPr>
      </p:sp>
      <p:pic>
        <p:nvPicPr>
          <p:cNvPr id="55" name="Image 18" descr="no">    </p:cNvPr>
          <p:cNvPicPr>
            <a:picLocks noChangeAspect="1"/>
          </p:cNvPicPr>
          <p:nvPr/>
        </p:nvPicPr>
        <p:blipFill>
          <a:blip r:embed="rId19"/>
          <a:stretch>
            <a:fillRect/>
          </a:stretch>
        </p:blipFill>
        <p:spPr>
          <a:xfrm>
            <a:off x="8970264" y="5175504"/>
            <a:ext cx="210312" cy="210312"/>
          </a:xfrm>
          <a:prstGeom prst="rect">
            <a:avLst/>
          </a:prstGeom>
        </p:spPr>
      </p:pic>
      <p:sp>
        <p:nvSpPr>
          <p:cNvPr id="56" name="Cell 4-3"/>
          <p:cNvSpPr/>
          <p:nvPr/>
        </p:nvSpPr>
        <p:spPr>
          <a:xfrm>
            <a:off x="10607040" y="5029200"/>
            <a:ext cx="502920" cy="502920"/>
          </a:xfrm>
          <a:prstGeom prst="ellipse">
            <a:avLst/>
          </a:prstGeom>
          <a:solidFill>
            <a:schemeClr val="accent3"/>
          </a:solidFill>
          <a:ln w="12700">
            <a:solidFill>
              <a:schemeClr val="accent3"/>
            </a:solidFill>
            <a:prstDash val="solid"/>
          </a:ln>
        </p:spPr>
      </p:sp>
      <p:pic>
        <p:nvPicPr>
          <p:cNvPr id="57" name="Image 19" descr="yes">    </p:cNvPr>
          <p:cNvPicPr>
            <a:picLocks noChangeAspect="1"/>
          </p:cNvPicPr>
          <p:nvPr/>
        </p:nvPicPr>
        <p:blipFill>
          <a:blip r:embed="rId20"/>
          <a:stretch>
            <a:fillRect/>
          </a:stretch>
        </p:blipFill>
        <p:spPr>
          <a:xfrm>
            <a:off x="10732770" y="5154930"/>
            <a:ext cx="251460" cy="251460"/>
          </a:xfrm>
          <a:prstGeom prst="rect">
            <a:avLst/>
          </a:prstGeom>
        </p:spPr>
      </p:pic>
      <p:sp>
        <p:nvSpPr>
          <p:cNvPr id="58" name="Text 36"/>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00" i="1" dirty="0">
                <a:solidFill>
                  <a:schemeClr val="accent5"/>
                </a:solidFill>
                <a:latin typeface="Calibri" pitchFamily="34" charset="0"/>
                <a:ea typeface="Calibri" pitchFamily="34" charset="-122"/>
                <a:cs typeface="Calibri" pitchFamily="34" charset="-120"/>
              </a:rPr>
              <a:t>Typical examples and our own assessment from limited searching, not every product. A helpline can give advice in Hindi; it needs a phone, signal and a clear head.</a:t>
            </a:r>
            <a:endParaRPr lang="en-US" sz="11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5486400" cy="45720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Meet Maitri</a:t>
            </a:r>
            <a:endParaRPr lang="en-US" sz="1800" dirty="0"/>
          </a:p>
        </p:txBody>
      </p:sp>
      <p:sp>
        <p:nvSpPr>
          <p:cNvPr id="3" name="Title"/>
          <p:cNvSpPr txBox="1"/>
          <p:nvPr/>
        </p:nvSpPr>
        <p:spPr>
          <a:xfrm>
            <a:off x="548640" y="777240"/>
            <a:ext cx="1106424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Say it. See why. Know what to do.</a:t>
            </a:r>
            <a:endParaRPr lang="en-US" sz="4400" dirty="0"/>
          </a:p>
        </p:txBody>
      </p:sp>
      <p:sp>
        <p:nvSpPr>
          <p:cNvPr id="4" name="Step card 1"/>
          <p:cNvSpPr/>
          <p:nvPr/>
        </p:nvSpPr>
        <p:spPr>
          <a:xfrm>
            <a:off x="548640" y="2011680"/>
            <a:ext cx="3566160" cy="2514600"/>
          </a:xfrm>
          <a:prstGeom prst="roundRect">
            <a:avLst>
              <a:gd name="adj" fmla="val 5091"/>
            </a:avLst>
          </a:prstGeom>
          <a:solidFill>
            <a:srgbClr val="0B5E52"/>
          </a:solidFill>
          <a:ln w="12700">
            <a:solidFill>
              <a:srgbClr val="0B5E52"/>
            </a:solidFill>
            <a:prstDash val="solid"/>
          </a:ln>
        </p:spPr>
      </p:sp>
      <p:sp>
        <p:nvSpPr>
          <p:cNvPr id="5" name="Step bg 0"/>
          <p:cNvSpPr/>
          <p:nvPr/>
        </p:nvSpPr>
        <p:spPr>
          <a:xfrm>
            <a:off x="868680" y="2286000"/>
            <a:ext cx="868680" cy="868680"/>
          </a:xfrm>
          <a:prstGeom prst="ellipse">
            <a:avLst/>
          </a:prstGeom>
          <a:solidFill>
            <a:schemeClr val="accent1"/>
          </a:solidFill>
          <a:ln w="12700">
            <a:solidFill>
              <a:schemeClr val="accent1"/>
            </a:solidFill>
            <a:prstDash val="solid"/>
          </a:ln>
        </p:spPr>
      </p:sp>
      <p:pic>
        <p:nvPicPr>
          <p:cNvPr id="6" name="Image 0" descr="SAY IT">    </p:cNvPr>
          <p:cNvPicPr>
            <a:picLocks noChangeAspect="1"/>
          </p:cNvPicPr>
          <p:nvPr/>
        </p:nvPicPr>
        <p:blipFill>
          <a:blip r:embed="rId1"/>
          <a:stretch>
            <a:fillRect/>
          </a:stretch>
        </p:blipFill>
        <p:spPr>
          <a:xfrm>
            <a:off x="1097280" y="2514600"/>
            <a:ext cx="411480" cy="411480"/>
          </a:xfrm>
          <a:prstGeom prst="rect">
            <a:avLst/>
          </a:prstGeom>
        </p:spPr>
      </p:pic>
      <p:sp>
        <p:nvSpPr>
          <p:cNvPr id="7" name="Text 4"/>
          <p:cNvSpPr txBox="1"/>
          <p:nvPr/>
        </p:nvSpPr>
        <p:spPr>
          <a:xfrm>
            <a:off x="1920240" y="2286000"/>
            <a:ext cx="2103120" cy="86868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SAY IT</a:t>
            </a:r>
            <a:endParaRPr lang="en-US" sz="2200" dirty="0"/>
          </a:p>
        </p:txBody>
      </p:sp>
      <p:sp>
        <p:nvSpPr>
          <p:cNvPr id="8" name="Text 5"/>
          <p:cNvSpPr txBox="1"/>
          <p:nvPr/>
        </p:nvSpPr>
        <p:spPr>
          <a:xfrm>
            <a:off x="868680" y="3337560"/>
            <a:ext cx="30175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Speak or tap, in Hindi or English. Hear every question and result read aloud.</a:t>
            </a:r>
            <a:endParaRPr lang="en-US" sz="1500" dirty="0"/>
          </a:p>
        </p:txBody>
      </p:sp>
      <p:sp>
        <p:nvSpPr>
          <p:cNvPr id="9" name="Step card 2"/>
          <p:cNvSpPr/>
          <p:nvPr/>
        </p:nvSpPr>
        <p:spPr>
          <a:xfrm>
            <a:off x="4297680" y="2011680"/>
            <a:ext cx="3566160" cy="2514600"/>
          </a:xfrm>
          <a:prstGeom prst="roundRect">
            <a:avLst>
              <a:gd name="adj" fmla="val 5091"/>
            </a:avLst>
          </a:prstGeom>
          <a:solidFill>
            <a:srgbClr val="0B5E52"/>
          </a:solidFill>
          <a:ln w="12700">
            <a:solidFill>
              <a:srgbClr val="0B5E52"/>
            </a:solidFill>
            <a:prstDash val="solid"/>
          </a:ln>
        </p:spPr>
      </p:sp>
      <p:sp>
        <p:nvSpPr>
          <p:cNvPr id="10" name="Step bg 1"/>
          <p:cNvSpPr/>
          <p:nvPr/>
        </p:nvSpPr>
        <p:spPr>
          <a:xfrm>
            <a:off x="4617720" y="2286000"/>
            <a:ext cx="868680" cy="868680"/>
          </a:xfrm>
          <a:prstGeom prst="ellipse">
            <a:avLst/>
          </a:prstGeom>
          <a:solidFill>
            <a:schemeClr val="accent1"/>
          </a:solidFill>
          <a:ln w="12700">
            <a:solidFill>
              <a:schemeClr val="accent1"/>
            </a:solidFill>
            <a:prstDash val="solid"/>
          </a:ln>
        </p:spPr>
      </p:sp>
      <p:pic>
        <p:nvPicPr>
          <p:cNvPr id="11" name="Image 1" descr="SEE WHY">    </p:cNvPr>
          <p:cNvPicPr>
            <a:picLocks noChangeAspect="1"/>
          </p:cNvPicPr>
          <p:nvPr/>
        </p:nvPicPr>
        <p:blipFill>
          <a:blip r:embed="rId2"/>
          <a:stretch>
            <a:fillRect/>
          </a:stretch>
        </p:blipFill>
        <p:spPr>
          <a:xfrm>
            <a:off x="4846320" y="2514600"/>
            <a:ext cx="411480" cy="411480"/>
          </a:xfrm>
          <a:prstGeom prst="rect">
            <a:avLst/>
          </a:prstGeom>
        </p:spPr>
      </p:pic>
      <p:sp>
        <p:nvSpPr>
          <p:cNvPr id="12" name="Text 8"/>
          <p:cNvSpPr txBox="1"/>
          <p:nvPr/>
        </p:nvSpPr>
        <p:spPr>
          <a:xfrm>
            <a:off x="5669280" y="2286000"/>
            <a:ext cx="2103120" cy="86868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SEE WHY</a:t>
            </a:r>
            <a:endParaRPr lang="en-US" sz="2200" dirty="0"/>
          </a:p>
        </p:txBody>
      </p:sp>
      <p:sp>
        <p:nvSpPr>
          <p:cNvPr id="13" name="Text 9"/>
          <p:cNvSpPr txBox="1"/>
          <p:nvPr/>
        </p:nvSpPr>
        <p:spPr>
          <a:xfrm>
            <a:off x="4617720" y="3337560"/>
            <a:ext cx="30175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Every result names the rule and the source. No AI decides.</a:t>
            </a:r>
            <a:endParaRPr lang="en-US" sz="1500" dirty="0"/>
          </a:p>
        </p:txBody>
      </p:sp>
      <p:sp>
        <p:nvSpPr>
          <p:cNvPr id="14" name="Step card 3"/>
          <p:cNvSpPr/>
          <p:nvPr/>
        </p:nvSpPr>
        <p:spPr>
          <a:xfrm>
            <a:off x="8046720" y="2011680"/>
            <a:ext cx="3566160" cy="2514600"/>
          </a:xfrm>
          <a:prstGeom prst="roundRect">
            <a:avLst>
              <a:gd name="adj" fmla="val 5091"/>
            </a:avLst>
          </a:prstGeom>
          <a:solidFill>
            <a:srgbClr val="0B5E52"/>
          </a:solidFill>
          <a:ln w="12700">
            <a:solidFill>
              <a:srgbClr val="0B5E52"/>
            </a:solidFill>
            <a:prstDash val="solid"/>
          </a:ln>
        </p:spPr>
      </p:sp>
      <p:sp>
        <p:nvSpPr>
          <p:cNvPr id="15" name="Step bg 2"/>
          <p:cNvSpPr/>
          <p:nvPr/>
        </p:nvSpPr>
        <p:spPr>
          <a:xfrm>
            <a:off x="8366760" y="2286000"/>
            <a:ext cx="868680" cy="868680"/>
          </a:xfrm>
          <a:prstGeom prst="ellipse">
            <a:avLst/>
          </a:prstGeom>
          <a:solidFill>
            <a:schemeClr val="accent1"/>
          </a:solidFill>
          <a:ln w="12700">
            <a:solidFill>
              <a:schemeClr val="accent1"/>
            </a:solidFill>
            <a:prstDash val="solid"/>
          </a:ln>
        </p:spPr>
      </p:sp>
      <p:pic>
        <p:nvPicPr>
          <p:cNvPr id="16" name="Image 2" descr="KNOW WHAT TO DO">    </p:cNvPr>
          <p:cNvPicPr>
            <a:picLocks noChangeAspect="1"/>
          </p:cNvPicPr>
          <p:nvPr/>
        </p:nvPicPr>
        <p:blipFill>
          <a:blip r:embed="rId3"/>
          <a:stretch>
            <a:fillRect/>
          </a:stretch>
        </p:blipFill>
        <p:spPr>
          <a:xfrm>
            <a:off x="8595360" y="2514600"/>
            <a:ext cx="411480" cy="411480"/>
          </a:xfrm>
          <a:prstGeom prst="rect">
            <a:avLst/>
          </a:prstGeom>
        </p:spPr>
      </p:pic>
      <p:sp>
        <p:nvSpPr>
          <p:cNvPr id="17" name="Text 12"/>
          <p:cNvSpPr txBox="1"/>
          <p:nvPr/>
        </p:nvSpPr>
        <p:spPr>
          <a:xfrm>
            <a:off x="9418320" y="2286000"/>
            <a:ext cx="2103120" cy="86868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KNOW WHAT TO DO</a:t>
            </a:r>
            <a:endParaRPr lang="en-US" sz="2200" dirty="0"/>
          </a:p>
        </p:txBody>
      </p:sp>
      <p:sp>
        <p:nvSpPr>
          <p:cNvPr id="18" name="Text 13"/>
          <p:cNvSpPr txBox="1"/>
          <p:nvPr/>
        </p:nvSpPr>
        <p:spPr>
          <a:xfrm>
            <a:off x="8366760" y="3337560"/>
            <a:ext cx="30175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One RED sign ends the check. One call, one plan, one slip.</a:t>
            </a:r>
            <a:endParaRPr lang="en-US" sz="1500" dirty="0"/>
          </a:p>
        </p:txBody>
      </p:sp>
      <p:sp>
        <p:nvSpPr>
          <p:cNvPr id="19" name="Text 14"/>
          <p:cNvSpPr txBox="1"/>
          <p:nvPr/>
        </p:nvSpPr>
        <p:spPr>
          <a:xfrm>
            <a:off x="548640" y="4800600"/>
            <a:ext cx="8229600" cy="36576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Five things only Maitri does, together</a:t>
            </a:r>
            <a:endParaRPr lang="en-US" sz="1800" dirty="0"/>
          </a:p>
        </p:txBody>
      </p:sp>
      <p:sp>
        <p:nvSpPr>
          <p:cNvPr id="20" name="USP chip 1"/>
          <p:cNvSpPr/>
          <p:nvPr/>
        </p:nvSpPr>
        <p:spPr>
          <a:xfrm>
            <a:off x="548640" y="5303520"/>
            <a:ext cx="2103120" cy="777240"/>
          </a:xfrm>
          <a:prstGeom prst="roundRect">
            <a:avLst>
              <a:gd name="adj" fmla="val 16471"/>
            </a:avLst>
          </a:prstGeom>
          <a:solidFill>
            <a:schemeClr val="accent1"/>
          </a:solidFill>
          <a:ln w="12700">
            <a:solidFill>
              <a:schemeClr val="accent1"/>
            </a:solidFill>
            <a:prstDash val="solid"/>
          </a:ln>
        </p:spPr>
      </p:sp>
      <p:sp>
        <p:nvSpPr>
          <p:cNvPr id="21" name="Text 16"/>
          <p:cNvSpPr txBox="1"/>
          <p:nvPr/>
        </p:nvSpPr>
        <p:spPr>
          <a:xfrm>
            <a:off x="65836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1</a:t>
            </a:r>
            <a:endParaRPr lang="en-US" sz="2400" dirty="0"/>
          </a:p>
        </p:txBody>
      </p:sp>
      <p:sp>
        <p:nvSpPr>
          <p:cNvPr id="22" name="Text 17"/>
          <p:cNvSpPr txBox="1"/>
          <p:nvPr/>
        </p:nvSpPr>
        <p:spPr>
          <a:xfrm>
            <a:off x="105156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Voice in, voice out</a:t>
            </a:r>
            <a:endParaRPr lang="en-US" sz="1400" dirty="0"/>
          </a:p>
        </p:txBody>
      </p:sp>
      <p:sp>
        <p:nvSpPr>
          <p:cNvPr id="23" name="USP chip 2"/>
          <p:cNvSpPr/>
          <p:nvPr/>
        </p:nvSpPr>
        <p:spPr>
          <a:xfrm>
            <a:off x="2788920" y="5303520"/>
            <a:ext cx="2103120" cy="777240"/>
          </a:xfrm>
          <a:prstGeom prst="roundRect">
            <a:avLst>
              <a:gd name="adj" fmla="val 16471"/>
            </a:avLst>
          </a:prstGeom>
          <a:solidFill>
            <a:schemeClr val="accent1"/>
          </a:solidFill>
          <a:ln w="12700">
            <a:solidFill>
              <a:schemeClr val="accent1"/>
            </a:solidFill>
            <a:prstDash val="solid"/>
          </a:ln>
        </p:spPr>
      </p:sp>
      <p:sp>
        <p:nvSpPr>
          <p:cNvPr id="24" name="Text 19"/>
          <p:cNvSpPr txBox="1"/>
          <p:nvPr/>
        </p:nvSpPr>
        <p:spPr>
          <a:xfrm>
            <a:off x="289864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2</a:t>
            </a:r>
            <a:endParaRPr lang="en-US" sz="2400" dirty="0"/>
          </a:p>
        </p:txBody>
      </p:sp>
      <p:sp>
        <p:nvSpPr>
          <p:cNvPr id="25" name="Text 20"/>
          <p:cNvSpPr txBox="1"/>
          <p:nvPr/>
        </p:nvSpPr>
        <p:spPr>
          <a:xfrm>
            <a:off x="329184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The call comes first</a:t>
            </a:r>
            <a:endParaRPr lang="en-US" sz="1400" dirty="0"/>
          </a:p>
        </p:txBody>
      </p:sp>
      <p:sp>
        <p:nvSpPr>
          <p:cNvPr id="26" name="USP chip 3"/>
          <p:cNvSpPr/>
          <p:nvPr/>
        </p:nvSpPr>
        <p:spPr>
          <a:xfrm>
            <a:off x="5029200" y="5303520"/>
            <a:ext cx="2103120" cy="777240"/>
          </a:xfrm>
          <a:prstGeom prst="roundRect">
            <a:avLst>
              <a:gd name="adj" fmla="val 16471"/>
            </a:avLst>
          </a:prstGeom>
          <a:solidFill>
            <a:schemeClr val="accent1"/>
          </a:solidFill>
          <a:ln w="12700">
            <a:solidFill>
              <a:schemeClr val="accent1"/>
            </a:solidFill>
            <a:prstDash val="solid"/>
          </a:ln>
        </p:spPr>
      </p:sp>
      <p:sp>
        <p:nvSpPr>
          <p:cNvPr id="27" name="Text 22"/>
          <p:cNvSpPr txBox="1"/>
          <p:nvPr/>
        </p:nvSpPr>
        <p:spPr>
          <a:xfrm>
            <a:off x="513892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3</a:t>
            </a:r>
            <a:endParaRPr lang="en-US" sz="2400" dirty="0"/>
          </a:p>
        </p:txBody>
      </p:sp>
      <p:sp>
        <p:nvSpPr>
          <p:cNvPr id="28" name="Text 23"/>
          <p:cNvSpPr txBox="1"/>
          <p:nvPr/>
        </p:nvSpPr>
        <p:spPr>
          <a:xfrm>
            <a:off x="553212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It shows its work</a:t>
            </a:r>
            <a:endParaRPr lang="en-US" sz="1400" dirty="0"/>
          </a:p>
        </p:txBody>
      </p:sp>
      <p:sp>
        <p:nvSpPr>
          <p:cNvPr id="29" name="USP chip 4"/>
          <p:cNvSpPr/>
          <p:nvPr/>
        </p:nvSpPr>
        <p:spPr>
          <a:xfrm>
            <a:off x="7269480" y="5303520"/>
            <a:ext cx="2103120" cy="777240"/>
          </a:xfrm>
          <a:prstGeom prst="roundRect">
            <a:avLst>
              <a:gd name="adj" fmla="val 16471"/>
            </a:avLst>
          </a:prstGeom>
          <a:solidFill>
            <a:schemeClr val="accent1"/>
          </a:solidFill>
          <a:ln w="12700">
            <a:solidFill>
              <a:schemeClr val="accent1"/>
            </a:solidFill>
            <a:prstDash val="solid"/>
          </a:ln>
        </p:spPr>
      </p:sp>
      <p:sp>
        <p:nvSpPr>
          <p:cNvPr id="30" name="Text 25"/>
          <p:cNvSpPr txBox="1"/>
          <p:nvPr/>
        </p:nvSpPr>
        <p:spPr>
          <a:xfrm>
            <a:off x="737920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4</a:t>
            </a:r>
            <a:endParaRPr lang="en-US" sz="2400" dirty="0"/>
          </a:p>
        </p:txBody>
      </p:sp>
      <p:sp>
        <p:nvSpPr>
          <p:cNvPr id="31" name="Text 26"/>
          <p:cNvSpPr txBox="1"/>
          <p:nvPr/>
        </p:nvSpPr>
        <p:spPr>
          <a:xfrm>
            <a:off x="777240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From panic to a plan</a:t>
            </a:r>
            <a:endParaRPr lang="en-US" sz="1400" dirty="0"/>
          </a:p>
        </p:txBody>
      </p:sp>
      <p:sp>
        <p:nvSpPr>
          <p:cNvPr id="32" name="USP chip 5"/>
          <p:cNvSpPr/>
          <p:nvPr/>
        </p:nvSpPr>
        <p:spPr>
          <a:xfrm>
            <a:off x="9509760" y="5303520"/>
            <a:ext cx="2103120" cy="777240"/>
          </a:xfrm>
          <a:prstGeom prst="roundRect">
            <a:avLst>
              <a:gd name="adj" fmla="val 16471"/>
            </a:avLst>
          </a:prstGeom>
          <a:solidFill>
            <a:schemeClr val="accent1"/>
          </a:solidFill>
          <a:ln w="12700">
            <a:solidFill>
              <a:schemeClr val="accent1"/>
            </a:solidFill>
            <a:prstDash val="solid"/>
          </a:ln>
        </p:spPr>
      </p:sp>
      <p:sp>
        <p:nvSpPr>
          <p:cNvPr id="33" name="Text 28"/>
          <p:cNvSpPr txBox="1"/>
          <p:nvPr/>
        </p:nvSpPr>
        <p:spPr>
          <a:xfrm>
            <a:off x="961948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5</a:t>
            </a:r>
            <a:endParaRPr lang="en-US" sz="2400" dirty="0"/>
          </a:p>
        </p:txBody>
      </p:sp>
      <p:sp>
        <p:nvSpPr>
          <p:cNvPr id="34" name="Text 29"/>
          <p:cNvSpPr txBox="1"/>
          <p:nvPr/>
        </p:nvSpPr>
        <p:spPr>
          <a:xfrm>
            <a:off x="1001268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Private and offline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ill USP 1 + 2"/>
          <p:cNvSpPr/>
          <p:nvPr/>
        </p:nvSpPr>
        <p:spPr>
          <a:xfrm>
            <a:off x="548640" y="457200"/>
            <a:ext cx="137160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37160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1 + 2</a:t>
            </a:r>
            <a:endParaRPr lang="en-US" sz="1500" dirty="0"/>
          </a:p>
        </p:txBody>
      </p:sp>
      <p:sp>
        <p:nvSpPr>
          <p:cNvPr id="4" name="Title"/>
          <p:cNvSpPr txBox="1"/>
          <p:nvPr/>
        </p:nvSpPr>
        <p:spPr>
          <a:xfrm>
            <a:off x="2103120" y="274320"/>
            <a:ext cx="96012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Voice in, voice out. The call comes first.</a:t>
            </a:r>
            <a:endParaRPr lang="en-US" sz="32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Built for a family that cannot type in a crisis and should never have to look for the ambulance number</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speak-idle">    </p:cNvPr>
          <p:cNvPicPr>
            <a:picLocks noChangeAspect="1"/>
          </p:cNvPicPr>
          <p:nvPr/>
        </p:nvPicPr>
        <p:blipFill>
          <a:blip r:embed="rId1"/>
          <a:stretch>
            <a:fillRect/>
          </a:stretch>
        </p:blipFill>
        <p:spPr>
          <a:xfrm>
            <a:off x="685800" y="1783080"/>
            <a:ext cx="1874520" cy="3648944"/>
          </a:xfrm>
          <a:prstGeom prst="rect">
            <a:avLst/>
          </a:prstGeom>
        </p:spPr>
      </p:pic>
      <p:pic>
        <p:nvPicPr>
          <p:cNvPr id="8" name="Image 1" descr="Maitri app screen: voice-review">    </p:cNvPr>
          <p:cNvPicPr>
            <a:picLocks noChangeAspect="1"/>
          </p:cNvPicPr>
          <p:nvPr/>
        </p:nvPicPr>
        <p:blipFill>
          <a:blip r:embed="rId2"/>
          <a:stretch>
            <a:fillRect/>
          </a:stretch>
        </p:blipFill>
        <p:spPr>
          <a:xfrm>
            <a:off x="2651760" y="1783080"/>
            <a:ext cx="1874520" cy="3648944"/>
          </a:xfrm>
          <a:prstGeom prst="rect">
            <a:avLst/>
          </a:prstGeom>
        </p:spPr>
      </p:pic>
      <p:pic>
        <p:nvPicPr>
          <p:cNvPr id="9" name="Image 2" descr="Maitri app screen: red">    </p:cNvPr>
          <p:cNvPicPr>
            <a:picLocks noChangeAspect="1"/>
          </p:cNvPicPr>
          <p:nvPr/>
        </p:nvPicPr>
        <p:blipFill>
          <a:blip r:embed="rId3"/>
          <a:stretch>
            <a:fillRect/>
          </a:stretch>
        </p:blipFill>
        <p:spPr>
          <a:xfrm>
            <a:off x="4617720" y="1783080"/>
            <a:ext cx="1874520" cy="3648944"/>
          </a:xfrm>
          <a:prstGeom prst="rect">
            <a:avLst/>
          </a:prstGeom>
        </p:spPr>
      </p:pic>
      <p:sp>
        <p:nvSpPr>
          <p:cNvPr id="10" name="Ring speak-idle mic"/>
          <p:cNvSpPr/>
          <p:nvPr/>
        </p:nvSpPr>
        <p:spPr>
          <a:xfrm>
            <a:off x="808645" y="2910294"/>
            <a:ext cx="1628830" cy="727969"/>
          </a:xfrm>
          <a:prstGeom prst="roundRect">
            <a:avLst>
              <a:gd name="adj" fmla="val 7537"/>
            </a:avLst>
          </a:prstGeom>
          <a:solidFill>
            <a:srgbClr val="FFFFFF">
              <a:alpha val="0"/>
            </a:srgbClr>
          </a:solidFill>
          <a:ln w="38100">
            <a:solidFill>
              <a:schemeClr val="accent1"/>
            </a:solidFill>
            <a:prstDash val="solid"/>
          </a:ln>
        </p:spPr>
      </p:sp>
      <p:sp>
        <p:nvSpPr>
          <p:cNvPr id="11" name="Marker 1"/>
          <p:cNvSpPr/>
          <p:nvPr/>
        </p:nvSpPr>
        <p:spPr>
          <a:xfrm>
            <a:off x="653197" y="3118831"/>
            <a:ext cx="310896" cy="310896"/>
          </a:xfrm>
          <a:prstGeom prst="ellipse">
            <a:avLst/>
          </a:prstGeom>
          <a:solidFill>
            <a:schemeClr val="accent1"/>
          </a:solidFill>
          <a:ln w="19050">
            <a:solidFill>
              <a:schemeClr val="tx1"/>
            </a:solidFill>
            <a:prstDash val="solid"/>
          </a:ln>
        </p:spPr>
      </p:sp>
      <p:sp>
        <p:nvSpPr>
          <p:cNvPr id="12" name="Text 7"/>
          <p:cNvSpPr txBox="1"/>
          <p:nvPr/>
        </p:nvSpPr>
        <p:spPr>
          <a:xfrm>
            <a:off x="653197" y="3118831"/>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p>
        </p:txBody>
      </p:sp>
      <p:sp>
        <p:nvSpPr>
          <p:cNvPr id="13" name="Ring voice-review heard"/>
          <p:cNvSpPr/>
          <p:nvPr/>
        </p:nvSpPr>
        <p:spPr>
          <a:xfrm>
            <a:off x="2774605" y="2460432"/>
            <a:ext cx="1628830" cy="449862"/>
          </a:xfrm>
          <a:prstGeom prst="roundRect">
            <a:avLst>
              <a:gd name="adj" fmla="val 12196"/>
            </a:avLst>
          </a:prstGeom>
          <a:solidFill>
            <a:srgbClr val="FFFFFF">
              <a:alpha val="0"/>
            </a:srgbClr>
          </a:solidFill>
          <a:ln w="38100">
            <a:solidFill>
              <a:schemeClr val="accent1"/>
            </a:solidFill>
            <a:prstDash val="solid"/>
          </a:ln>
        </p:spPr>
      </p:sp>
      <p:sp>
        <p:nvSpPr>
          <p:cNvPr id="14" name="Marker 2"/>
          <p:cNvSpPr/>
          <p:nvPr/>
        </p:nvSpPr>
        <p:spPr>
          <a:xfrm>
            <a:off x="2619157" y="2529915"/>
            <a:ext cx="310896" cy="310896"/>
          </a:xfrm>
          <a:prstGeom prst="ellipse">
            <a:avLst/>
          </a:prstGeom>
          <a:solidFill>
            <a:schemeClr val="accent1"/>
          </a:solidFill>
          <a:ln w="19050">
            <a:solidFill>
              <a:schemeClr val="tx1"/>
            </a:solidFill>
            <a:prstDash val="solid"/>
          </a:ln>
        </p:spPr>
      </p:sp>
      <p:sp>
        <p:nvSpPr>
          <p:cNvPr id="15" name="Text 10"/>
          <p:cNvSpPr txBox="1"/>
          <p:nvPr/>
        </p:nvSpPr>
        <p:spPr>
          <a:xfrm>
            <a:off x="2619157" y="2529915"/>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2</a:t>
            </a:r>
            <a:endParaRPr lang="en-US" sz="1300" dirty="0"/>
          </a:p>
        </p:txBody>
      </p:sp>
      <p:sp>
        <p:nvSpPr>
          <p:cNvPr id="16" name="Ring red call"/>
          <p:cNvSpPr/>
          <p:nvPr/>
        </p:nvSpPr>
        <p:spPr>
          <a:xfrm>
            <a:off x="4740565" y="4453816"/>
            <a:ext cx="1628830" cy="291188"/>
          </a:xfrm>
          <a:prstGeom prst="roundRect">
            <a:avLst>
              <a:gd name="adj" fmla="val 18841"/>
            </a:avLst>
          </a:prstGeom>
          <a:solidFill>
            <a:srgbClr val="FFFFFF">
              <a:alpha val="0"/>
            </a:srgbClr>
          </a:solidFill>
          <a:ln w="38100">
            <a:solidFill>
              <a:schemeClr val="accent1"/>
            </a:solidFill>
            <a:prstDash val="solid"/>
          </a:ln>
        </p:spPr>
      </p:sp>
      <p:sp>
        <p:nvSpPr>
          <p:cNvPr id="17" name="Marker 3"/>
          <p:cNvSpPr/>
          <p:nvPr/>
        </p:nvSpPr>
        <p:spPr>
          <a:xfrm>
            <a:off x="4585117" y="4443962"/>
            <a:ext cx="310896" cy="310896"/>
          </a:xfrm>
          <a:prstGeom prst="ellipse">
            <a:avLst/>
          </a:prstGeom>
          <a:solidFill>
            <a:schemeClr val="accent1"/>
          </a:solidFill>
          <a:ln w="19050">
            <a:solidFill>
              <a:schemeClr val="tx1"/>
            </a:solidFill>
            <a:prstDash val="solid"/>
          </a:ln>
        </p:spPr>
      </p:sp>
      <p:sp>
        <p:nvSpPr>
          <p:cNvPr id="18" name="Text 13"/>
          <p:cNvSpPr txBox="1"/>
          <p:nvPr/>
        </p:nvSpPr>
        <p:spPr>
          <a:xfrm>
            <a:off x="4585117" y="4443962"/>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3</a:t>
            </a:r>
            <a:endParaRPr lang="en-US" sz="1300" dirty="0"/>
          </a:p>
        </p:txBody>
      </p:sp>
      <p:sp>
        <p:nvSpPr>
          <p:cNvPr id="19" name="Text 14"/>
          <p:cNvSpPr txBox="1"/>
          <p:nvPr/>
        </p:nvSpPr>
        <p:spPr>
          <a:xfrm>
            <a:off x="731520" y="5669280"/>
            <a:ext cx="6355080" cy="502920"/>
          </a:xfrm>
          <a:prstGeom prst="rect">
            <a:avLst/>
          </a:prstGeom>
          <a:noFill/>
          <a:ln/>
        </p:spPr>
        <p:txBody>
          <a:bodyPr wrap="square" lIns="0" tIns="0" rIns="0" bIns="0" rtlCol="0" anchor="ctr"/>
          <a:lstStyle/>
          <a:p>
            <a:pPr algn="ctr" indent="0" marL="0">
              <a:buNone/>
            </a:pPr>
            <a:r>
              <a:rPr lang="en-US" sz="1300" i="1" dirty="0">
                <a:solidFill>
                  <a:schemeClr val="bg1"/>
                </a:solidFill>
                <a:latin typeface="Calibri" pitchFamily="34" charset="0"/>
                <a:ea typeface="Calibri" pitchFamily="34" charset="-122"/>
                <a:cs typeface="Calibri" pitchFamily="34" charset="-120"/>
              </a:rPr>
              <a:t>Honest note: speech recognition needs internet on most phones. Spoken output uses the phone's own voice.</a:t>
            </a:r>
            <a:endParaRPr lang="en-US" sz="1300" dirty="0"/>
          </a:p>
        </p:txBody>
      </p:sp>
      <p:sp>
        <p:nvSpPr>
          <p:cNvPr id="20" name="Legend marker 1"/>
          <p:cNvSpPr/>
          <p:nvPr/>
        </p:nvSpPr>
        <p:spPr>
          <a:xfrm>
            <a:off x="7498080" y="1600200"/>
            <a:ext cx="402336" cy="402336"/>
          </a:xfrm>
          <a:prstGeom prst="ellipse">
            <a:avLst/>
          </a:prstGeom>
          <a:solidFill>
            <a:schemeClr val="accent1"/>
          </a:solidFill>
          <a:ln w="19050">
            <a:solidFill>
              <a:schemeClr val="tx1"/>
            </a:solidFill>
            <a:prstDash val="solid"/>
          </a:ln>
        </p:spPr>
      </p:sp>
      <p:sp>
        <p:nvSpPr>
          <p:cNvPr id="21" name="Text 16"/>
          <p:cNvSpPr txBox="1"/>
          <p:nvPr/>
        </p:nvSpPr>
        <p:spPr>
          <a:xfrm>
            <a:off x="7498080" y="1600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1</a:t>
            </a:r>
            <a:endParaRPr lang="en-US" sz="1600" dirty="0"/>
          </a:p>
        </p:txBody>
      </p:sp>
      <p:sp>
        <p:nvSpPr>
          <p:cNvPr id="22" name="Text 17"/>
          <p:cNvSpPr txBox="1"/>
          <p:nvPr/>
        </p:nvSpPr>
        <p:spPr>
          <a:xfrm>
            <a:off x="8065008" y="1563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Speak it</a:t>
            </a:r>
            <a:endParaRPr lang="en-US" sz="1900" dirty="0"/>
          </a:p>
        </p:txBody>
      </p:sp>
      <p:sp>
        <p:nvSpPr>
          <p:cNvPr id="23" name="Text 18"/>
          <p:cNvSpPr txBox="1"/>
          <p:nvPr/>
        </p:nvSpPr>
        <p:spPr>
          <a:xfrm>
            <a:off x="8065008" y="1965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tap, then say what is happening in Hindi or English. Speech-to-text turns it into the signs.</a:t>
            </a:r>
            <a:endParaRPr lang="en-US" sz="1400" dirty="0"/>
          </a:p>
        </p:txBody>
      </p:sp>
      <p:sp>
        <p:nvSpPr>
          <p:cNvPr id="24" name="Legend marker 2"/>
          <p:cNvSpPr/>
          <p:nvPr/>
        </p:nvSpPr>
        <p:spPr>
          <a:xfrm>
            <a:off x="7498080" y="2743200"/>
            <a:ext cx="402336" cy="402336"/>
          </a:xfrm>
          <a:prstGeom prst="ellipse">
            <a:avLst/>
          </a:prstGeom>
          <a:solidFill>
            <a:schemeClr val="accent1"/>
          </a:solidFill>
          <a:ln w="19050">
            <a:solidFill>
              <a:schemeClr val="tx1"/>
            </a:solidFill>
            <a:prstDash val="solid"/>
          </a:ln>
        </p:spPr>
      </p:sp>
      <p:sp>
        <p:nvSpPr>
          <p:cNvPr id="25" name="Text 20"/>
          <p:cNvSpPr txBox="1"/>
          <p:nvPr/>
        </p:nvSpPr>
        <p:spPr>
          <a:xfrm>
            <a:off x="7498080" y="2743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26" name="Text 21"/>
          <p:cNvSpPr txBox="1"/>
          <p:nvPr/>
        </p:nvSpPr>
        <p:spPr>
          <a:xfrm>
            <a:off x="8065008" y="2706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Check and edit</a:t>
            </a:r>
            <a:endParaRPr lang="en-US" sz="1900" dirty="0"/>
          </a:p>
        </p:txBody>
      </p:sp>
      <p:sp>
        <p:nvSpPr>
          <p:cNvPr id="27" name="Text 22"/>
          <p:cNvSpPr txBox="1"/>
          <p:nvPr/>
        </p:nvSpPr>
        <p:spPr>
          <a:xfrm>
            <a:off x="8065008" y="3108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She sees what was heard and can remove a wrong sign. A spoken "No" is confirmed first.</a:t>
            </a:r>
            <a:endParaRPr lang="en-US" sz="1400" dirty="0"/>
          </a:p>
        </p:txBody>
      </p:sp>
      <p:sp>
        <p:nvSpPr>
          <p:cNvPr id="28" name="Legend marker 3"/>
          <p:cNvSpPr/>
          <p:nvPr/>
        </p:nvSpPr>
        <p:spPr>
          <a:xfrm>
            <a:off x="7498080" y="3886200"/>
            <a:ext cx="402336" cy="402336"/>
          </a:xfrm>
          <a:prstGeom prst="ellipse">
            <a:avLst/>
          </a:prstGeom>
          <a:solidFill>
            <a:schemeClr val="accent1"/>
          </a:solidFill>
          <a:ln w="19050">
            <a:solidFill>
              <a:schemeClr val="tx1"/>
            </a:solidFill>
            <a:prstDash val="solid"/>
          </a:ln>
        </p:spPr>
      </p:sp>
      <p:sp>
        <p:nvSpPr>
          <p:cNvPr id="29" name="Text 24"/>
          <p:cNvSpPr txBox="1"/>
          <p:nvPr/>
        </p:nvSpPr>
        <p:spPr>
          <a:xfrm>
            <a:off x="7498080" y="3886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3</a:t>
            </a:r>
            <a:endParaRPr lang="en-US" sz="1600" dirty="0"/>
          </a:p>
        </p:txBody>
      </p:sp>
      <p:sp>
        <p:nvSpPr>
          <p:cNvPr id="30" name="Text 25"/>
          <p:cNvSpPr txBox="1"/>
          <p:nvPr/>
        </p:nvSpPr>
        <p:spPr>
          <a:xfrm>
            <a:off x="8065008" y="3849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One RED sign, one call</a:t>
            </a:r>
            <a:endParaRPr lang="en-US" sz="1900" dirty="0"/>
          </a:p>
        </p:txBody>
      </p:sp>
      <p:sp>
        <p:nvSpPr>
          <p:cNvPr id="31" name="Text 26"/>
          <p:cNvSpPr txBox="1"/>
          <p:nvPr/>
        </p:nvSpPr>
        <p:spPr>
          <a:xfrm>
            <a:off x="8065008" y="4251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check stops at once. The call button is the largest control. Never "fine", and "not sure" goes up.</a:t>
            </a:r>
            <a:endParaRPr lang="en-US" sz="1400" dirty="0"/>
          </a:p>
        </p:txBody>
      </p:sp>
      <p:sp>
        <p:nvSpPr>
          <p:cNvPr id="32" name="Text 27"/>
          <p:cNvSpPr txBox="1"/>
          <p:nvPr/>
        </p:nvSpPr>
        <p:spPr>
          <a:xfrm>
            <a:off x="7498080" y="5120640"/>
            <a:ext cx="4251960" cy="10058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Listen and Slow read every question and result aloud (text-to-speech). The emergency call is the first control on the first screen.</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ill USP 3 + 4"/>
          <p:cNvSpPr/>
          <p:nvPr/>
        </p:nvSpPr>
        <p:spPr>
          <a:xfrm>
            <a:off x="548640" y="457200"/>
            <a:ext cx="137160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37160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3 + 4</a:t>
            </a:r>
            <a:endParaRPr lang="en-US" sz="1500" dirty="0"/>
          </a:p>
        </p:txBody>
      </p:sp>
      <p:sp>
        <p:nvSpPr>
          <p:cNvPr id="4" name="Title"/>
          <p:cNvSpPr txBox="1"/>
          <p:nvPr/>
        </p:nvSpPr>
        <p:spPr>
          <a:xfrm>
            <a:off x="2103120" y="274320"/>
            <a:ext cx="96012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It shows its work. It gives a plan.</a:t>
            </a:r>
            <a:endParaRPr lang="en-US" sz="32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The whole reasoning on screen in one tap, and the family leaves knowing who to call and what to hand over</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why">    </p:cNvPr>
          <p:cNvPicPr>
            <a:picLocks noChangeAspect="1"/>
          </p:cNvPicPr>
          <p:nvPr/>
        </p:nvPicPr>
        <p:blipFill>
          <a:blip r:embed="rId1"/>
          <a:stretch>
            <a:fillRect/>
          </a:stretch>
        </p:blipFill>
        <p:spPr>
          <a:xfrm>
            <a:off x="685800" y="1783080"/>
            <a:ext cx="1874520" cy="3648944"/>
          </a:xfrm>
          <a:prstGeom prst="rect">
            <a:avLst/>
          </a:prstGeom>
        </p:spPr>
      </p:pic>
      <p:pic>
        <p:nvPicPr>
          <p:cNvPr id="8" name="Image 1" descr="Maitri app screen: plan">    </p:cNvPr>
          <p:cNvPicPr>
            <a:picLocks noChangeAspect="1"/>
          </p:cNvPicPr>
          <p:nvPr/>
        </p:nvPicPr>
        <p:blipFill>
          <a:blip r:embed="rId2"/>
          <a:stretch>
            <a:fillRect/>
          </a:stretch>
        </p:blipFill>
        <p:spPr>
          <a:xfrm>
            <a:off x="2651760" y="1783080"/>
            <a:ext cx="1874520" cy="3648944"/>
          </a:xfrm>
          <a:prstGeom prst="rect">
            <a:avLst/>
          </a:prstGeom>
        </p:spPr>
      </p:pic>
      <p:pic>
        <p:nvPicPr>
          <p:cNvPr id="9" name="Image 2" descr="Maitri app screen: slip">    </p:cNvPr>
          <p:cNvPicPr>
            <a:picLocks noChangeAspect="1"/>
          </p:cNvPicPr>
          <p:nvPr/>
        </p:nvPicPr>
        <p:blipFill>
          <a:blip r:embed="rId3"/>
          <a:stretch>
            <a:fillRect/>
          </a:stretch>
        </p:blipFill>
        <p:spPr>
          <a:xfrm>
            <a:off x="4617720" y="1783080"/>
            <a:ext cx="1874520" cy="3648944"/>
          </a:xfrm>
          <a:prstGeom prst="rect">
            <a:avLst/>
          </a:prstGeom>
        </p:spPr>
      </p:pic>
      <p:sp>
        <p:nvSpPr>
          <p:cNvPr id="10" name="Ring why item"/>
          <p:cNvSpPr/>
          <p:nvPr/>
        </p:nvSpPr>
        <p:spPr>
          <a:xfrm>
            <a:off x="817744" y="3397550"/>
            <a:ext cx="1610631" cy="1247073"/>
          </a:xfrm>
          <a:prstGeom prst="roundRect">
            <a:avLst>
              <a:gd name="adj" fmla="val 4399"/>
            </a:avLst>
          </a:prstGeom>
          <a:solidFill>
            <a:srgbClr val="FFFFFF">
              <a:alpha val="0"/>
            </a:srgbClr>
          </a:solidFill>
          <a:ln w="38100">
            <a:solidFill>
              <a:schemeClr val="accent1"/>
            </a:solidFill>
            <a:prstDash val="solid"/>
          </a:ln>
        </p:spPr>
      </p:sp>
      <p:sp>
        <p:nvSpPr>
          <p:cNvPr id="11" name="Marker 1"/>
          <p:cNvSpPr/>
          <p:nvPr/>
        </p:nvSpPr>
        <p:spPr>
          <a:xfrm>
            <a:off x="662296" y="3865639"/>
            <a:ext cx="310896" cy="310896"/>
          </a:xfrm>
          <a:prstGeom prst="ellipse">
            <a:avLst/>
          </a:prstGeom>
          <a:solidFill>
            <a:schemeClr val="accent1"/>
          </a:solidFill>
          <a:ln w="19050">
            <a:solidFill>
              <a:schemeClr val="tx1"/>
            </a:solidFill>
            <a:prstDash val="solid"/>
          </a:ln>
        </p:spPr>
      </p:sp>
      <p:sp>
        <p:nvSpPr>
          <p:cNvPr id="12" name="Text 7"/>
          <p:cNvSpPr txBox="1"/>
          <p:nvPr/>
        </p:nvSpPr>
        <p:spPr>
          <a:xfrm>
            <a:off x="662296" y="3865639"/>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p>
        </p:txBody>
      </p:sp>
      <p:sp>
        <p:nvSpPr>
          <p:cNvPr id="13" name="Ring plan call"/>
          <p:cNvSpPr/>
          <p:nvPr/>
        </p:nvSpPr>
        <p:spPr>
          <a:xfrm>
            <a:off x="3083352" y="2878161"/>
            <a:ext cx="1247287" cy="254789"/>
          </a:xfrm>
          <a:prstGeom prst="roundRect">
            <a:avLst>
              <a:gd name="adj" fmla="val 21533"/>
            </a:avLst>
          </a:prstGeom>
          <a:solidFill>
            <a:srgbClr val="FFFFFF">
              <a:alpha val="0"/>
            </a:srgbClr>
          </a:solidFill>
          <a:ln w="38100">
            <a:solidFill>
              <a:schemeClr val="accent1"/>
            </a:solidFill>
            <a:prstDash val="solid"/>
          </a:ln>
        </p:spPr>
      </p:sp>
      <p:sp>
        <p:nvSpPr>
          <p:cNvPr id="14" name="Marker 2"/>
          <p:cNvSpPr/>
          <p:nvPr/>
        </p:nvSpPr>
        <p:spPr>
          <a:xfrm>
            <a:off x="2927904" y="2850108"/>
            <a:ext cx="310896" cy="310896"/>
          </a:xfrm>
          <a:prstGeom prst="ellipse">
            <a:avLst/>
          </a:prstGeom>
          <a:solidFill>
            <a:schemeClr val="accent1"/>
          </a:solidFill>
          <a:ln w="19050">
            <a:solidFill>
              <a:schemeClr val="tx1"/>
            </a:solidFill>
            <a:prstDash val="solid"/>
          </a:ln>
        </p:spPr>
      </p:sp>
      <p:sp>
        <p:nvSpPr>
          <p:cNvPr id="15" name="Text 10"/>
          <p:cNvSpPr txBox="1"/>
          <p:nvPr/>
        </p:nvSpPr>
        <p:spPr>
          <a:xfrm>
            <a:off x="2927904" y="2850108"/>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2</a:t>
            </a:r>
            <a:endParaRPr lang="en-US" sz="1300" dirty="0"/>
          </a:p>
        </p:txBody>
      </p:sp>
      <p:sp>
        <p:nvSpPr>
          <p:cNvPr id="16" name="Ring slip share"/>
          <p:cNvSpPr/>
          <p:nvPr/>
        </p:nvSpPr>
        <p:spPr>
          <a:xfrm>
            <a:off x="4740565" y="4977186"/>
            <a:ext cx="1628830" cy="350193"/>
          </a:xfrm>
          <a:prstGeom prst="roundRect">
            <a:avLst>
              <a:gd name="adj" fmla="val 15667"/>
            </a:avLst>
          </a:prstGeom>
          <a:solidFill>
            <a:srgbClr val="FFFFFF">
              <a:alpha val="0"/>
            </a:srgbClr>
          </a:solidFill>
          <a:ln w="38100">
            <a:solidFill>
              <a:schemeClr val="accent1"/>
            </a:solidFill>
            <a:prstDash val="solid"/>
          </a:ln>
        </p:spPr>
      </p:sp>
      <p:sp>
        <p:nvSpPr>
          <p:cNvPr id="17" name="Marker 3"/>
          <p:cNvSpPr/>
          <p:nvPr/>
        </p:nvSpPr>
        <p:spPr>
          <a:xfrm>
            <a:off x="4585117" y="4996834"/>
            <a:ext cx="310896" cy="310896"/>
          </a:xfrm>
          <a:prstGeom prst="ellipse">
            <a:avLst/>
          </a:prstGeom>
          <a:solidFill>
            <a:schemeClr val="accent1"/>
          </a:solidFill>
          <a:ln w="19050">
            <a:solidFill>
              <a:schemeClr val="tx1"/>
            </a:solidFill>
            <a:prstDash val="solid"/>
          </a:ln>
        </p:spPr>
      </p:sp>
      <p:sp>
        <p:nvSpPr>
          <p:cNvPr id="18" name="Text 13"/>
          <p:cNvSpPr txBox="1"/>
          <p:nvPr/>
        </p:nvSpPr>
        <p:spPr>
          <a:xfrm>
            <a:off x="4585117" y="4996834"/>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3</a:t>
            </a:r>
            <a:endParaRPr lang="en-US" sz="1300" dirty="0"/>
          </a:p>
        </p:txBody>
      </p:sp>
      <p:sp>
        <p:nvSpPr>
          <p:cNvPr id="19" name="Text 14"/>
          <p:cNvSpPr txBox="1"/>
          <p:nvPr/>
        </p:nvSpPr>
        <p:spPr>
          <a:xfrm>
            <a:off x="731520" y="5669280"/>
            <a:ext cx="6355080" cy="502920"/>
          </a:xfrm>
          <a:prstGeom prst="rect">
            <a:avLst/>
          </a:prstGeom>
          <a:noFill/>
          <a:ln/>
        </p:spPr>
        <p:txBody>
          <a:bodyPr wrap="square" lIns="0" tIns="0" rIns="0" bIns="0" rtlCol="0" anchor="ctr"/>
          <a:lstStyle/>
          <a:p>
            <a:pPr algn="ctr" indent="0" marL="0">
              <a:buNone/>
            </a:pPr>
            <a:r>
              <a:rPr lang="en-US" sz="1200" i="1" dirty="0">
                <a:solidFill>
                  <a:schemeClr val="bg1"/>
                </a:solidFill>
                <a:latin typeface="Calibri" pitchFamily="34" charset="0"/>
                <a:ea typeface="Calibri" pitchFamily="34" charset="-122"/>
                <a:cs typeface="Calibri" pitchFamily="34" charset="-120"/>
              </a:rPr>
              <a:t>Rules are a draft and not yet clinician reviewed. The tests check the code matches the rules; they are not clinical validation.</a:t>
            </a:r>
            <a:endParaRPr lang="en-US" sz="1200" dirty="0"/>
          </a:p>
        </p:txBody>
      </p:sp>
      <p:sp>
        <p:nvSpPr>
          <p:cNvPr id="20" name="Legend marker 1"/>
          <p:cNvSpPr/>
          <p:nvPr/>
        </p:nvSpPr>
        <p:spPr>
          <a:xfrm>
            <a:off x="7498080" y="1600200"/>
            <a:ext cx="402336" cy="402336"/>
          </a:xfrm>
          <a:prstGeom prst="ellipse">
            <a:avLst/>
          </a:prstGeom>
          <a:solidFill>
            <a:schemeClr val="accent1"/>
          </a:solidFill>
          <a:ln w="19050">
            <a:solidFill>
              <a:schemeClr val="tx1"/>
            </a:solidFill>
            <a:prstDash val="solid"/>
          </a:ln>
        </p:spPr>
      </p:sp>
      <p:sp>
        <p:nvSpPr>
          <p:cNvPr id="21" name="Text 16"/>
          <p:cNvSpPr txBox="1"/>
          <p:nvPr/>
        </p:nvSpPr>
        <p:spPr>
          <a:xfrm>
            <a:off x="7498080" y="1600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1</a:t>
            </a:r>
            <a:endParaRPr lang="en-US" sz="1600" dirty="0"/>
          </a:p>
        </p:txBody>
      </p:sp>
      <p:sp>
        <p:nvSpPr>
          <p:cNvPr id="22" name="Text 17"/>
          <p:cNvSpPr txBox="1"/>
          <p:nvPr/>
        </p:nvSpPr>
        <p:spPr>
          <a:xfrm>
            <a:off x="8065008" y="1563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"Why this result?"</a:t>
            </a:r>
            <a:endParaRPr lang="en-US" sz="1900" dirty="0"/>
          </a:p>
        </p:txBody>
      </p:sp>
      <p:sp>
        <p:nvSpPr>
          <p:cNvPr id="23" name="Text 18"/>
          <p:cNvSpPr txBox="1"/>
          <p:nvPr/>
        </p:nvSpPr>
        <p:spPr>
          <a:xfrm>
            <a:off x="8065008" y="1965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rule, the sign, the source and the rule version. A fixed list a clinician can review. No AI decides.</a:t>
            </a:r>
            <a:endParaRPr lang="en-US" sz="1400" dirty="0"/>
          </a:p>
        </p:txBody>
      </p:sp>
      <p:sp>
        <p:nvSpPr>
          <p:cNvPr id="24" name="Legend marker 2"/>
          <p:cNvSpPr/>
          <p:nvPr/>
        </p:nvSpPr>
        <p:spPr>
          <a:xfrm>
            <a:off x="7498080" y="2743200"/>
            <a:ext cx="402336" cy="402336"/>
          </a:xfrm>
          <a:prstGeom prst="ellipse">
            <a:avLst/>
          </a:prstGeom>
          <a:solidFill>
            <a:schemeClr val="accent1"/>
          </a:solidFill>
          <a:ln w="19050">
            <a:solidFill>
              <a:schemeClr val="tx1"/>
            </a:solidFill>
            <a:prstDash val="solid"/>
          </a:ln>
        </p:spPr>
      </p:sp>
      <p:sp>
        <p:nvSpPr>
          <p:cNvPr id="25" name="Text 20"/>
          <p:cNvSpPr txBox="1"/>
          <p:nvPr/>
        </p:nvSpPr>
        <p:spPr>
          <a:xfrm>
            <a:off x="7498080" y="2743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26" name="Text 21"/>
          <p:cNvSpPr txBox="1"/>
          <p:nvPr/>
        </p:nvSpPr>
        <p:spPr>
          <a:xfrm>
            <a:off x="8065008" y="2706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The go-now plan</a:t>
            </a:r>
            <a:endParaRPr lang="en-US" sz="1900" dirty="0"/>
          </a:p>
        </p:txBody>
      </p:sp>
      <p:sp>
        <p:nvSpPr>
          <p:cNvPr id="27" name="Text 22"/>
          <p:cNvSpPr txBox="1"/>
          <p:nvPr/>
        </p:nvSpPr>
        <p:spPr>
          <a:xfrm>
            <a:off x="8065008" y="3108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Call, decide who goes, show the slip, ask for free transport and care (JSSK). Steps to tick off.</a:t>
            </a:r>
            <a:endParaRPr lang="en-US" sz="1400" dirty="0"/>
          </a:p>
        </p:txBody>
      </p:sp>
      <p:sp>
        <p:nvSpPr>
          <p:cNvPr id="28" name="Legend marker 3"/>
          <p:cNvSpPr/>
          <p:nvPr/>
        </p:nvSpPr>
        <p:spPr>
          <a:xfrm>
            <a:off x="7498080" y="3886200"/>
            <a:ext cx="402336" cy="402336"/>
          </a:xfrm>
          <a:prstGeom prst="ellipse">
            <a:avLst/>
          </a:prstGeom>
          <a:solidFill>
            <a:schemeClr val="accent1"/>
          </a:solidFill>
          <a:ln w="19050">
            <a:solidFill>
              <a:schemeClr val="tx1"/>
            </a:solidFill>
            <a:prstDash val="solid"/>
          </a:ln>
        </p:spPr>
      </p:sp>
      <p:sp>
        <p:nvSpPr>
          <p:cNvPr id="29" name="Text 24"/>
          <p:cNvSpPr txBox="1"/>
          <p:nvPr/>
        </p:nvSpPr>
        <p:spPr>
          <a:xfrm>
            <a:off x="7498080" y="3886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3</a:t>
            </a:r>
            <a:endParaRPr lang="en-US" sz="1600" dirty="0"/>
          </a:p>
        </p:txBody>
      </p:sp>
      <p:sp>
        <p:nvSpPr>
          <p:cNvPr id="30" name="Text 25"/>
          <p:cNvSpPr txBox="1"/>
          <p:nvPr/>
        </p:nvSpPr>
        <p:spPr>
          <a:xfrm>
            <a:off x="8065008" y="3849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The Maitri slip</a:t>
            </a:r>
            <a:endParaRPr lang="en-US" sz="1900" dirty="0"/>
          </a:p>
        </p:txBody>
      </p:sp>
      <p:sp>
        <p:nvSpPr>
          <p:cNvPr id="31" name="Text 26"/>
          <p:cNvSpPr txBox="1"/>
          <p:nvPr/>
        </p:nvSpPr>
        <p:spPr>
          <a:xfrm>
            <a:off x="8065008" y="4251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Stage, result and signs told. No name, no phone number. Shared only after she agrees.</a:t>
            </a:r>
            <a:endParaRPr lang="en-US" sz="1400" dirty="0"/>
          </a:p>
        </p:txBody>
      </p:sp>
      <p:sp>
        <p:nvSpPr>
          <p:cNvPr id="32" name="Stat 0"/>
          <p:cNvSpPr/>
          <p:nvPr/>
        </p:nvSpPr>
        <p:spPr>
          <a:xfrm>
            <a:off x="7498080" y="5166360"/>
            <a:ext cx="1371600" cy="1097280"/>
          </a:xfrm>
          <a:prstGeom prst="roundRect">
            <a:avLst>
              <a:gd name="adj" fmla="val 8333"/>
            </a:avLst>
          </a:prstGeom>
          <a:solidFill>
            <a:schemeClr val="tx2"/>
          </a:solidFill>
          <a:ln w="12700">
            <a:solidFill>
              <a:schemeClr val="tx2"/>
            </a:solidFill>
            <a:prstDash val="solid"/>
          </a:ln>
        </p:spPr>
      </p:sp>
      <p:sp>
        <p:nvSpPr>
          <p:cNvPr id="33" name="Text 28"/>
          <p:cNvSpPr txBox="1"/>
          <p:nvPr/>
        </p:nvSpPr>
        <p:spPr>
          <a:xfrm>
            <a:off x="7498080" y="5212080"/>
            <a:ext cx="1371600" cy="640080"/>
          </a:xfrm>
          <a:prstGeom prst="rect">
            <a:avLst/>
          </a:prstGeom>
          <a:noFill/>
          <a:ln/>
        </p:spPr>
        <p:txBody>
          <a:bodyPr wrap="square" lIns="0" tIns="0" rIns="0" bIns="0" rtlCol="0" anchor="ctr"/>
          <a:lstStyle/>
          <a:p>
            <a:pPr algn="ctr" indent="0" marL="0">
              <a:buNone/>
            </a:pPr>
            <a:r>
              <a:rPr lang="en-US" sz="2800" b="1" dirty="0">
                <a:solidFill>
                  <a:schemeClr val="accent1"/>
                </a:solidFill>
                <a:latin typeface="Cambria" pitchFamily="34" charset="0"/>
                <a:ea typeface="Cambria" pitchFamily="34" charset="-122"/>
                <a:cs typeface="Cambria" pitchFamily="34" charset="-120"/>
              </a:rPr>
              <a:t>205</a:t>
            </a:r>
            <a:endParaRPr lang="en-US" sz="2800" dirty="0"/>
          </a:p>
        </p:txBody>
      </p:sp>
      <p:sp>
        <p:nvSpPr>
          <p:cNvPr id="34" name="Text 29"/>
          <p:cNvSpPr txBox="1"/>
          <p:nvPr/>
        </p:nvSpPr>
        <p:spPr>
          <a:xfrm>
            <a:off x="7498080" y="5852160"/>
            <a:ext cx="1371600" cy="320040"/>
          </a:xfrm>
          <a:prstGeom prst="rect">
            <a:avLst/>
          </a:prstGeom>
          <a:noFill/>
          <a:ln/>
        </p:spPr>
        <p:txBody>
          <a:bodyPr wrap="square" lIns="0" tIns="0" rIns="0" bIns="0" rtlCol="0" anchor="ctr"/>
          <a:lstStyle/>
          <a:p>
            <a:pPr algn="ctr" indent="0" marL="0">
              <a:buNone/>
            </a:pPr>
            <a:r>
              <a:rPr lang="en-US" sz="1200" dirty="0">
                <a:solidFill>
                  <a:schemeClr val="bg1"/>
                </a:solidFill>
                <a:latin typeface="Calibri" pitchFamily="34" charset="0"/>
                <a:ea typeface="Calibri" pitchFamily="34" charset="-122"/>
                <a:cs typeface="Calibri" pitchFamily="34" charset="-120"/>
              </a:rPr>
              <a:t>automated tests</a:t>
            </a:r>
            <a:endParaRPr lang="en-US" sz="1200" dirty="0"/>
          </a:p>
        </p:txBody>
      </p:sp>
      <p:sp>
        <p:nvSpPr>
          <p:cNvPr id="35" name="Stat 1"/>
          <p:cNvSpPr/>
          <p:nvPr/>
        </p:nvSpPr>
        <p:spPr>
          <a:xfrm>
            <a:off x="8961120" y="5166360"/>
            <a:ext cx="1371600" cy="1097280"/>
          </a:xfrm>
          <a:prstGeom prst="roundRect">
            <a:avLst>
              <a:gd name="adj" fmla="val 8333"/>
            </a:avLst>
          </a:prstGeom>
          <a:solidFill>
            <a:schemeClr val="tx2"/>
          </a:solidFill>
          <a:ln w="12700">
            <a:solidFill>
              <a:schemeClr val="tx2"/>
            </a:solidFill>
            <a:prstDash val="solid"/>
          </a:ln>
        </p:spPr>
      </p:sp>
      <p:sp>
        <p:nvSpPr>
          <p:cNvPr id="36" name="Text 31"/>
          <p:cNvSpPr txBox="1"/>
          <p:nvPr/>
        </p:nvSpPr>
        <p:spPr>
          <a:xfrm>
            <a:off x="8961120" y="5212080"/>
            <a:ext cx="1371600" cy="640080"/>
          </a:xfrm>
          <a:prstGeom prst="rect">
            <a:avLst/>
          </a:prstGeom>
          <a:noFill/>
          <a:ln/>
        </p:spPr>
        <p:txBody>
          <a:bodyPr wrap="square" lIns="0" tIns="0" rIns="0" bIns="0" rtlCol="0" anchor="ctr"/>
          <a:lstStyle/>
          <a:p>
            <a:pPr algn="ctr" indent="0" marL="0">
              <a:buNone/>
            </a:pPr>
            <a:r>
              <a:rPr lang="en-US" sz="2800" b="1" dirty="0">
                <a:solidFill>
                  <a:schemeClr val="accent1"/>
                </a:solidFill>
                <a:latin typeface="Cambria" pitchFamily="34" charset="0"/>
                <a:ea typeface="Cambria" pitchFamily="34" charset="-122"/>
                <a:cs typeface="Cambria" pitchFamily="34" charset="-120"/>
              </a:rPr>
              <a:t>46</a:t>
            </a:r>
            <a:endParaRPr lang="en-US" sz="2800" dirty="0"/>
          </a:p>
        </p:txBody>
      </p:sp>
      <p:sp>
        <p:nvSpPr>
          <p:cNvPr id="37" name="Text 32"/>
          <p:cNvSpPr txBox="1"/>
          <p:nvPr/>
        </p:nvSpPr>
        <p:spPr>
          <a:xfrm>
            <a:off x="8961120" y="5852160"/>
            <a:ext cx="1371600" cy="320040"/>
          </a:xfrm>
          <a:prstGeom prst="rect">
            <a:avLst/>
          </a:prstGeom>
          <a:noFill/>
          <a:ln/>
        </p:spPr>
        <p:txBody>
          <a:bodyPr wrap="square" lIns="0" tIns="0" rIns="0" bIns="0" rtlCol="0" anchor="ctr"/>
          <a:lstStyle/>
          <a:p>
            <a:pPr algn="ctr" indent="0" marL="0">
              <a:buNone/>
            </a:pPr>
            <a:r>
              <a:rPr lang="en-US" sz="1200" dirty="0">
                <a:solidFill>
                  <a:schemeClr val="bg1"/>
                </a:solidFill>
                <a:latin typeface="Calibri" pitchFamily="34" charset="0"/>
                <a:ea typeface="Calibri" pitchFamily="34" charset="-122"/>
                <a:cs typeface="Calibri" pitchFamily="34" charset="-120"/>
              </a:rPr>
              <a:t>rule cases</a:t>
            </a:r>
            <a:endParaRPr lang="en-US" sz="1200" dirty="0"/>
          </a:p>
        </p:txBody>
      </p:sp>
      <p:sp>
        <p:nvSpPr>
          <p:cNvPr id="38" name="Stat 2"/>
          <p:cNvSpPr/>
          <p:nvPr/>
        </p:nvSpPr>
        <p:spPr>
          <a:xfrm>
            <a:off x="10424160" y="5166360"/>
            <a:ext cx="1371600" cy="1097280"/>
          </a:xfrm>
          <a:prstGeom prst="roundRect">
            <a:avLst>
              <a:gd name="adj" fmla="val 8333"/>
            </a:avLst>
          </a:prstGeom>
          <a:solidFill>
            <a:schemeClr val="tx2"/>
          </a:solidFill>
          <a:ln w="12700">
            <a:solidFill>
              <a:schemeClr val="tx2"/>
            </a:solidFill>
            <a:prstDash val="solid"/>
          </a:ln>
        </p:spPr>
      </p:sp>
      <p:sp>
        <p:nvSpPr>
          <p:cNvPr id="39" name="Text 34"/>
          <p:cNvSpPr txBox="1"/>
          <p:nvPr/>
        </p:nvSpPr>
        <p:spPr>
          <a:xfrm>
            <a:off x="10424160" y="5212080"/>
            <a:ext cx="1371600" cy="640080"/>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12,420</a:t>
            </a:r>
            <a:endParaRPr lang="en-US" sz="2200" dirty="0"/>
          </a:p>
        </p:txBody>
      </p:sp>
      <p:sp>
        <p:nvSpPr>
          <p:cNvPr id="40" name="Text 35"/>
          <p:cNvSpPr txBox="1"/>
          <p:nvPr/>
        </p:nvSpPr>
        <p:spPr>
          <a:xfrm>
            <a:off x="10424160" y="5852160"/>
            <a:ext cx="1371600" cy="320040"/>
          </a:xfrm>
          <a:prstGeom prst="rect">
            <a:avLst/>
          </a:prstGeom>
          <a:noFill/>
          <a:ln/>
        </p:spPr>
        <p:txBody>
          <a:bodyPr wrap="square" lIns="0" tIns="0" rIns="0" bIns="0" rtlCol="0" anchor="ctr"/>
          <a:lstStyle/>
          <a:p>
            <a:pPr algn="ctr" indent="0" marL="0">
              <a:buNone/>
            </a:pPr>
            <a:r>
              <a:rPr lang="en-US" sz="1200" dirty="0">
                <a:solidFill>
                  <a:schemeClr val="bg1"/>
                </a:solidFill>
                <a:latin typeface="Calibri" pitchFamily="34" charset="0"/>
                <a:ea typeface="Calibri" pitchFamily="34" charset="-122"/>
                <a:cs typeface="Calibri" pitchFamily="34" charset="-120"/>
              </a:rPr>
              <a:t>cross-checked</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ill USP 5"/>
          <p:cNvSpPr/>
          <p:nvPr/>
        </p:nvSpPr>
        <p:spPr>
          <a:xfrm>
            <a:off x="548640" y="457200"/>
            <a:ext cx="118872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18872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5</a:t>
            </a:r>
            <a:endParaRPr lang="en-US" sz="1500" dirty="0"/>
          </a:p>
        </p:txBody>
      </p:sp>
      <p:sp>
        <p:nvSpPr>
          <p:cNvPr id="4" name="Title"/>
          <p:cNvSpPr txBox="1"/>
          <p:nvPr/>
        </p:nvSpPr>
        <p:spPr>
          <a:xfrm>
            <a:off x="1920240" y="274320"/>
            <a:ext cx="978408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Private, offline, for everyone.</a:t>
            </a:r>
            <a:endParaRPr lang="en-US" sz="34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It still reads in greyscale, in bright sun, on a cheap phone, with no signal</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red-en">    </p:cNvPr>
          <p:cNvPicPr>
            <a:picLocks noChangeAspect="1"/>
          </p:cNvPicPr>
          <p:nvPr/>
        </p:nvPicPr>
        <p:blipFill>
          <a:blip r:embed="rId1"/>
          <a:stretch>
            <a:fillRect/>
          </a:stretch>
        </p:blipFill>
        <p:spPr>
          <a:xfrm>
            <a:off x="685800" y="1783080"/>
            <a:ext cx="1874520" cy="3648944"/>
          </a:xfrm>
          <a:prstGeom prst="rect">
            <a:avLst/>
          </a:prstGeom>
        </p:spPr>
      </p:pic>
      <p:pic>
        <p:nvPicPr>
          <p:cNvPr id="8" name="Image 1" descr="Maitri app screen: amber-en">    </p:cNvPr>
          <p:cNvPicPr>
            <a:picLocks noChangeAspect="1"/>
          </p:cNvPicPr>
          <p:nvPr/>
        </p:nvPicPr>
        <p:blipFill>
          <a:blip r:embed="rId2"/>
          <a:stretch>
            <a:fillRect/>
          </a:stretch>
        </p:blipFill>
        <p:spPr>
          <a:xfrm>
            <a:off x="2651760" y="1783080"/>
            <a:ext cx="1874520" cy="3648944"/>
          </a:xfrm>
          <a:prstGeom prst="rect">
            <a:avLst/>
          </a:prstGeom>
        </p:spPr>
      </p:pic>
      <p:pic>
        <p:nvPicPr>
          <p:cNvPr id="9" name="Image 2" descr="Maitri app screen: green-en">    </p:cNvPr>
          <p:cNvPicPr>
            <a:picLocks noChangeAspect="1"/>
          </p:cNvPicPr>
          <p:nvPr/>
        </p:nvPicPr>
        <p:blipFill>
          <a:blip r:embed="rId3"/>
          <a:stretch>
            <a:fillRect/>
          </a:stretch>
        </p:blipFill>
        <p:spPr>
          <a:xfrm>
            <a:off x="4617720" y="1783080"/>
            <a:ext cx="1874520" cy="3648944"/>
          </a:xfrm>
          <a:prstGeom prst="rect">
            <a:avLst/>
          </a:prstGeom>
        </p:spPr>
      </p:pic>
      <p:sp>
        <p:nvSpPr>
          <p:cNvPr id="10" name="Text 5"/>
          <p:cNvSpPr txBox="1"/>
          <p:nvPr/>
        </p:nvSpPr>
        <p:spPr>
          <a:xfrm>
            <a:off x="640080" y="5623560"/>
            <a:ext cx="594360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Word + shape + colour</a:t>
            </a:r>
            <a:endParaRPr lang="en-US" sz="1800" dirty="0"/>
          </a:p>
        </p:txBody>
      </p:sp>
      <p:sp>
        <p:nvSpPr>
          <p:cNvPr id="11" name="Feat bg 0"/>
          <p:cNvSpPr/>
          <p:nvPr/>
        </p:nvSpPr>
        <p:spPr>
          <a:xfrm>
            <a:off x="7498080" y="1600200"/>
            <a:ext cx="640080" cy="640080"/>
          </a:xfrm>
          <a:prstGeom prst="ellipse">
            <a:avLst/>
          </a:prstGeom>
          <a:solidFill>
            <a:schemeClr val="tx2"/>
          </a:solidFill>
          <a:ln w="12700">
            <a:solidFill>
              <a:schemeClr val="tx2"/>
            </a:solidFill>
            <a:prstDash val="solid"/>
          </a:ln>
        </p:spPr>
      </p:sp>
      <p:pic>
        <p:nvPicPr>
          <p:cNvPr id="12" name="Image 3" descr="Works offline">    </p:cNvPr>
          <p:cNvPicPr>
            <a:picLocks noChangeAspect="1"/>
          </p:cNvPicPr>
          <p:nvPr/>
        </p:nvPicPr>
        <p:blipFill>
          <a:blip r:embed="rId4"/>
          <a:stretch>
            <a:fillRect/>
          </a:stretch>
        </p:blipFill>
        <p:spPr>
          <a:xfrm>
            <a:off x="7671816" y="1773936"/>
            <a:ext cx="292608" cy="292608"/>
          </a:xfrm>
          <a:prstGeom prst="rect">
            <a:avLst/>
          </a:prstGeom>
        </p:spPr>
      </p:pic>
      <p:sp>
        <p:nvSpPr>
          <p:cNvPr id="13" name="Text 7"/>
          <p:cNvSpPr txBox="1"/>
          <p:nvPr/>
        </p:nvSpPr>
        <p:spPr>
          <a:xfrm>
            <a:off x="8321040" y="155448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Works offline</a:t>
            </a:r>
            <a:endParaRPr lang="en-US" sz="1900" dirty="0"/>
          </a:p>
        </p:txBody>
      </p:sp>
      <p:sp>
        <p:nvSpPr>
          <p:cNvPr id="14" name="Text 8"/>
          <p:cNvSpPr txBox="1"/>
          <p:nvPr/>
        </p:nvSpPr>
        <p:spPr>
          <a:xfrm>
            <a:off x="8321040" y="194767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Verified in a browser with the network cut. Installs like an app.</a:t>
            </a:r>
            <a:endParaRPr lang="en-US" sz="1400" dirty="0"/>
          </a:p>
        </p:txBody>
      </p:sp>
      <p:sp>
        <p:nvSpPr>
          <p:cNvPr id="15" name="Feat bg 1"/>
          <p:cNvSpPr/>
          <p:nvPr/>
        </p:nvSpPr>
        <p:spPr>
          <a:xfrm>
            <a:off x="7498080" y="2788920"/>
            <a:ext cx="640080" cy="640080"/>
          </a:xfrm>
          <a:prstGeom prst="ellipse">
            <a:avLst/>
          </a:prstGeom>
          <a:solidFill>
            <a:schemeClr val="tx2"/>
          </a:solidFill>
          <a:ln w="12700">
            <a:solidFill>
              <a:schemeClr val="tx2"/>
            </a:solidFill>
            <a:prstDash val="solid"/>
          </a:ln>
        </p:spPr>
      </p:sp>
      <p:pic>
        <p:nvPicPr>
          <p:cNvPr id="16" name="Image 4" descr="Private by default">    </p:cNvPr>
          <p:cNvPicPr>
            <a:picLocks noChangeAspect="1"/>
          </p:cNvPicPr>
          <p:nvPr/>
        </p:nvPicPr>
        <p:blipFill>
          <a:blip r:embed="rId5"/>
          <a:stretch>
            <a:fillRect/>
          </a:stretch>
        </p:blipFill>
        <p:spPr>
          <a:xfrm>
            <a:off x="7671816" y="2962656"/>
            <a:ext cx="292608" cy="292608"/>
          </a:xfrm>
          <a:prstGeom prst="rect">
            <a:avLst/>
          </a:prstGeom>
        </p:spPr>
      </p:pic>
      <p:sp>
        <p:nvSpPr>
          <p:cNvPr id="17" name="Text 10"/>
          <p:cNvSpPr txBox="1"/>
          <p:nvPr/>
        </p:nvSpPr>
        <p:spPr>
          <a:xfrm>
            <a:off x="8321040" y="274320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Private by default</a:t>
            </a:r>
            <a:endParaRPr lang="en-US" sz="1900" dirty="0"/>
          </a:p>
        </p:txBody>
      </p:sp>
      <p:sp>
        <p:nvSpPr>
          <p:cNvPr id="18" name="Text 11"/>
          <p:cNvSpPr txBox="1"/>
          <p:nvPr/>
        </p:nvSpPr>
        <p:spPr>
          <a:xfrm>
            <a:off x="8321040" y="313639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account needed. "Exit now" clears everything and leaves.</a:t>
            </a:r>
            <a:endParaRPr lang="en-US" sz="1400" dirty="0"/>
          </a:p>
        </p:txBody>
      </p:sp>
      <p:sp>
        <p:nvSpPr>
          <p:cNvPr id="19" name="Feat bg 2"/>
          <p:cNvSpPr/>
          <p:nvPr/>
        </p:nvSpPr>
        <p:spPr>
          <a:xfrm>
            <a:off x="7498080" y="3977640"/>
            <a:ext cx="640080" cy="640080"/>
          </a:xfrm>
          <a:prstGeom prst="ellipse">
            <a:avLst/>
          </a:prstGeom>
          <a:solidFill>
            <a:schemeClr val="tx2"/>
          </a:solidFill>
          <a:ln w="12700">
            <a:solidFill>
              <a:schemeClr val="tx2"/>
            </a:solidFill>
            <a:prstDash val="solid"/>
          </a:ln>
        </p:spPr>
      </p:sp>
      <p:pic>
        <p:nvPicPr>
          <p:cNvPr id="20" name="Image 5" descr="Hindi and English, audited">    </p:cNvPr>
          <p:cNvPicPr>
            <a:picLocks noChangeAspect="1"/>
          </p:cNvPicPr>
          <p:nvPr/>
        </p:nvPicPr>
        <p:blipFill>
          <a:blip r:embed="rId6"/>
          <a:stretch>
            <a:fillRect/>
          </a:stretch>
        </p:blipFill>
        <p:spPr>
          <a:xfrm>
            <a:off x="7671816" y="4151376"/>
            <a:ext cx="292608" cy="292608"/>
          </a:xfrm>
          <a:prstGeom prst="rect">
            <a:avLst/>
          </a:prstGeom>
        </p:spPr>
      </p:pic>
      <p:sp>
        <p:nvSpPr>
          <p:cNvPr id="21" name="Text 13"/>
          <p:cNvSpPr txBox="1"/>
          <p:nvPr/>
        </p:nvSpPr>
        <p:spPr>
          <a:xfrm>
            <a:off x="8321040" y="393192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Hindi and English, audited</a:t>
            </a:r>
            <a:endParaRPr lang="en-US" sz="1900" dirty="0"/>
          </a:p>
        </p:txBody>
      </p:sp>
      <p:sp>
        <p:nvSpPr>
          <p:cNvPr id="22" name="Text 14"/>
          <p:cNvSpPr txBox="1"/>
          <p:nvPr/>
        </p:nvSpPr>
        <p:spPr>
          <a:xfrm>
            <a:off x="8321040" y="432511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test fails if any screen shows the wrong language.</a:t>
            </a:r>
            <a:endParaRPr lang="en-US" sz="1400" dirty="0"/>
          </a:p>
        </p:txBody>
      </p:sp>
      <p:sp>
        <p:nvSpPr>
          <p:cNvPr id="23" name="Feat bg 3"/>
          <p:cNvSpPr/>
          <p:nvPr/>
        </p:nvSpPr>
        <p:spPr>
          <a:xfrm>
            <a:off x="7498080" y="5166360"/>
            <a:ext cx="640080" cy="640080"/>
          </a:xfrm>
          <a:prstGeom prst="ellipse">
            <a:avLst/>
          </a:prstGeom>
          <a:solidFill>
            <a:schemeClr val="tx2"/>
          </a:solidFill>
          <a:ln w="12700">
            <a:solidFill>
              <a:schemeClr val="tx2"/>
            </a:solidFill>
            <a:prstDash val="solid"/>
          </a:ln>
        </p:spPr>
      </p:sp>
      <p:pic>
        <p:nvPicPr>
          <p:cNvPr id="24" name="Image 6" descr="Pictures and big buttons">    </p:cNvPr>
          <p:cNvPicPr>
            <a:picLocks noChangeAspect="1"/>
          </p:cNvPicPr>
          <p:nvPr/>
        </p:nvPicPr>
        <p:blipFill>
          <a:blip r:embed="rId7"/>
          <a:stretch>
            <a:fillRect/>
          </a:stretch>
        </p:blipFill>
        <p:spPr>
          <a:xfrm>
            <a:off x="7671816" y="5340096"/>
            <a:ext cx="292608" cy="292608"/>
          </a:xfrm>
          <a:prstGeom prst="rect">
            <a:avLst/>
          </a:prstGeom>
        </p:spPr>
      </p:pic>
      <p:sp>
        <p:nvSpPr>
          <p:cNvPr id="25" name="Text 16"/>
          <p:cNvSpPr txBox="1"/>
          <p:nvPr/>
        </p:nvSpPr>
        <p:spPr>
          <a:xfrm>
            <a:off x="8321040" y="512064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Pictures and big buttons</a:t>
            </a:r>
            <a:endParaRPr lang="en-US" sz="1900" dirty="0"/>
          </a:p>
        </p:txBody>
      </p:sp>
      <p:sp>
        <p:nvSpPr>
          <p:cNvPr id="26" name="Text 17"/>
          <p:cNvSpPr txBox="1"/>
          <p:nvPr/>
        </p:nvSpPr>
        <p:spPr>
          <a:xfrm>
            <a:off x="8321040" y="551383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question per screen, tick and cross, large targets, axe audit.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Built to be trusted. Honest about the gaps.</a:t>
            </a:r>
            <a:endParaRPr lang="en-US" sz="3600" dirty="0"/>
          </a:p>
        </p:txBody>
      </p:sp>
      <p:sp>
        <p:nvSpPr>
          <p:cNvPr id="3" name="Proof 0"/>
          <p:cNvSpPr/>
          <p:nvPr/>
        </p:nvSpPr>
        <p:spPr>
          <a:xfrm>
            <a:off x="548640" y="1325880"/>
            <a:ext cx="2103120" cy="1463040"/>
          </a:xfrm>
          <a:prstGeom prst="roundRect">
            <a:avLst>
              <a:gd name="adj" fmla="val 8750"/>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4" name="Text 2"/>
          <p:cNvSpPr txBox="1"/>
          <p:nvPr/>
        </p:nvSpPr>
        <p:spPr>
          <a:xfrm>
            <a:off x="548640" y="1371600"/>
            <a:ext cx="2103120" cy="82296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205</a:t>
            </a:r>
            <a:endParaRPr lang="en-US" sz="4400" dirty="0"/>
          </a:p>
        </p:txBody>
      </p:sp>
      <p:sp>
        <p:nvSpPr>
          <p:cNvPr id="5" name="Text 3"/>
          <p:cNvSpPr txBox="1"/>
          <p:nvPr/>
        </p:nvSpPr>
        <p:spPr>
          <a:xfrm>
            <a:off x="640080" y="2194560"/>
            <a:ext cx="1920240" cy="50292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tests pass</a:t>
            </a:r>
            <a:endParaRPr lang="en-US" sz="1300" dirty="0"/>
          </a:p>
        </p:txBody>
      </p:sp>
      <p:sp>
        <p:nvSpPr>
          <p:cNvPr id="6" name="Proof 1"/>
          <p:cNvSpPr/>
          <p:nvPr/>
        </p:nvSpPr>
        <p:spPr>
          <a:xfrm>
            <a:off x="2788920" y="1325880"/>
            <a:ext cx="2103120" cy="1463040"/>
          </a:xfrm>
          <a:prstGeom prst="roundRect">
            <a:avLst>
              <a:gd name="adj" fmla="val 8750"/>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7" name="Text 5"/>
          <p:cNvSpPr txBox="1"/>
          <p:nvPr/>
        </p:nvSpPr>
        <p:spPr>
          <a:xfrm>
            <a:off x="2788920" y="1371600"/>
            <a:ext cx="2103120" cy="82296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46</a:t>
            </a:r>
            <a:endParaRPr lang="en-US" sz="4400" dirty="0"/>
          </a:p>
        </p:txBody>
      </p:sp>
      <p:sp>
        <p:nvSpPr>
          <p:cNvPr id="8" name="Text 6"/>
          <p:cNvSpPr txBox="1"/>
          <p:nvPr/>
        </p:nvSpPr>
        <p:spPr>
          <a:xfrm>
            <a:off x="2880360" y="2194560"/>
            <a:ext cx="1920240" cy="50292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rule cases checked</a:t>
            </a:r>
            <a:endParaRPr lang="en-US" sz="1300" dirty="0"/>
          </a:p>
        </p:txBody>
      </p:sp>
      <p:sp>
        <p:nvSpPr>
          <p:cNvPr id="9" name="Proof 2"/>
          <p:cNvSpPr/>
          <p:nvPr/>
        </p:nvSpPr>
        <p:spPr>
          <a:xfrm>
            <a:off x="5029200" y="1325880"/>
            <a:ext cx="2103120" cy="1463040"/>
          </a:xfrm>
          <a:prstGeom prst="roundRect">
            <a:avLst>
              <a:gd name="adj" fmla="val 8750"/>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10" name="Text 8"/>
          <p:cNvSpPr txBox="1"/>
          <p:nvPr/>
        </p:nvSpPr>
        <p:spPr>
          <a:xfrm>
            <a:off x="5029200" y="1371600"/>
            <a:ext cx="2103120" cy="822960"/>
          </a:xfrm>
          <a:prstGeom prst="rect">
            <a:avLst/>
          </a:prstGeom>
          <a:no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12,420</a:t>
            </a:r>
            <a:endParaRPr lang="en-US" sz="3600" dirty="0"/>
          </a:p>
        </p:txBody>
      </p:sp>
      <p:sp>
        <p:nvSpPr>
          <p:cNvPr id="11" name="Text 9"/>
          <p:cNvSpPr txBox="1"/>
          <p:nvPr/>
        </p:nvSpPr>
        <p:spPr>
          <a:xfrm>
            <a:off x="5120640" y="2194560"/>
            <a:ext cx="1920240" cy="50292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cases re-checked in Python</a:t>
            </a:r>
            <a:endParaRPr lang="en-US" sz="1300" dirty="0"/>
          </a:p>
        </p:txBody>
      </p:sp>
      <p:sp>
        <p:nvSpPr>
          <p:cNvPr id="12" name="Proof 3"/>
          <p:cNvSpPr/>
          <p:nvPr/>
        </p:nvSpPr>
        <p:spPr>
          <a:xfrm>
            <a:off x="7269480" y="1325880"/>
            <a:ext cx="2103120" cy="1463040"/>
          </a:xfrm>
          <a:prstGeom prst="roundRect">
            <a:avLst>
              <a:gd name="adj" fmla="val 8750"/>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13" name="Text 11"/>
          <p:cNvSpPr txBox="1"/>
          <p:nvPr/>
        </p:nvSpPr>
        <p:spPr>
          <a:xfrm>
            <a:off x="7269480" y="1371600"/>
            <a:ext cx="2103120" cy="82296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15</a:t>
            </a:r>
            <a:endParaRPr lang="en-US" sz="4400" dirty="0"/>
          </a:p>
        </p:txBody>
      </p:sp>
      <p:sp>
        <p:nvSpPr>
          <p:cNvPr id="14" name="Text 12"/>
          <p:cNvSpPr txBox="1"/>
          <p:nvPr/>
        </p:nvSpPr>
        <p:spPr>
          <a:xfrm>
            <a:off x="7360920" y="2194560"/>
            <a:ext cx="1920240" cy="50292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screens audited at 4 sizes</a:t>
            </a:r>
            <a:endParaRPr lang="en-US" sz="1300" dirty="0"/>
          </a:p>
        </p:txBody>
      </p:sp>
      <p:sp>
        <p:nvSpPr>
          <p:cNvPr id="15" name="Proof 4"/>
          <p:cNvSpPr/>
          <p:nvPr/>
        </p:nvSpPr>
        <p:spPr>
          <a:xfrm>
            <a:off x="9509760" y="1325880"/>
            <a:ext cx="2103120" cy="1463040"/>
          </a:xfrm>
          <a:prstGeom prst="roundRect">
            <a:avLst>
              <a:gd name="adj" fmla="val 8750"/>
            </a:avLst>
          </a:prstGeom>
          <a:solidFill>
            <a:schemeClr val="accent2"/>
          </a:solidFill>
          <a:ln w="12700">
            <a:solidFill>
              <a:schemeClr val="accent2"/>
            </a:solidFill>
            <a:prstDash val="solid"/>
          </a:ln>
          <a:effectLst>
            <a:outerShdw sx="100000" sy="100000" kx="0" ky="0" algn="bl" rotWithShape="0" blurRad="101600" dist="25400" dir="5400000">
              <a:srgbClr val="111B38">
                <a:alpha val="16000"/>
              </a:srgbClr>
            </a:outerShdw>
          </a:effectLst>
        </p:spPr>
      </p:sp>
      <p:sp>
        <p:nvSpPr>
          <p:cNvPr id="16" name="Text 14"/>
          <p:cNvSpPr txBox="1"/>
          <p:nvPr/>
        </p:nvSpPr>
        <p:spPr>
          <a:xfrm>
            <a:off x="9509760" y="1371600"/>
            <a:ext cx="2103120" cy="82296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0</a:t>
            </a:r>
            <a:endParaRPr lang="en-US" sz="4400" dirty="0"/>
          </a:p>
        </p:txBody>
      </p:sp>
      <p:sp>
        <p:nvSpPr>
          <p:cNvPr id="17" name="Text 15"/>
          <p:cNvSpPr txBox="1"/>
          <p:nvPr/>
        </p:nvSpPr>
        <p:spPr>
          <a:xfrm>
            <a:off x="9601200" y="2194560"/>
            <a:ext cx="1920240" cy="50292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clinician reviews yet</a:t>
            </a:r>
            <a:endParaRPr lang="en-US" sz="1300" dirty="0"/>
          </a:p>
        </p:txBody>
      </p:sp>
      <p:sp>
        <p:nvSpPr>
          <p:cNvPr id="18" name="Status 1"/>
          <p:cNvSpPr/>
          <p:nvPr/>
        </p:nvSpPr>
        <p:spPr>
          <a:xfrm>
            <a:off x="548640" y="3017520"/>
            <a:ext cx="3566160" cy="233172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9" name="Status head 0"/>
          <p:cNvSpPr/>
          <p:nvPr/>
        </p:nvSpPr>
        <p:spPr>
          <a:xfrm>
            <a:off x="822960" y="3154680"/>
            <a:ext cx="3017520" cy="411480"/>
          </a:xfrm>
          <a:prstGeom prst="roundRect">
            <a:avLst>
              <a:gd name="adj" fmla="val 48889"/>
            </a:avLst>
          </a:prstGeom>
          <a:solidFill>
            <a:schemeClr val="accent3"/>
          </a:solidFill>
          <a:ln w="12700">
            <a:solidFill>
              <a:schemeClr val="accent3"/>
            </a:solidFill>
            <a:prstDash val="solid"/>
          </a:ln>
        </p:spPr>
      </p:sp>
      <p:sp>
        <p:nvSpPr>
          <p:cNvPr id="20" name="Text 18"/>
          <p:cNvSpPr txBox="1"/>
          <p:nvPr/>
        </p:nvSpPr>
        <p:spPr>
          <a:xfrm>
            <a:off x="822960" y="3154680"/>
            <a:ext cx="301752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Works today</a:t>
            </a:r>
            <a:endParaRPr lang="en-US" sz="1600" dirty="0"/>
          </a:p>
        </p:txBody>
      </p:sp>
      <p:sp>
        <p:nvSpPr>
          <p:cNvPr id="21" name="Text 19"/>
          <p:cNvSpPr txBox="1"/>
          <p:nvPr/>
        </p:nvSpPr>
        <p:spPr>
          <a:xfrm>
            <a:off x="868680" y="3749040"/>
            <a:ext cx="301752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Tap and voice check, Hindi and English</a:t>
            </a:r>
            <a:endParaRPr lang="en-US" sz="1400" dirty="0"/>
          </a:p>
          <a:p>
            <a:pPr marL="342900" indent="-342900">
              <a:spcAft>
                <a:spcPts val="600"/>
              </a:spcAft>
              <a:buSzPct val="100000"/>
              <a:buChar char="•"/>
            </a:pPr>
            <a:r>
              <a:rPr lang="en-US" sz="1400" dirty="0">
                <a:solidFill>
                  <a:schemeClr val="tx1"/>
                </a:solidFill>
              </a:rPr>
              <a:t>RED, go-now plan, slip, Why</a:t>
            </a:r>
            <a:endParaRPr lang="en-US" sz="1400" dirty="0"/>
          </a:p>
          <a:p>
            <a:pPr marL="342900" indent="-342900">
              <a:spcAft>
                <a:spcPts val="600"/>
              </a:spcAft>
              <a:buSzPct val="100000"/>
              <a:buChar char="•"/>
            </a:pPr>
            <a:r>
              <a:rPr lang="en-US" sz="1400" dirty="0">
                <a:solidFill>
                  <a:schemeClr val="tx1"/>
                </a:solidFill>
              </a:rPr>
              <a:t>Offline, private, Trust page</a:t>
            </a:r>
            <a:endParaRPr lang="en-US" sz="1400" dirty="0"/>
          </a:p>
        </p:txBody>
      </p:sp>
      <p:sp>
        <p:nvSpPr>
          <p:cNvPr id="22" name="Status 2"/>
          <p:cNvSpPr/>
          <p:nvPr/>
        </p:nvSpPr>
        <p:spPr>
          <a:xfrm>
            <a:off x="4297680" y="3017520"/>
            <a:ext cx="3566160" cy="233172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23" name="Status head 1"/>
          <p:cNvSpPr/>
          <p:nvPr/>
        </p:nvSpPr>
        <p:spPr>
          <a:xfrm>
            <a:off x="4572000" y="3154680"/>
            <a:ext cx="3017520" cy="411480"/>
          </a:xfrm>
          <a:prstGeom prst="roundRect">
            <a:avLst>
              <a:gd name="adj" fmla="val 48889"/>
            </a:avLst>
          </a:prstGeom>
          <a:solidFill>
            <a:schemeClr val="accent1"/>
          </a:solidFill>
          <a:ln w="12700">
            <a:solidFill>
              <a:schemeClr val="accent1"/>
            </a:solidFill>
            <a:prstDash val="solid"/>
          </a:ln>
        </p:spPr>
      </p:sp>
      <p:sp>
        <p:nvSpPr>
          <p:cNvPr id="24" name="Text 22"/>
          <p:cNvSpPr txBox="1"/>
          <p:nvPr/>
        </p:nvSpPr>
        <p:spPr>
          <a:xfrm>
            <a:off x="4572000" y="3154680"/>
            <a:ext cx="3017520" cy="41148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Needs a real test</a:t>
            </a:r>
            <a:endParaRPr lang="en-US" sz="1600" dirty="0"/>
          </a:p>
        </p:txBody>
      </p:sp>
      <p:sp>
        <p:nvSpPr>
          <p:cNvPr id="25" name="Text 23"/>
          <p:cNvSpPr txBox="1"/>
          <p:nvPr/>
        </p:nvSpPr>
        <p:spPr>
          <a:xfrm>
            <a:off x="4617720" y="3749040"/>
            <a:ext cx="301752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Voice on real phones</a:t>
            </a:r>
            <a:endParaRPr lang="en-US" sz="1400" dirty="0"/>
          </a:p>
          <a:p>
            <a:pPr marL="342900" indent="-342900">
              <a:spcAft>
                <a:spcPts val="600"/>
              </a:spcAft>
              <a:buSzPct val="100000"/>
              <a:buChar char="•"/>
            </a:pPr>
            <a:r>
              <a:rPr lang="en-US" sz="1400" dirty="0">
                <a:solidFill>
                  <a:schemeClr val="tx1"/>
                </a:solidFill>
              </a:rPr>
              <a:t>Sign-in and daily log (Supabase)</a:t>
            </a:r>
            <a:endParaRPr lang="en-US" sz="1400" dirty="0"/>
          </a:p>
          <a:p>
            <a:pPr marL="342900" indent="-342900">
              <a:spcAft>
                <a:spcPts val="600"/>
              </a:spcAft>
              <a:buSzPct val="100000"/>
              <a:buChar char="•"/>
            </a:pPr>
            <a:r>
              <a:rPr lang="en-US" sz="1400" dirty="0">
                <a:solidFill>
                  <a:schemeClr val="tx1"/>
                </a:solidFill>
              </a:rPr>
              <a:t>Sharing on real phones</a:t>
            </a:r>
            <a:endParaRPr lang="en-US" sz="1400" dirty="0"/>
          </a:p>
        </p:txBody>
      </p:sp>
      <p:sp>
        <p:nvSpPr>
          <p:cNvPr id="26" name="Status 3"/>
          <p:cNvSpPr/>
          <p:nvPr/>
        </p:nvSpPr>
        <p:spPr>
          <a:xfrm>
            <a:off x="8046720" y="3017520"/>
            <a:ext cx="3566160" cy="233172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27" name="Status head 2"/>
          <p:cNvSpPr/>
          <p:nvPr/>
        </p:nvSpPr>
        <p:spPr>
          <a:xfrm>
            <a:off x="8321040" y="3154680"/>
            <a:ext cx="3017520" cy="411480"/>
          </a:xfrm>
          <a:prstGeom prst="roundRect">
            <a:avLst>
              <a:gd name="adj" fmla="val 48889"/>
            </a:avLst>
          </a:prstGeom>
          <a:solidFill>
            <a:schemeClr val="accent2"/>
          </a:solidFill>
          <a:ln w="12700">
            <a:solidFill>
              <a:schemeClr val="accent2"/>
            </a:solidFill>
            <a:prstDash val="solid"/>
          </a:ln>
        </p:spPr>
      </p:sp>
      <p:sp>
        <p:nvSpPr>
          <p:cNvPr id="28" name="Text 26"/>
          <p:cNvSpPr txBox="1"/>
          <p:nvPr/>
        </p:nvSpPr>
        <p:spPr>
          <a:xfrm>
            <a:off x="8321040" y="3154680"/>
            <a:ext cx="301752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Not done yet</a:t>
            </a:r>
            <a:endParaRPr lang="en-US" sz="1600" dirty="0"/>
          </a:p>
        </p:txBody>
      </p:sp>
      <p:sp>
        <p:nvSpPr>
          <p:cNvPr id="29" name="Text 27"/>
          <p:cNvSpPr txBox="1"/>
          <p:nvPr/>
        </p:nvSpPr>
        <p:spPr>
          <a:xfrm>
            <a:off x="8366760" y="3749040"/>
            <a:ext cx="301752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Clinician review</a:t>
            </a:r>
            <a:endParaRPr lang="en-US" sz="1400" dirty="0"/>
          </a:p>
          <a:p>
            <a:pPr marL="342900" indent="-342900">
              <a:spcAft>
                <a:spcPts val="600"/>
              </a:spcAft>
              <a:buSzPct val="100000"/>
              <a:buChar char="•"/>
            </a:pPr>
            <a:r>
              <a:rPr lang="en-US" sz="1400" dirty="0">
                <a:solidFill>
                  <a:schemeClr val="tx1"/>
                </a:solidFill>
              </a:rPr>
              <a:t>Recorded voice clips</a:t>
            </a:r>
            <a:endParaRPr lang="en-US" sz="1400" dirty="0"/>
          </a:p>
          <a:p>
            <a:pPr marL="342900" indent="-342900">
              <a:spcAft>
                <a:spcPts val="600"/>
              </a:spcAft>
              <a:buSzPct val="100000"/>
              <a:buChar char="•"/>
            </a:pPr>
            <a:r>
              <a:rPr lang="en-US" sz="1400" dirty="0">
                <a:solidFill>
                  <a:schemeClr val="tx1"/>
                </a:solidFill>
              </a:rPr>
              <a:t>Field test with ASHAs</a:t>
            </a:r>
            <a:endParaRPr lang="en-US" sz="1400" dirty="0"/>
          </a:p>
        </p:txBody>
      </p:sp>
      <p:sp>
        <p:nvSpPr>
          <p:cNvPr id="30" name="How it is built"/>
          <p:cNvSpPr/>
          <p:nvPr/>
        </p:nvSpPr>
        <p:spPr>
          <a:xfrm>
            <a:off x="548640" y="5486400"/>
            <a:ext cx="11064240" cy="822960"/>
          </a:xfrm>
          <a:prstGeom prst="roundRect">
            <a:avLst>
              <a:gd name="adj" fmla="val 1333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31" name="Text 29"/>
          <p:cNvSpPr txBox="1"/>
          <p:nvPr/>
        </p:nvSpPr>
        <p:spPr>
          <a:xfrm>
            <a:off x="777240" y="5504688"/>
            <a:ext cx="10607040" cy="78638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How it is built: React, TypeScript and Vite. Voice is the browser's speech-to-text, then word lists, then the same Yes / No / Not sure, then a fixed rule engine. No model decides. Optional Supabase cloud with row level security: built and tested locally, not connected yet.</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Feasible now. A clear path. Sustainable.</a:t>
            </a:r>
            <a:endParaRPr lang="en-US" sz="3600" dirty="0"/>
          </a:p>
        </p:txBody>
      </p:sp>
      <p:sp>
        <p:nvSpPr>
          <p:cNvPr id="3" name="Feasible 1"/>
          <p:cNvSpPr/>
          <p:nvPr/>
        </p:nvSpPr>
        <p:spPr>
          <a:xfrm>
            <a:off x="548640" y="1280160"/>
            <a:ext cx="2651760" cy="1051560"/>
          </a:xfrm>
          <a:prstGeom prst="roundRect">
            <a:avLst>
              <a:gd name="adj" fmla="val 10435"/>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4" name="Feas bg 0"/>
          <p:cNvSpPr/>
          <p:nvPr/>
        </p:nvSpPr>
        <p:spPr>
          <a:xfrm>
            <a:off x="731520" y="1508760"/>
            <a:ext cx="594360" cy="594360"/>
          </a:xfrm>
          <a:prstGeom prst="ellipse">
            <a:avLst/>
          </a:prstGeom>
          <a:solidFill>
            <a:schemeClr val="accent3"/>
          </a:solidFill>
          <a:ln w="12700">
            <a:solidFill>
              <a:schemeClr val="accent3"/>
            </a:solidFill>
            <a:prstDash val="solid"/>
          </a:ln>
        </p:spPr>
      </p:sp>
      <p:pic>
        <p:nvPicPr>
          <p:cNvPr id="5" name="Image 0" descr="Static site">    </p:cNvPr>
          <p:cNvPicPr>
            <a:picLocks noChangeAspect="1"/>
          </p:cNvPicPr>
          <p:nvPr/>
        </p:nvPicPr>
        <p:blipFill>
          <a:blip r:embed="rId1"/>
          <a:stretch>
            <a:fillRect/>
          </a:stretch>
        </p:blipFill>
        <p:spPr>
          <a:xfrm>
            <a:off x="886968" y="1664208"/>
            <a:ext cx="283464" cy="283464"/>
          </a:xfrm>
          <a:prstGeom prst="rect">
            <a:avLst/>
          </a:prstGeom>
        </p:spPr>
      </p:pic>
      <p:sp>
        <p:nvSpPr>
          <p:cNvPr id="6" name="Text 3"/>
          <p:cNvSpPr txBox="1"/>
          <p:nvPr/>
        </p:nvSpPr>
        <p:spPr>
          <a:xfrm>
            <a:off x="1463040" y="1371600"/>
            <a:ext cx="1645920" cy="36576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Static site</a:t>
            </a:r>
            <a:endParaRPr lang="en-US" sz="1700" dirty="0"/>
          </a:p>
        </p:txBody>
      </p:sp>
      <p:sp>
        <p:nvSpPr>
          <p:cNvPr id="7" name="Text 4"/>
          <p:cNvSpPr txBox="1"/>
          <p:nvPr/>
        </p:nvSpPr>
        <p:spPr>
          <a:xfrm>
            <a:off x="1463040" y="1737360"/>
            <a:ext cx="1645920" cy="5486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No server for the check</a:t>
            </a:r>
            <a:endParaRPr lang="en-US" sz="1200" dirty="0"/>
          </a:p>
        </p:txBody>
      </p:sp>
      <p:sp>
        <p:nvSpPr>
          <p:cNvPr id="8" name="Feasible 2"/>
          <p:cNvSpPr/>
          <p:nvPr/>
        </p:nvSpPr>
        <p:spPr>
          <a:xfrm>
            <a:off x="3383280" y="1280160"/>
            <a:ext cx="2651760" cy="1051560"/>
          </a:xfrm>
          <a:prstGeom prst="roundRect">
            <a:avLst>
              <a:gd name="adj" fmla="val 10435"/>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9" name="Feas bg 1"/>
          <p:cNvSpPr/>
          <p:nvPr/>
        </p:nvSpPr>
        <p:spPr>
          <a:xfrm>
            <a:off x="3566160" y="1508760"/>
            <a:ext cx="594360" cy="594360"/>
          </a:xfrm>
          <a:prstGeom prst="ellipse">
            <a:avLst/>
          </a:prstGeom>
          <a:solidFill>
            <a:schemeClr val="accent3"/>
          </a:solidFill>
          <a:ln w="12700">
            <a:solidFill>
              <a:schemeClr val="accent3"/>
            </a:solidFill>
            <a:prstDash val="solid"/>
          </a:ln>
        </p:spPr>
      </p:sp>
      <p:pic>
        <p:nvPicPr>
          <p:cNvPr id="10" name="Image 1" descr="Offline">    </p:cNvPr>
          <p:cNvPicPr>
            <a:picLocks noChangeAspect="1"/>
          </p:cNvPicPr>
          <p:nvPr/>
        </p:nvPicPr>
        <p:blipFill>
          <a:blip r:embed="rId2"/>
          <a:stretch>
            <a:fillRect/>
          </a:stretch>
        </p:blipFill>
        <p:spPr>
          <a:xfrm>
            <a:off x="3721608" y="1664208"/>
            <a:ext cx="283464" cy="283464"/>
          </a:xfrm>
          <a:prstGeom prst="rect">
            <a:avLst/>
          </a:prstGeom>
        </p:spPr>
      </p:pic>
      <p:sp>
        <p:nvSpPr>
          <p:cNvPr id="11" name="Text 7"/>
          <p:cNvSpPr txBox="1"/>
          <p:nvPr/>
        </p:nvSpPr>
        <p:spPr>
          <a:xfrm>
            <a:off x="4297680" y="1371600"/>
            <a:ext cx="1645920" cy="36576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Offline</a:t>
            </a:r>
            <a:endParaRPr lang="en-US" sz="1700" dirty="0"/>
          </a:p>
        </p:txBody>
      </p:sp>
      <p:sp>
        <p:nvSpPr>
          <p:cNvPr id="12" name="Text 8"/>
          <p:cNvSpPr txBox="1"/>
          <p:nvPr/>
        </p:nvSpPr>
        <p:spPr>
          <a:xfrm>
            <a:off x="4297680" y="1737360"/>
            <a:ext cx="1645920" cy="5486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Verified, network cut</a:t>
            </a:r>
            <a:endParaRPr lang="en-US" sz="1200" dirty="0"/>
          </a:p>
        </p:txBody>
      </p:sp>
      <p:sp>
        <p:nvSpPr>
          <p:cNvPr id="13" name="Feasible 3"/>
          <p:cNvSpPr/>
          <p:nvPr/>
        </p:nvSpPr>
        <p:spPr>
          <a:xfrm>
            <a:off x="6217920" y="1280160"/>
            <a:ext cx="2651760" cy="1051560"/>
          </a:xfrm>
          <a:prstGeom prst="roundRect">
            <a:avLst>
              <a:gd name="adj" fmla="val 10435"/>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4" name="Feas bg 2"/>
          <p:cNvSpPr/>
          <p:nvPr/>
        </p:nvSpPr>
        <p:spPr>
          <a:xfrm>
            <a:off x="6400800" y="1508760"/>
            <a:ext cx="594360" cy="594360"/>
          </a:xfrm>
          <a:prstGeom prst="ellipse">
            <a:avLst/>
          </a:prstGeom>
          <a:solidFill>
            <a:schemeClr val="accent3"/>
          </a:solidFill>
          <a:ln w="12700">
            <a:solidFill>
              <a:schemeClr val="accent3"/>
            </a:solidFill>
            <a:prstDash val="solid"/>
          </a:ln>
        </p:spPr>
      </p:sp>
      <p:pic>
        <p:nvPicPr>
          <p:cNvPr id="15" name="Image 2" descr="Low cost">    </p:cNvPr>
          <p:cNvPicPr>
            <a:picLocks noChangeAspect="1"/>
          </p:cNvPicPr>
          <p:nvPr/>
        </p:nvPicPr>
        <p:blipFill>
          <a:blip r:embed="rId3"/>
          <a:stretch>
            <a:fillRect/>
          </a:stretch>
        </p:blipFill>
        <p:spPr>
          <a:xfrm>
            <a:off x="6556248" y="1664208"/>
            <a:ext cx="283464" cy="283464"/>
          </a:xfrm>
          <a:prstGeom prst="rect">
            <a:avLst/>
          </a:prstGeom>
        </p:spPr>
      </p:pic>
      <p:sp>
        <p:nvSpPr>
          <p:cNvPr id="16" name="Text 11"/>
          <p:cNvSpPr txBox="1"/>
          <p:nvPr/>
        </p:nvSpPr>
        <p:spPr>
          <a:xfrm>
            <a:off x="7132320" y="1371600"/>
            <a:ext cx="1645920" cy="36576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Low cost</a:t>
            </a:r>
            <a:endParaRPr lang="en-US" sz="1700" dirty="0"/>
          </a:p>
        </p:txBody>
      </p:sp>
      <p:sp>
        <p:nvSpPr>
          <p:cNvPr id="17" name="Text 12"/>
          <p:cNvSpPr txBox="1"/>
          <p:nvPr/>
        </p:nvSpPr>
        <p:spPr>
          <a:xfrm>
            <a:off x="7132320" y="1737360"/>
            <a:ext cx="1645920" cy="5486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About INR 6 per language for clips</a:t>
            </a:r>
            <a:endParaRPr lang="en-US" sz="1200" dirty="0"/>
          </a:p>
        </p:txBody>
      </p:sp>
      <p:sp>
        <p:nvSpPr>
          <p:cNvPr id="18" name="Feasible 4"/>
          <p:cNvSpPr/>
          <p:nvPr/>
        </p:nvSpPr>
        <p:spPr>
          <a:xfrm>
            <a:off x="9052560" y="1280160"/>
            <a:ext cx="2651760" cy="1051560"/>
          </a:xfrm>
          <a:prstGeom prst="roundRect">
            <a:avLst>
              <a:gd name="adj" fmla="val 10435"/>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9" name="Feas bg 3"/>
          <p:cNvSpPr/>
          <p:nvPr/>
        </p:nvSpPr>
        <p:spPr>
          <a:xfrm>
            <a:off x="9235440" y="1508760"/>
            <a:ext cx="594360" cy="594360"/>
          </a:xfrm>
          <a:prstGeom prst="ellipse">
            <a:avLst/>
          </a:prstGeom>
          <a:solidFill>
            <a:schemeClr val="accent3"/>
          </a:solidFill>
          <a:ln w="12700">
            <a:solidFill>
              <a:schemeClr val="accent3"/>
            </a:solidFill>
            <a:prstDash val="solid"/>
          </a:ln>
        </p:spPr>
      </p:sp>
      <p:pic>
        <p:nvPicPr>
          <p:cNvPr id="20" name="Image 3" descr="Privacy first">    </p:cNvPr>
          <p:cNvPicPr>
            <a:picLocks noChangeAspect="1"/>
          </p:cNvPicPr>
          <p:nvPr/>
        </p:nvPicPr>
        <p:blipFill>
          <a:blip r:embed="rId4"/>
          <a:stretch>
            <a:fillRect/>
          </a:stretch>
        </p:blipFill>
        <p:spPr>
          <a:xfrm>
            <a:off x="9390888" y="1664208"/>
            <a:ext cx="283464" cy="283464"/>
          </a:xfrm>
          <a:prstGeom prst="rect">
            <a:avLst/>
          </a:prstGeom>
        </p:spPr>
      </p:pic>
      <p:sp>
        <p:nvSpPr>
          <p:cNvPr id="21" name="Text 15"/>
          <p:cNvSpPr txBox="1"/>
          <p:nvPr/>
        </p:nvSpPr>
        <p:spPr>
          <a:xfrm>
            <a:off x="9966960" y="1371600"/>
            <a:ext cx="1645920" cy="36576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Privacy first</a:t>
            </a:r>
            <a:endParaRPr lang="en-US" sz="1700" dirty="0"/>
          </a:p>
        </p:txBody>
      </p:sp>
      <p:sp>
        <p:nvSpPr>
          <p:cNvPr id="22" name="Text 16"/>
          <p:cNvSpPr txBox="1"/>
          <p:nvPr/>
        </p:nvSpPr>
        <p:spPr>
          <a:xfrm>
            <a:off x="9966960" y="1737360"/>
            <a:ext cx="1645920" cy="5486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No account needed</a:t>
            </a:r>
            <a:endParaRPr lang="en-US" sz="1200" dirty="0"/>
          </a:p>
        </p:txBody>
      </p:sp>
      <p:sp>
        <p:nvSpPr>
          <p:cNvPr id="23" name="Timeline"/>
          <p:cNvSpPr/>
          <p:nvPr/>
        </p:nvSpPr>
        <p:spPr>
          <a:xfrm>
            <a:off x="1097280" y="3429000"/>
            <a:ext cx="9966960" cy="0"/>
          </a:xfrm>
          <a:prstGeom prst="line">
            <a:avLst/>
          </a:prstGeom>
          <a:noFill/>
          <a:ln w="38100">
            <a:solidFill>
              <a:schemeClr val="accent5"/>
            </a:solidFill>
            <a:prstDash val="solid"/>
          </a:ln>
        </p:spPr>
      </p:sp>
      <p:sp>
        <p:nvSpPr>
          <p:cNvPr id="24" name="Text 18"/>
          <p:cNvSpPr txBox="1"/>
          <p:nvPr/>
        </p:nvSpPr>
        <p:spPr>
          <a:xfrm>
            <a:off x="822960" y="2606040"/>
            <a:ext cx="2377440" cy="41148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Now</a:t>
            </a:r>
            <a:endParaRPr lang="en-US" sz="2200" dirty="0"/>
          </a:p>
        </p:txBody>
      </p:sp>
      <p:sp>
        <p:nvSpPr>
          <p:cNvPr id="25" name="Milestone 1"/>
          <p:cNvSpPr/>
          <p:nvPr/>
        </p:nvSpPr>
        <p:spPr>
          <a:xfrm>
            <a:off x="1783080" y="3108960"/>
            <a:ext cx="640080" cy="640080"/>
          </a:xfrm>
          <a:prstGeom prst="octagon">
            <a:avLst/>
          </a:prstGeom>
          <a:solidFill>
            <a:schemeClr val="accent2"/>
          </a:solidFill>
          <a:ln w="25400">
            <a:solidFill>
              <a:schemeClr val="tx1"/>
            </a:solidFill>
            <a:prstDash val="solid"/>
          </a:ln>
        </p:spPr>
      </p:sp>
      <p:sp>
        <p:nvSpPr>
          <p:cNvPr id="26" name="Text 20"/>
          <p:cNvSpPr txBox="1"/>
          <p:nvPr/>
        </p:nvSpPr>
        <p:spPr>
          <a:xfrm>
            <a:off x="822960" y="3840480"/>
            <a:ext cx="2377440" cy="82296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Clinician review. ASHA field test. Real-phone voice test. Recorded voice clips.</a:t>
            </a:r>
            <a:endParaRPr lang="en-US" sz="1250" dirty="0"/>
          </a:p>
        </p:txBody>
      </p:sp>
      <p:sp>
        <p:nvSpPr>
          <p:cNvPr id="27" name="Text 21"/>
          <p:cNvSpPr txBox="1"/>
          <p:nvPr/>
        </p:nvSpPr>
        <p:spPr>
          <a:xfrm>
            <a:off x="3566160" y="2606040"/>
            <a:ext cx="2377440" cy="41148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Next</a:t>
            </a:r>
            <a:endParaRPr lang="en-US" sz="2200" dirty="0"/>
          </a:p>
        </p:txBody>
      </p:sp>
      <p:sp>
        <p:nvSpPr>
          <p:cNvPr id="28" name="Milestone 2"/>
          <p:cNvSpPr/>
          <p:nvPr/>
        </p:nvSpPr>
        <p:spPr>
          <a:xfrm>
            <a:off x="4526280" y="3108960"/>
            <a:ext cx="640080" cy="640080"/>
          </a:xfrm>
          <a:prstGeom prst="triangle">
            <a:avLst/>
          </a:prstGeom>
          <a:solidFill>
            <a:schemeClr val="accent1"/>
          </a:solidFill>
          <a:ln w="25400">
            <a:solidFill>
              <a:schemeClr val="tx1"/>
            </a:solidFill>
            <a:prstDash val="solid"/>
          </a:ln>
        </p:spPr>
      </p:sp>
      <p:sp>
        <p:nvSpPr>
          <p:cNvPr id="29" name="Text 23"/>
          <p:cNvSpPr txBox="1"/>
          <p:nvPr/>
        </p:nvSpPr>
        <p:spPr>
          <a:xfrm>
            <a:off x="3566160" y="3840480"/>
            <a:ext cx="2377440" cy="82296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Odia, Assamese, Bengali with native review. Connect sign-in and daily log.</a:t>
            </a:r>
            <a:endParaRPr lang="en-US" sz="1250" dirty="0"/>
          </a:p>
        </p:txBody>
      </p:sp>
      <p:sp>
        <p:nvSpPr>
          <p:cNvPr id="30" name="Text 24"/>
          <p:cNvSpPr txBox="1"/>
          <p:nvPr/>
        </p:nvSpPr>
        <p:spPr>
          <a:xfrm>
            <a:off x="6309360" y="2606040"/>
            <a:ext cx="2377440" cy="41148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Then</a:t>
            </a:r>
            <a:endParaRPr lang="en-US" sz="2200" dirty="0"/>
          </a:p>
        </p:txBody>
      </p:sp>
      <p:sp>
        <p:nvSpPr>
          <p:cNvPr id="31" name="Milestone 3"/>
          <p:cNvSpPr/>
          <p:nvPr/>
        </p:nvSpPr>
        <p:spPr>
          <a:xfrm>
            <a:off x="7269480" y="3108960"/>
            <a:ext cx="640080" cy="640080"/>
          </a:xfrm>
          <a:prstGeom prst="ellipse">
            <a:avLst/>
          </a:prstGeom>
          <a:solidFill>
            <a:schemeClr val="accent3"/>
          </a:solidFill>
          <a:ln w="25400">
            <a:solidFill>
              <a:schemeClr val="tx1"/>
            </a:solidFill>
            <a:prstDash val="solid"/>
          </a:ln>
        </p:spPr>
      </p:sp>
      <p:sp>
        <p:nvSpPr>
          <p:cNvPr id="32" name="Text 26"/>
          <p:cNvSpPr txBox="1"/>
          <p:nvPr/>
        </p:nvSpPr>
        <p:spPr>
          <a:xfrm>
            <a:off x="6309360" y="3840480"/>
            <a:ext cx="2377440" cy="82296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Visit and vaccine schedules and scheme help, each with an official source.</a:t>
            </a:r>
            <a:endParaRPr lang="en-US" sz="1250" dirty="0"/>
          </a:p>
        </p:txBody>
      </p:sp>
      <p:sp>
        <p:nvSpPr>
          <p:cNvPr id="33" name="Text 27"/>
          <p:cNvSpPr txBox="1"/>
          <p:nvPr/>
        </p:nvSpPr>
        <p:spPr>
          <a:xfrm>
            <a:off x="9052560" y="2606040"/>
            <a:ext cx="2377440" cy="41148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Later</a:t>
            </a:r>
            <a:endParaRPr lang="en-US" sz="2200" dirty="0"/>
          </a:p>
        </p:txBody>
      </p:sp>
      <p:sp>
        <p:nvSpPr>
          <p:cNvPr id="34" name="Milestone 4"/>
          <p:cNvSpPr/>
          <p:nvPr/>
        </p:nvSpPr>
        <p:spPr>
          <a:xfrm>
            <a:off x="10012680" y="3108960"/>
            <a:ext cx="640080" cy="640080"/>
          </a:xfrm>
          <a:prstGeom prst="ellipse">
            <a:avLst/>
          </a:prstGeom>
          <a:solidFill>
            <a:schemeClr val="accent3"/>
          </a:solidFill>
          <a:ln w="25400">
            <a:solidFill>
              <a:schemeClr val="tx1"/>
            </a:solidFill>
            <a:prstDash val="solid"/>
          </a:ln>
        </p:spPr>
      </p:sp>
      <p:sp>
        <p:nvSpPr>
          <p:cNvPr id="35" name="Text 29"/>
          <p:cNvSpPr txBox="1"/>
          <p:nvPr/>
        </p:nvSpPr>
        <p:spPr>
          <a:xfrm>
            <a:off x="9052560" y="3840480"/>
            <a:ext cx="2377440" cy="82296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Facility finder from a verified dataset.</a:t>
            </a:r>
            <a:endParaRPr lang="en-US" sz="1250" dirty="0"/>
          </a:p>
        </p:txBody>
      </p:sp>
      <p:sp>
        <p:nvSpPr>
          <p:cNvPr id="36" name="Model 1"/>
          <p:cNvSpPr/>
          <p:nvPr/>
        </p:nvSpPr>
        <p:spPr>
          <a:xfrm>
            <a:off x="548640" y="4846320"/>
            <a:ext cx="3566160" cy="914400"/>
          </a:xfrm>
          <a:prstGeom prst="roundRect">
            <a:avLst>
              <a:gd name="adj" fmla="val 12000"/>
            </a:avLst>
          </a:prstGeom>
          <a:solidFill>
            <a:schemeClr val="tx2"/>
          </a:solidFill>
          <a:ln w="12700">
            <a:solidFill>
              <a:schemeClr val="tx2"/>
            </a:solidFill>
            <a:prstDash val="solid"/>
          </a:ln>
        </p:spPr>
      </p:sp>
      <p:sp>
        <p:nvSpPr>
          <p:cNvPr id="37" name="Model bg 0"/>
          <p:cNvSpPr/>
          <p:nvPr/>
        </p:nvSpPr>
        <p:spPr>
          <a:xfrm>
            <a:off x="731520" y="5029200"/>
            <a:ext cx="548640" cy="548640"/>
          </a:xfrm>
          <a:prstGeom prst="ellipse">
            <a:avLst/>
          </a:prstGeom>
          <a:solidFill>
            <a:schemeClr val="accent1"/>
          </a:solidFill>
          <a:ln w="12700">
            <a:solidFill>
              <a:schemeClr val="accent1"/>
            </a:solidFill>
            <a:prstDash val="solid"/>
          </a:ln>
        </p:spPr>
      </p:sp>
      <p:pic>
        <p:nvPicPr>
          <p:cNvPr id="38" name="Image 4" descr="State missions and NGOs">    </p:cNvPr>
          <p:cNvPicPr>
            <a:picLocks noChangeAspect="1"/>
          </p:cNvPicPr>
          <p:nvPr/>
        </p:nvPicPr>
        <p:blipFill>
          <a:blip r:embed="rId5"/>
          <a:stretch>
            <a:fillRect/>
          </a:stretch>
        </p:blipFill>
        <p:spPr>
          <a:xfrm>
            <a:off x="886968" y="5184648"/>
            <a:ext cx="237744" cy="237744"/>
          </a:xfrm>
          <a:prstGeom prst="rect">
            <a:avLst/>
          </a:prstGeom>
        </p:spPr>
      </p:pic>
      <p:sp>
        <p:nvSpPr>
          <p:cNvPr id="39" name="Text 32"/>
          <p:cNvSpPr txBox="1"/>
          <p:nvPr/>
        </p:nvSpPr>
        <p:spPr>
          <a:xfrm>
            <a:off x="1417320" y="4892040"/>
            <a:ext cx="2651760" cy="36576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State missions and NGOs</a:t>
            </a:r>
            <a:endParaRPr lang="en-US" sz="1500" dirty="0"/>
          </a:p>
        </p:txBody>
      </p:sp>
      <p:sp>
        <p:nvSpPr>
          <p:cNvPr id="40" name="Text 33"/>
          <p:cNvSpPr txBox="1"/>
          <p:nvPr/>
        </p:nvSpPr>
        <p:spPr>
          <a:xfrm>
            <a:off x="1417320" y="5257800"/>
            <a:ext cx="2651760" cy="45720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Licence, localisation, ASHA training</a:t>
            </a:r>
            <a:endParaRPr lang="en-US" sz="1200" dirty="0"/>
          </a:p>
        </p:txBody>
      </p:sp>
      <p:sp>
        <p:nvSpPr>
          <p:cNvPr id="41" name="Model 2"/>
          <p:cNvSpPr/>
          <p:nvPr/>
        </p:nvSpPr>
        <p:spPr>
          <a:xfrm>
            <a:off x="4297680" y="4846320"/>
            <a:ext cx="3566160" cy="914400"/>
          </a:xfrm>
          <a:prstGeom prst="roundRect">
            <a:avLst>
              <a:gd name="adj" fmla="val 12000"/>
            </a:avLst>
          </a:prstGeom>
          <a:solidFill>
            <a:schemeClr val="tx2"/>
          </a:solidFill>
          <a:ln w="12700">
            <a:solidFill>
              <a:schemeClr val="tx2"/>
            </a:solidFill>
            <a:prstDash val="solid"/>
          </a:ln>
        </p:spPr>
      </p:sp>
      <p:sp>
        <p:nvSpPr>
          <p:cNvPr id="42" name="Model bg 1"/>
          <p:cNvSpPr/>
          <p:nvPr/>
        </p:nvSpPr>
        <p:spPr>
          <a:xfrm>
            <a:off x="4480560" y="5029200"/>
            <a:ext cx="548640" cy="548640"/>
          </a:xfrm>
          <a:prstGeom prst="ellipse">
            <a:avLst/>
          </a:prstGeom>
          <a:solidFill>
            <a:schemeClr val="accent1"/>
          </a:solidFill>
          <a:ln w="12700">
            <a:solidFill>
              <a:schemeClr val="accent1"/>
            </a:solidFill>
            <a:prstDash val="solid"/>
          </a:ln>
        </p:spPr>
      </p:sp>
      <p:pic>
        <p:nvPicPr>
          <p:cNvPr id="43" name="Image 5" descr="CSR and grants">    </p:cNvPr>
          <p:cNvPicPr>
            <a:picLocks noChangeAspect="1"/>
          </p:cNvPicPr>
          <p:nvPr/>
        </p:nvPicPr>
        <p:blipFill>
          <a:blip r:embed="rId6"/>
          <a:stretch>
            <a:fillRect/>
          </a:stretch>
        </p:blipFill>
        <p:spPr>
          <a:xfrm>
            <a:off x="4636008" y="5184648"/>
            <a:ext cx="237744" cy="237744"/>
          </a:xfrm>
          <a:prstGeom prst="rect">
            <a:avLst/>
          </a:prstGeom>
        </p:spPr>
      </p:pic>
      <p:sp>
        <p:nvSpPr>
          <p:cNvPr id="44" name="Text 36"/>
          <p:cNvSpPr txBox="1"/>
          <p:nvPr/>
        </p:nvSpPr>
        <p:spPr>
          <a:xfrm>
            <a:off x="5166360" y="4892040"/>
            <a:ext cx="2651760" cy="36576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CSR and grants</a:t>
            </a:r>
            <a:endParaRPr lang="en-US" sz="1500" dirty="0"/>
          </a:p>
        </p:txBody>
      </p:sp>
      <p:sp>
        <p:nvSpPr>
          <p:cNvPr id="45" name="Text 37"/>
          <p:cNvSpPr txBox="1"/>
          <p:nvPr/>
        </p:nvSpPr>
        <p:spPr>
          <a:xfrm>
            <a:off x="5166360" y="5257800"/>
            <a:ext cx="2651760" cy="45720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Fund languages, clips, clinician review</a:t>
            </a:r>
            <a:endParaRPr lang="en-US" sz="1200" dirty="0"/>
          </a:p>
        </p:txBody>
      </p:sp>
      <p:sp>
        <p:nvSpPr>
          <p:cNvPr id="46" name="Model 3"/>
          <p:cNvSpPr/>
          <p:nvPr/>
        </p:nvSpPr>
        <p:spPr>
          <a:xfrm>
            <a:off x="8046720" y="4846320"/>
            <a:ext cx="3566160" cy="914400"/>
          </a:xfrm>
          <a:prstGeom prst="roundRect">
            <a:avLst>
              <a:gd name="adj" fmla="val 12000"/>
            </a:avLst>
          </a:prstGeom>
          <a:solidFill>
            <a:schemeClr val="tx2"/>
          </a:solidFill>
          <a:ln w="12700">
            <a:solidFill>
              <a:schemeClr val="tx2"/>
            </a:solidFill>
            <a:prstDash val="solid"/>
          </a:ln>
        </p:spPr>
      </p:sp>
      <p:sp>
        <p:nvSpPr>
          <p:cNvPr id="47" name="Model bg 2"/>
          <p:cNvSpPr/>
          <p:nvPr/>
        </p:nvSpPr>
        <p:spPr>
          <a:xfrm>
            <a:off x="8229600" y="5029200"/>
            <a:ext cx="548640" cy="548640"/>
          </a:xfrm>
          <a:prstGeom prst="ellipse">
            <a:avLst/>
          </a:prstGeom>
          <a:solidFill>
            <a:schemeClr val="accent1"/>
          </a:solidFill>
          <a:ln w="12700">
            <a:solidFill>
              <a:schemeClr val="accent1"/>
            </a:solidFill>
            <a:prstDash val="solid"/>
          </a:ln>
        </p:spPr>
      </p:sp>
      <p:pic>
        <p:nvPicPr>
          <p:cNvPr id="48" name="Image 6" descr="Open core">    </p:cNvPr>
          <p:cNvPicPr>
            <a:picLocks noChangeAspect="1"/>
          </p:cNvPicPr>
          <p:nvPr/>
        </p:nvPicPr>
        <p:blipFill>
          <a:blip r:embed="rId7"/>
          <a:stretch>
            <a:fillRect/>
          </a:stretch>
        </p:blipFill>
        <p:spPr>
          <a:xfrm>
            <a:off x="8385048" y="5184648"/>
            <a:ext cx="237744" cy="237744"/>
          </a:xfrm>
          <a:prstGeom prst="rect">
            <a:avLst/>
          </a:prstGeom>
        </p:spPr>
      </p:pic>
      <p:sp>
        <p:nvSpPr>
          <p:cNvPr id="49" name="Text 40"/>
          <p:cNvSpPr txBox="1"/>
          <p:nvPr/>
        </p:nvSpPr>
        <p:spPr>
          <a:xfrm>
            <a:off x="8915400" y="4892040"/>
            <a:ext cx="2651760" cy="36576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Open core</a:t>
            </a:r>
            <a:endParaRPr lang="en-US" sz="1500" dirty="0"/>
          </a:p>
        </p:txBody>
      </p:sp>
      <p:sp>
        <p:nvSpPr>
          <p:cNvPr id="50" name="Text 41"/>
          <p:cNvSpPr txBox="1"/>
          <p:nvPr/>
        </p:nvSpPr>
        <p:spPr>
          <a:xfrm>
            <a:off x="8915400" y="5257800"/>
            <a:ext cx="2651760" cy="45720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Rules and app stay open. Services are paid.</a:t>
            </a:r>
            <a:endParaRPr lang="en-US" sz="1200" dirty="0"/>
          </a:p>
        </p:txBody>
      </p:sp>
      <p:sp>
        <p:nvSpPr>
          <p:cNvPr id="51" name="Text 4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Free for women and families. We never sell data. No ads. A proposed funding model, not yet tested with a funder.</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640080"/>
            <a:ext cx="10972800" cy="1188720"/>
          </a:xfrm>
          <a:prstGeom prst="rect">
            <a:avLst/>
          </a:prstGeom>
          <a:noFill/>
          <a:ln/>
        </p:spPr>
        <p:txBody>
          <a:bodyPr wrap="square" lIns="0" tIns="0" rIns="0" bIns="0" rtlCol="0" anchor="ctr"/>
          <a:lstStyle/>
          <a:p>
            <a:pPr indent="0" marL="0">
              <a:buNone/>
            </a:pPr>
            <a:r>
              <a:rPr lang="en-US" sz="7000" b="1" dirty="0">
                <a:solidFill>
                  <a:schemeClr val="accent1"/>
                </a:solidFill>
                <a:latin typeface="Cambria" pitchFamily="34" charset="0"/>
                <a:ea typeface="Cambria" pitchFamily="34" charset="-122"/>
                <a:cs typeface="Cambria" pitchFamily="34" charset="-120"/>
              </a:rPr>
              <a:t>Every minute counts.</a:t>
            </a:r>
            <a:endParaRPr lang="en-US" sz="7000" dirty="0"/>
          </a:p>
        </p:txBody>
      </p:sp>
      <p:sp>
        <p:nvSpPr>
          <p:cNvPr id="3" name="Text 1"/>
          <p:cNvSpPr txBox="1"/>
          <p:nvPr/>
        </p:nvSpPr>
        <p:spPr>
          <a:xfrm>
            <a:off x="640080" y="1828800"/>
            <a:ext cx="10972800" cy="822960"/>
          </a:xfrm>
          <a:prstGeom prst="rect">
            <a:avLst/>
          </a:prstGeom>
          <a:noFill/>
          <a:ln/>
        </p:spPr>
        <p:txBody>
          <a:bodyPr wrap="square" lIns="0" tIns="0" rIns="0" bIns="0" rtlCol="0" anchor="ctr"/>
          <a:lstStyle/>
          <a:p>
            <a:pPr indent="0" marL="0">
              <a:buNone/>
            </a:pPr>
            <a:r>
              <a:rPr lang="en-US" sz="4000" dirty="0">
                <a:solidFill>
                  <a:schemeClr val="bg1"/>
                </a:solidFill>
                <a:latin typeface="Cambria" pitchFamily="34" charset="0"/>
                <a:ea typeface="Cambria" pitchFamily="34" charset="-122"/>
                <a:cs typeface="Cambria" pitchFamily="34" charset="-120"/>
              </a:rPr>
              <a:t>Maitri makes the next one clear.</a:t>
            </a:r>
            <a:endParaRPr lang="en-US" sz="4000" dirty="0"/>
          </a:p>
        </p:txBody>
      </p:sp>
      <p:sp>
        <p:nvSpPr>
          <p:cNvPr id="4" name="Text 2"/>
          <p:cNvSpPr txBox="1"/>
          <p:nvPr/>
        </p:nvSpPr>
        <p:spPr>
          <a:xfrm>
            <a:off x="640080" y="2697480"/>
            <a:ext cx="1097280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Speak it. See why. Call at once.</a:t>
            </a:r>
            <a:endParaRPr lang="en-US" sz="2200" dirty="0"/>
          </a:p>
        </p:txBody>
      </p:sp>
      <p:sp>
        <p:nvSpPr>
          <p:cNvPr id="5" name="Text 3"/>
          <p:cNvSpPr txBox="1"/>
          <p:nvPr/>
        </p:nvSpPr>
        <p:spPr>
          <a:xfrm>
            <a:off x="640080" y="3429000"/>
            <a:ext cx="10972800" cy="365760"/>
          </a:xfrm>
          <a:prstGeom prst="rect">
            <a:avLst/>
          </a:prstGeom>
          <a:noFill/>
          <a:ln/>
        </p:spPr>
        <p:txBody>
          <a:bodyPr wrap="square" lIns="0" tIns="0" rIns="0" bIns="0" rtlCol="0" anchor="ctr"/>
          <a:lstStyle/>
          <a:p>
            <a:pPr indent="0" marL="0">
              <a:buNone/>
            </a:pPr>
            <a:r>
              <a:rPr lang="en-US" sz="1800" b="1" dirty="0">
                <a:solidFill>
                  <a:schemeClr val="bg1"/>
                </a:solidFill>
                <a:latin typeface="Calibri" pitchFamily="34" charset="0"/>
                <a:ea typeface="Calibri" pitchFamily="34" charset="-122"/>
                <a:cs typeface="Calibri" pitchFamily="34" charset="-120"/>
              </a:rPr>
              <a:t>To take it from prototype to pilot, we need three things</a:t>
            </a:r>
            <a:endParaRPr lang="en-US" sz="1800" dirty="0"/>
          </a:p>
        </p:txBody>
      </p:sp>
      <p:sp>
        <p:nvSpPr>
          <p:cNvPr id="6" name="Ask 1"/>
          <p:cNvSpPr/>
          <p:nvPr/>
        </p:nvSpPr>
        <p:spPr>
          <a:xfrm>
            <a:off x="640080" y="3931920"/>
            <a:ext cx="2926080" cy="1554480"/>
          </a:xfrm>
          <a:prstGeom prst="roundRect">
            <a:avLst>
              <a:gd name="adj" fmla="val 8235"/>
            </a:avLst>
          </a:prstGeom>
          <a:solidFill>
            <a:schemeClr val="accent1"/>
          </a:solidFill>
          <a:ln w="12700">
            <a:solidFill>
              <a:schemeClr val="accent1"/>
            </a:solidFill>
            <a:prstDash val="solid"/>
          </a:ln>
        </p:spPr>
      </p:sp>
      <p:pic>
        <p:nvPicPr>
          <p:cNvPr id="7" name="Image 0" descr="A clinician reviewer">    </p:cNvPr>
          <p:cNvPicPr>
            <a:picLocks noChangeAspect="1"/>
          </p:cNvPicPr>
          <p:nvPr/>
        </p:nvPicPr>
        <p:blipFill>
          <a:blip r:embed="rId1"/>
          <a:stretch>
            <a:fillRect/>
          </a:stretch>
        </p:blipFill>
        <p:spPr>
          <a:xfrm>
            <a:off x="868680" y="4160520"/>
            <a:ext cx="457200" cy="457200"/>
          </a:xfrm>
          <a:prstGeom prst="rect">
            <a:avLst/>
          </a:prstGeom>
        </p:spPr>
      </p:pic>
      <p:sp>
        <p:nvSpPr>
          <p:cNvPr id="8" name="Text 5"/>
          <p:cNvSpPr txBox="1"/>
          <p:nvPr/>
        </p:nvSpPr>
        <p:spPr>
          <a:xfrm>
            <a:off x="1463040" y="4114800"/>
            <a:ext cx="201168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A clinician reviewer</a:t>
            </a:r>
            <a:endParaRPr lang="en-US" sz="1800" dirty="0"/>
          </a:p>
        </p:txBody>
      </p:sp>
      <p:sp>
        <p:nvSpPr>
          <p:cNvPr id="9" name="Text 6"/>
          <p:cNvSpPr txBox="1"/>
          <p:nvPr/>
        </p:nvSpPr>
        <p:spPr>
          <a:xfrm>
            <a:off x="868680" y="4754880"/>
            <a:ext cx="256032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check and sign off the rules</a:t>
            </a:r>
            <a:endParaRPr lang="en-US" sz="1400" dirty="0"/>
          </a:p>
        </p:txBody>
      </p:sp>
      <p:sp>
        <p:nvSpPr>
          <p:cNvPr id="10" name="Ask 2"/>
          <p:cNvSpPr/>
          <p:nvPr/>
        </p:nvSpPr>
        <p:spPr>
          <a:xfrm>
            <a:off x="3703320" y="3931920"/>
            <a:ext cx="2926080" cy="1554480"/>
          </a:xfrm>
          <a:prstGeom prst="roundRect">
            <a:avLst>
              <a:gd name="adj" fmla="val 8235"/>
            </a:avLst>
          </a:prstGeom>
          <a:solidFill>
            <a:schemeClr val="accent1"/>
          </a:solidFill>
          <a:ln w="12700">
            <a:solidFill>
              <a:schemeClr val="accent1"/>
            </a:solidFill>
            <a:prstDash val="solid"/>
          </a:ln>
        </p:spPr>
      </p:sp>
      <p:pic>
        <p:nvPicPr>
          <p:cNvPr id="11" name="Image 1" descr="An ASHA district">    </p:cNvPr>
          <p:cNvPicPr>
            <a:picLocks noChangeAspect="1"/>
          </p:cNvPicPr>
          <p:nvPr/>
        </p:nvPicPr>
        <p:blipFill>
          <a:blip r:embed="rId2"/>
          <a:stretch>
            <a:fillRect/>
          </a:stretch>
        </p:blipFill>
        <p:spPr>
          <a:xfrm>
            <a:off x="3931920" y="4160520"/>
            <a:ext cx="457200" cy="457200"/>
          </a:xfrm>
          <a:prstGeom prst="rect">
            <a:avLst/>
          </a:prstGeom>
        </p:spPr>
      </p:pic>
      <p:sp>
        <p:nvSpPr>
          <p:cNvPr id="12" name="Text 8"/>
          <p:cNvSpPr txBox="1"/>
          <p:nvPr/>
        </p:nvSpPr>
        <p:spPr>
          <a:xfrm>
            <a:off x="4526280" y="4114800"/>
            <a:ext cx="201168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An ASHA district</a:t>
            </a:r>
            <a:endParaRPr lang="en-US" sz="1800" dirty="0"/>
          </a:p>
        </p:txBody>
      </p:sp>
      <p:sp>
        <p:nvSpPr>
          <p:cNvPr id="13" name="Text 9"/>
          <p:cNvSpPr txBox="1"/>
          <p:nvPr/>
        </p:nvSpPr>
        <p:spPr>
          <a:xfrm>
            <a:off x="3931920" y="4754880"/>
            <a:ext cx="256032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pilot with real families</a:t>
            </a:r>
            <a:endParaRPr lang="en-US" sz="1400" dirty="0"/>
          </a:p>
        </p:txBody>
      </p:sp>
      <p:sp>
        <p:nvSpPr>
          <p:cNvPr id="14" name="Ask 3"/>
          <p:cNvSpPr/>
          <p:nvPr/>
        </p:nvSpPr>
        <p:spPr>
          <a:xfrm>
            <a:off x="6766560" y="3931920"/>
            <a:ext cx="2926080" cy="1554480"/>
          </a:xfrm>
          <a:prstGeom prst="roundRect">
            <a:avLst>
              <a:gd name="adj" fmla="val 8235"/>
            </a:avLst>
          </a:prstGeom>
          <a:solidFill>
            <a:schemeClr val="accent1"/>
          </a:solidFill>
          <a:ln w="12700">
            <a:solidFill>
              <a:schemeClr val="accent1"/>
            </a:solidFill>
            <a:prstDash val="solid"/>
          </a:ln>
        </p:spPr>
      </p:sp>
      <p:pic>
        <p:nvPicPr>
          <p:cNvPr id="15" name="Image 2" descr="Language partners">    </p:cNvPr>
          <p:cNvPicPr>
            <a:picLocks noChangeAspect="1"/>
          </p:cNvPicPr>
          <p:nvPr/>
        </p:nvPicPr>
        <p:blipFill>
          <a:blip r:embed="rId3"/>
          <a:stretch>
            <a:fillRect/>
          </a:stretch>
        </p:blipFill>
        <p:spPr>
          <a:xfrm>
            <a:off x="6995160" y="4160520"/>
            <a:ext cx="457200" cy="457200"/>
          </a:xfrm>
          <a:prstGeom prst="rect">
            <a:avLst/>
          </a:prstGeom>
        </p:spPr>
      </p:pic>
      <p:sp>
        <p:nvSpPr>
          <p:cNvPr id="16" name="Text 11"/>
          <p:cNvSpPr txBox="1"/>
          <p:nvPr/>
        </p:nvSpPr>
        <p:spPr>
          <a:xfrm>
            <a:off x="7589520" y="4114800"/>
            <a:ext cx="201168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Language partners</a:t>
            </a:r>
            <a:endParaRPr lang="en-US" sz="1800" dirty="0"/>
          </a:p>
        </p:txBody>
      </p:sp>
      <p:sp>
        <p:nvSpPr>
          <p:cNvPr id="17" name="Text 12"/>
          <p:cNvSpPr txBox="1"/>
          <p:nvPr/>
        </p:nvSpPr>
        <p:spPr>
          <a:xfrm>
            <a:off x="6995160" y="4754880"/>
            <a:ext cx="256032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Odia, Assamese, Bengali</a:t>
            </a:r>
            <a:endParaRPr lang="en-US" sz="1400" dirty="0"/>
          </a:p>
        </p:txBody>
      </p:sp>
      <p:sp>
        <p:nvSpPr>
          <p:cNvPr id="18" name="QR card"/>
          <p:cNvSpPr/>
          <p:nvPr/>
        </p:nvSpPr>
        <p:spPr>
          <a:xfrm>
            <a:off x="10058400" y="3931920"/>
            <a:ext cx="1600200" cy="1737360"/>
          </a:xfrm>
          <a:prstGeom prst="roundRect">
            <a:avLst>
              <a:gd name="adj" fmla="val 6857"/>
            </a:avLst>
          </a:prstGeom>
          <a:solidFill>
            <a:schemeClr val="bg1"/>
          </a:solidFill>
          <a:ln w="12700">
            <a:solidFill>
              <a:schemeClr val="bg1"/>
            </a:solidFill>
            <a:prstDash val="solid"/>
          </a:ln>
        </p:spPr>
      </p:sp>
      <p:pic>
        <p:nvPicPr>
          <p:cNvPr id="19" name="Image 3" descr="QR code to the repository">    </p:cNvPr>
          <p:cNvPicPr>
            <a:picLocks noChangeAspect="1"/>
          </p:cNvPicPr>
          <p:nvPr/>
        </p:nvPicPr>
        <p:blipFill>
          <a:blip r:embed="rId4"/>
          <a:stretch>
            <a:fillRect/>
          </a:stretch>
        </p:blipFill>
        <p:spPr>
          <a:xfrm>
            <a:off x="10149840" y="4005072"/>
            <a:ext cx="1417320" cy="1417320"/>
          </a:xfrm>
          <a:prstGeom prst="rect">
            <a:avLst/>
          </a:prstGeom>
        </p:spPr>
      </p:pic>
      <p:sp>
        <p:nvSpPr>
          <p:cNvPr id="20" name="Text 14"/>
          <p:cNvSpPr txBox="1"/>
          <p:nvPr/>
        </p:nvSpPr>
        <p:spPr>
          <a:xfrm>
            <a:off x="10058400" y="5440680"/>
            <a:ext cx="1600200" cy="228600"/>
          </a:xfrm>
          <a:prstGeom prst="rect">
            <a:avLst/>
          </a:prstGeom>
          <a:noFill/>
          <a:ln/>
        </p:spPr>
        <p:txBody>
          <a:bodyPr wrap="square" lIns="0" tIns="0" rIns="0" bIns="0" rtlCol="0" anchor="ctr"/>
          <a:lstStyle/>
          <a:p>
            <a:pPr algn="ctr" indent="0" marL="0">
              <a:buNone/>
            </a:pPr>
            <a:r>
              <a:rPr lang="en-US" sz="900" dirty="0">
                <a:solidFill>
                  <a:schemeClr val="tx1"/>
                </a:solidFill>
                <a:latin typeface="Calibri" pitchFamily="34" charset="0"/>
                <a:ea typeface="Calibri" pitchFamily="34" charset="-122"/>
                <a:cs typeface="Calibri" pitchFamily="34" charset="-120"/>
              </a:rPr>
              <a:t>Scan for code and video</a:t>
            </a:r>
            <a:endParaRPr lang="en-US" sz="900" dirty="0"/>
          </a:p>
        </p:txBody>
      </p:sp>
      <p:sp>
        <p:nvSpPr>
          <p:cNvPr id="21" name="Text 15"/>
          <p:cNvSpPr txBox="1"/>
          <p:nvPr/>
        </p:nvSpPr>
        <p:spPr>
          <a:xfrm>
            <a:off x="640080" y="5852160"/>
            <a:ext cx="1005840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Team Decyphers  |  Aafreen Khan (team leader)  |  Aastha Pandya  |  Prisha Sharma</a:t>
            </a:r>
            <a:endParaRPr lang="en-US" sz="1900" dirty="0"/>
          </a:p>
        </p:txBody>
      </p:sp>
      <p:sp>
        <p:nvSpPr>
          <p:cNvPr id="22" name="Text 16"/>
          <p:cNvSpPr txBox="1"/>
          <p:nvPr/>
        </p:nvSpPr>
        <p:spPr>
          <a:xfrm>
            <a:off x="640080" y="6355080"/>
            <a:ext cx="10058400" cy="274320"/>
          </a:xfrm>
          <a:prstGeom prst="rect">
            <a:avLst/>
          </a:prstGeom>
          <a:noFill/>
          <a:ln/>
        </p:spPr>
        <p:txBody>
          <a:bodyPr wrap="square" lIns="0" tIns="0" rIns="0" bIns="0" rtlCol="0" anchor="ctr"/>
          <a:lstStyle/>
          <a:p>
            <a:pPr indent="0" marL="0">
              <a:buNone/>
            </a:pPr>
            <a:r>
              <a:rPr lang="en-US" sz="1100" dirty="0">
                <a:solidFill>
                  <a:schemeClr val="accent6"/>
                </a:solidFill>
                <a:latin typeface="Calibri" pitchFamily="34" charset="0"/>
                <a:ea typeface="Calibri" pitchFamily="34" charset="-122"/>
                <a:cs typeface="Calibri" pitchFamily="34" charset="-120"/>
              </a:rPr>
              <a:t>Education tool. Does not diagnose. Rules are a draft, not yet reviewed by a doctor. Sources: docs/PITCH_FACTS.md.</a:t>
            </a:r>
            <a:endParaRPr lang="en-US" sz="1100" dirty="0"/>
          </a:p>
        </p:txBody>
      </p:sp>
    </p:spTree>
  </p:cSld>
  <p:clrMapOvr>
    <a:masterClrMapping/>
  </p:clrMapOvr>
</p:sld>
</file>

<file path=ppt/theme/theme1.xml><?xml version="1.0" encoding="utf-8"?>
<a:theme xmlns:a="http://schemas.openxmlformats.org/drawingml/2006/main" name="Maitri">
  <a:themeElements>
    <a:clrScheme name="Maitri">
      <a:dk1>
        <a:srgbClr val="111B38"/>
      </a:dk1>
      <a:lt1>
        <a:srgbClr val="FFFFFF"/>
      </a:lt1>
      <a:dk2>
        <a:srgbClr val="23358A"/>
      </a:dk2>
      <a:lt2>
        <a:srgbClr val="E6EEF6"/>
      </a:lt2>
      <a:accent1>
        <a:srgbClr val="F7B500"/>
      </a:accent1>
      <a:accent2>
        <a:srgbClr val="C4122F"/>
      </a:accent2>
      <a:accent3>
        <a:srgbClr val="0F7A6B"/>
      </a:accent3>
      <a:accent4>
        <a:srgbClr val="23358A"/>
      </a:accent4>
      <a:accent5>
        <a:srgbClr val="4A5878"/>
      </a:accent5>
      <a:accent6>
        <a:srgbClr val="8FA3C8"/>
      </a:accent6>
      <a:hlink>
        <a:srgbClr val="23358A"/>
      </a:hlink>
      <a:folHlink>
        <a:srgbClr val="4A5878"/>
      </a:folHlink>
    </a:clrScheme>
    <a:fontScheme name="Maitr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Maitri - recHERsion 2026</dc:title>
  <dc:subject>PptxGenJS Presentation</dc:subject>
  <dc:creator>Team Decyphers</dc:creator>
  <cp:lastModifiedBy>Team Decyphers</cp:lastModifiedBy>
  <cp:revision>1</cp:revision>
  <dcterms:created xsi:type="dcterms:W3CDTF">2026-10-25T18:02:23Z</dcterms:created>
  <dcterms:modified xsi:type="dcterms:W3CDTF">2026-10-25T18:02:23Z</dcterms:modified>
</cp:coreProperties>
</file>