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when postpartum bleeding or fits start, the family has minutes and does not know what to do. Maitri is an offline, Hindi-first danger-sign checker that tells the family the next step and shows exactly why. Team names come from the repository history; change them if your registered team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exact about the figures. 25.2M registered births (secondary). 48.6% is from one West Bengal hospital study, not national. One in three is derived from NFHS-6 coverage (100 minus 65.2). We never present these as lives saved. The gap is not contact; it is recognising danger and deciding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only quote a number where we have a source. TAM uses registered births as a proxy. SAM and SOM are deliberately not invented: they need SRS state data and a conversation with a district health mission. Personas drive the three modes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proposition in one line: other tools tell a woman what her symptoms might mean; Maitri tells her family what to do in the next ten minutes and shows exactly why. Three levels: RED go to the hospital now, AMBER see the ANM, ASHA or doctor today, GREEN "No danger sign told". The three levels are our own design based on the MCP card and WHO guidance. Not sure always goes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demo: emergency call button first; speak (a simulated recogniser in the video, real browser recognition on a phone); one RED sign ends the check; open Why this result. The QR opens the repository, whose README has the live link (GitHub Pages, once the owner enables it) and the demo video. Voice needs internet on most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machine-learning model decides anything. Voice only turns spoken words into the same Yes, No, Not sure answers with fixed word lists, and she can edit them. The verdict is a deterministic rule engine, re-checked by an independent Python implementation on 12,420 generated cases. The optional cloud part (Google or phone sign-in, a daily log in Postgres with row level security) is built and tested in a local Postgres and against a simulated client; it is not connected to a real project. Static hosting on GitHub Pages or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blocks real use is people, not code: a named clinician must review the rules, native speakers must review each new language, and a district health mission must agree to a pilot. Every schedule and scheme page needs an official source and a clinician check. Language order follows the first pilot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this is a proposal. The check is a public-health tool and stays free. Running costs are low (a static site; about INR 6 per language for generated voice clips at list price). Revenue would come from deployments (state missions, NGOs), grants and CSR for languages and clinical review, and paid services around the open core. No data is sold.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what broke. The main-branch failure was real: the build runs the tests first, so the failure would have blocked a deploy; it was caught and fixed, and a CI workflow now guards it. The misheard-No risk led to the confirmation step. Trade-offs: deterministic rules over AI (auditable), over-escalation over under-triage, offline over cloud speech, and no numeric clinical thresholds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source links and confidence labels are in docs/PITCH_FACTS.md.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E6EEF6"/>
        </a:solidFill>
      </p:bgPr>
    </p:bg>
    <p:spTree>
      <p:nvGrpSpPr>
        <p:cNvPr id="1" name=""/>
        <p:cNvGrpSpPr/>
        <p:nvPr/>
      </p:nvGrpSpPr>
      <p:grpSpPr>
        <a:xfrm>
          <a:off x="0" y="0"/>
          <a:ext cx="0" cy="0"/>
          <a:chOff x="0" y="0"/>
          <a:chExt cx="0" cy="0"/>
        </a:xfrm>
      </p:grpSpPr>
      <p:sp>
        <p:nvSpPr>
          <p:cNvPr id="2"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Maitri  |  recHERsion 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11B3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6400800" cy="1280160"/>
          </a:xfrm>
          <a:prstGeom prst="rect">
            <a:avLst/>
          </a:prstGeom>
          <a:noFill/>
          <a:ln/>
        </p:spPr>
        <p:txBody>
          <a:bodyPr wrap="square" lIns="0" tIns="0" rIns="0" bIns="0" rtlCol="0" anchor="ctr"/>
          <a:lstStyle/>
          <a:p>
            <a:pPr indent="0" marL="0">
              <a:buNone/>
            </a:pPr>
            <a:r>
              <a:rPr lang="en-US" sz="8000" b="1" dirty="0">
                <a:solidFill>
                  <a:schemeClr val="bg1"/>
                </a:solidFill>
                <a:latin typeface="Cambria" pitchFamily="34" charset="0"/>
                <a:ea typeface="Cambria" pitchFamily="34" charset="-122"/>
                <a:cs typeface="Cambria" pitchFamily="34" charset="-120"/>
              </a:rPr>
              <a:t>Maitri</a:t>
            </a:r>
            <a:endParaRPr lang="en-US" sz="8000" dirty="0"/>
          </a:p>
        </p:txBody>
      </p:sp>
      <p:sp>
        <p:nvSpPr>
          <p:cNvPr id="3" name="Text 1"/>
          <p:cNvSpPr txBox="1"/>
          <p:nvPr/>
        </p:nvSpPr>
        <p:spPr>
          <a:xfrm>
            <a:off x="640080" y="2468880"/>
            <a:ext cx="6035040" cy="1005840"/>
          </a:xfrm>
          <a:prstGeom prst="rect">
            <a:avLst/>
          </a:prstGeom>
          <a:noFill/>
          <a:ln/>
        </p:spPr>
        <p:txBody>
          <a:bodyPr wrap="square" lIns="0" tIns="0" rIns="0" bIns="0" rtlCol="0" anchor="ctr"/>
          <a:lstStyle/>
          <a:p>
            <a:pPr indent="0" marL="0">
              <a:buNone/>
            </a:pPr>
            <a:r>
              <a:rPr lang="en-US" sz="2800" dirty="0">
                <a:solidFill>
                  <a:schemeClr val="bg2"/>
                </a:solidFill>
                <a:latin typeface="Calibri" pitchFamily="34" charset="0"/>
                <a:ea typeface="Calibri" pitchFamily="34" charset="-122"/>
                <a:cs typeface="Calibri" pitchFamily="34" charset="-120"/>
              </a:rPr>
              <a:t>A friend who tells the family what to do now</a:t>
            </a:r>
            <a:endParaRPr lang="en-US" sz="2800" dirty="0"/>
          </a:p>
        </p:txBody>
      </p:sp>
      <p:sp>
        <p:nvSpPr>
          <p:cNvPr id="4" name="Text 2"/>
          <p:cNvSpPr txBox="1"/>
          <p:nvPr/>
        </p:nvSpPr>
        <p:spPr>
          <a:xfrm>
            <a:off x="640080" y="3657600"/>
            <a:ext cx="5852160" cy="914400"/>
          </a:xfrm>
          <a:prstGeom prst="rect">
            <a:avLst/>
          </a:prstGeom>
          <a:noFill/>
          <a:ln/>
        </p:spPr>
        <p:txBody>
          <a:bodyPr wrap="square" lIns="0" tIns="0" rIns="0" bIns="0" rtlCol="0" anchor="t"/>
          <a:lstStyle/>
          <a:p>
            <a:pPr indent="0" marL="0">
              <a:buNone/>
            </a:pPr>
            <a:r>
              <a:rPr lang="en-US" sz="1800" i="1" dirty="0">
                <a:solidFill>
                  <a:schemeClr val="accent1"/>
                </a:solidFill>
                <a:latin typeface="Calibri" pitchFamily="34" charset="0"/>
                <a:ea typeface="Calibri" pitchFamily="34" charset="-122"/>
                <a:cs typeface="Calibri" pitchFamily="34" charset="-120"/>
              </a:rPr>
              <a:t>When the bleeding starts, a family has minutes. Maitri gives them the next step, and shows why.</a:t>
            </a:r>
            <a:endParaRPr lang="en-US" sz="1800" dirty="0"/>
          </a:p>
        </p:txBody>
      </p:sp>
      <p:sp>
        <p:nvSpPr>
          <p:cNvPr id="5" name="Red"/>
          <p:cNvSpPr/>
          <p:nvPr/>
        </p:nvSpPr>
        <p:spPr>
          <a:xfrm>
            <a:off x="640080" y="4709160"/>
            <a:ext cx="457200" cy="457200"/>
          </a:xfrm>
          <a:prstGeom prst="octagon">
            <a:avLst/>
          </a:prstGeom>
          <a:solidFill>
            <a:schemeClr val="accent2"/>
          </a:solidFill>
          <a:ln w="25400">
            <a:solidFill>
              <a:schemeClr val="tx1"/>
            </a:solidFill>
            <a:prstDash val="solid"/>
          </a:ln>
        </p:spPr>
      </p:sp>
      <p:sp>
        <p:nvSpPr>
          <p:cNvPr id="6" name="Amber"/>
          <p:cNvSpPr/>
          <p:nvPr/>
        </p:nvSpPr>
        <p:spPr>
          <a:xfrm>
            <a:off x="1280160" y="4709160"/>
            <a:ext cx="457200" cy="457200"/>
          </a:xfrm>
          <a:prstGeom prst="triangle">
            <a:avLst/>
          </a:prstGeom>
          <a:solidFill>
            <a:schemeClr val="accent1"/>
          </a:solidFill>
          <a:ln w="25400">
            <a:solidFill>
              <a:schemeClr val="tx1"/>
            </a:solidFill>
            <a:prstDash val="solid"/>
          </a:ln>
        </p:spPr>
      </p:sp>
      <p:sp>
        <p:nvSpPr>
          <p:cNvPr id="7" name="Green"/>
          <p:cNvSpPr/>
          <p:nvPr/>
        </p:nvSpPr>
        <p:spPr>
          <a:xfrm>
            <a:off x="1920240" y="4709160"/>
            <a:ext cx="457200" cy="457200"/>
          </a:xfrm>
          <a:prstGeom prst="ellipse">
            <a:avLst/>
          </a:prstGeom>
          <a:solidFill>
            <a:schemeClr val="accent3"/>
          </a:solidFill>
          <a:ln w="25400">
            <a:solidFill>
              <a:schemeClr val="tx1"/>
            </a:solidFill>
            <a:prstDash val="solid"/>
          </a:ln>
        </p:spPr>
      </p:sp>
      <p:sp>
        <p:nvSpPr>
          <p:cNvPr id="8" name="Text 6"/>
          <p:cNvSpPr txBox="1"/>
          <p:nvPr/>
        </p:nvSpPr>
        <p:spPr>
          <a:xfrm>
            <a:off x="640080" y="5440680"/>
            <a:ext cx="6400800" cy="36576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Team Maitri  |  Aafreen Khan, Aastha Pandya</a:t>
            </a:r>
            <a:endParaRPr lang="en-US" sz="1600" dirty="0"/>
          </a:p>
        </p:txBody>
      </p:sp>
      <p:sp>
        <p:nvSpPr>
          <p:cNvPr id="9" name="Text 7"/>
          <p:cNvSpPr txBox="1"/>
          <p:nvPr/>
        </p:nvSpPr>
        <p:spPr>
          <a:xfrm>
            <a:off x="640080" y="5852160"/>
            <a:ext cx="6400800" cy="365760"/>
          </a:xfrm>
          <a:prstGeom prst="rect">
            <a:avLst/>
          </a:prstGeom>
          <a:noFill/>
          <a:ln/>
        </p:spPr>
        <p:txBody>
          <a:bodyPr wrap="square" lIns="0" tIns="0" rIns="0" bIns="0" rtlCol="0" anchor="ctr"/>
          <a:lstStyle/>
          <a:p>
            <a:pPr indent="0" marL="0">
              <a:buNone/>
            </a:pPr>
            <a:r>
              <a:rPr lang="en-US" sz="1400" dirty="0">
                <a:solidFill>
                  <a:schemeClr val="accent6"/>
                </a:solidFill>
                <a:latin typeface="Calibri" pitchFamily="34" charset="0"/>
                <a:ea typeface="Calibri" pitchFamily="34" charset="-122"/>
                <a:cs typeface="Calibri" pitchFamily="34" charset="-120"/>
              </a:rPr>
              <a:t>recHERsion 2026  |  Problem Statement 1: Women's Healthcare</a:t>
            </a:r>
            <a:endParaRPr lang="en-US" sz="1400" dirty="0"/>
          </a:p>
        </p:txBody>
      </p:sp>
      <p:pic>
        <p:nvPicPr>
          <p:cNvPr id="10" name="Image 0" descr="Maitri RED result in Hindi with a large call button">    </p:cNvPr>
          <p:cNvPicPr>
            <a:picLocks noChangeAspect="1"/>
          </p:cNvPicPr>
          <p:nvPr/>
        </p:nvPicPr>
        <p:blipFill>
          <a:blip r:embed="rId1"/>
          <a:stretch>
            <a:fillRect/>
          </a:stretch>
        </p:blipFill>
        <p:spPr>
          <a:xfrm>
            <a:off x="6949440" y="548640"/>
            <a:ext cx="2468880" cy="4805927"/>
          </a:xfrm>
          <a:prstGeom prst="rect">
            <a:avLst/>
          </a:prstGeom>
        </p:spPr>
      </p:pic>
      <p:pic>
        <p:nvPicPr>
          <p:cNvPr id="11" name="Image 1" descr="Maitri voice check">    </p:cNvPr>
          <p:cNvPicPr>
            <a:picLocks noChangeAspect="1"/>
          </p:cNvPicPr>
          <p:nvPr/>
        </p:nvPicPr>
        <p:blipFill>
          <a:blip r:embed="rId2"/>
          <a:stretch>
            <a:fillRect/>
          </a:stretch>
        </p:blipFill>
        <p:spPr>
          <a:xfrm>
            <a:off x="9418320" y="1371600"/>
            <a:ext cx="2468880" cy="480592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32004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Contact is high. The decision is late.</a:t>
            </a:r>
            <a:endParaRPr lang="en-US" sz="3600" dirty="0"/>
          </a:p>
        </p:txBody>
      </p:sp>
      <p:sp>
        <p:nvSpPr>
          <p:cNvPr id="3" name="Stat 1"/>
          <p:cNvSpPr/>
          <p:nvPr/>
        </p:nvSpPr>
        <p:spPr>
          <a:xfrm>
            <a:off x="548640" y="1417320"/>
            <a:ext cx="3566160" cy="2606040"/>
          </a:xfrm>
          <a:prstGeom prst="roundRect">
            <a:avLst>
              <a:gd name="adj" fmla="val 4211"/>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4" name="Marker 1"/>
          <p:cNvSpPr/>
          <p:nvPr/>
        </p:nvSpPr>
        <p:spPr>
          <a:xfrm>
            <a:off x="822960" y="1645920"/>
            <a:ext cx="365760" cy="365760"/>
          </a:xfrm>
          <a:prstGeom prst="ellipse">
            <a:avLst/>
          </a:prstGeom>
          <a:solidFill>
            <a:schemeClr val="accent3"/>
          </a:solidFill>
          <a:ln w="25400">
            <a:solidFill>
              <a:schemeClr val="tx1"/>
            </a:solidFill>
            <a:prstDash val="solid"/>
          </a:ln>
        </p:spPr>
      </p:sp>
      <p:sp>
        <p:nvSpPr>
          <p:cNvPr id="5" name="Text 3"/>
          <p:cNvSpPr txBox="1"/>
          <p:nvPr/>
        </p:nvSpPr>
        <p:spPr>
          <a:xfrm>
            <a:off x="822960" y="2103120"/>
            <a:ext cx="3108960" cy="77724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25.2M</a:t>
            </a:r>
            <a:endParaRPr lang="en-US" sz="4400" dirty="0"/>
          </a:p>
        </p:txBody>
      </p:sp>
      <p:sp>
        <p:nvSpPr>
          <p:cNvPr id="6" name="Text 4"/>
          <p:cNvSpPr txBox="1"/>
          <p:nvPr/>
        </p:nvSpPr>
        <p:spPr>
          <a:xfrm>
            <a:off x="822960" y="2880360"/>
            <a:ext cx="306324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births a year in India</a:t>
            </a:r>
            <a:endParaRPr lang="en-US" sz="1400" dirty="0"/>
          </a:p>
        </p:txBody>
      </p:sp>
      <p:sp>
        <p:nvSpPr>
          <p:cNvPr id="7" name="Text 5"/>
          <p:cNvSpPr txBox="1"/>
          <p:nvPr/>
        </p:nvSpPr>
        <p:spPr>
          <a:xfrm>
            <a:off x="822960" y="3703320"/>
            <a:ext cx="3017520" cy="274320"/>
          </a:xfrm>
          <a:prstGeom prst="rect">
            <a:avLst/>
          </a:prstGeom>
          <a:noFill/>
          <a:ln/>
        </p:spPr>
        <p:txBody>
          <a:bodyPr wrap="square" lIns="0" tIns="0" rIns="0" bIns="0" rtlCol="0" anchor="ctr"/>
          <a:lstStyle/>
          <a:p>
            <a:pPr indent="0" marL="0">
              <a:buNone/>
            </a:pPr>
            <a:r>
              <a:rPr lang="en-US" sz="1100" i="1" dirty="0">
                <a:solidFill>
                  <a:schemeClr val="accent5"/>
                </a:solidFill>
                <a:latin typeface="Calibri" pitchFamily="34" charset="0"/>
                <a:ea typeface="Calibri" pitchFamily="34" charset="-122"/>
                <a:cs typeface="Calibri" pitchFamily="34" charset="-120"/>
              </a:rPr>
              <a:t>Secondary source</a:t>
            </a:r>
            <a:endParaRPr lang="en-US" sz="1100" dirty="0"/>
          </a:p>
        </p:txBody>
      </p:sp>
      <p:sp>
        <p:nvSpPr>
          <p:cNvPr id="8" name="Stat 2"/>
          <p:cNvSpPr/>
          <p:nvPr/>
        </p:nvSpPr>
        <p:spPr>
          <a:xfrm>
            <a:off x="4297680" y="1417320"/>
            <a:ext cx="3566160" cy="2606040"/>
          </a:xfrm>
          <a:prstGeom prst="roundRect">
            <a:avLst>
              <a:gd name="adj" fmla="val 4211"/>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9" name="Marker 2"/>
          <p:cNvSpPr/>
          <p:nvPr/>
        </p:nvSpPr>
        <p:spPr>
          <a:xfrm>
            <a:off x="4572000" y="1645920"/>
            <a:ext cx="365760" cy="365760"/>
          </a:xfrm>
          <a:prstGeom prst="octagon">
            <a:avLst/>
          </a:prstGeom>
          <a:solidFill>
            <a:schemeClr val="accent2"/>
          </a:solidFill>
          <a:ln w="25400">
            <a:solidFill>
              <a:schemeClr val="tx1"/>
            </a:solidFill>
            <a:prstDash val="solid"/>
          </a:ln>
        </p:spPr>
      </p:sp>
      <p:sp>
        <p:nvSpPr>
          <p:cNvPr id="10" name="Text 8"/>
          <p:cNvSpPr txBox="1"/>
          <p:nvPr/>
        </p:nvSpPr>
        <p:spPr>
          <a:xfrm>
            <a:off x="4572000" y="2103120"/>
            <a:ext cx="3108960" cy="77724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48.6%</a:t>
            </a:r>
            <a:endParaRPr lang="en-US" sz="4400" dirty="0"/>
          </a:p>
        </p:txBody>
      </p:sp>
      <p:sp>
        <p:nvSpPr>
          <p:cNvPr id="11" name="Text 9"/>
          <p:cNvSpPr txBox="1"/>
          <p:nvPr/>
        </p:nvSpPr>
        <p:spPr>
          <a:xfrm>
            <a:off x="4572000" y="2880360"/>
            <a:ext cx="306324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of maternal deaths in one Indian hospital study involved a delay in deciding or seeking care</a:t>
            </a:r>
            <a:endParaRPr lang="en-US" sz="1400" dirty="0"/>
          </a:p>
        </p:txBody>
      </p:sp>
      <p:sp>
        <p:nvSpPr>
          <p:cNvPr id="12" name="Text 10"/>
          <p:cNvSpPr txBox="1"/>
          <p:nvPr/>
        </p:nvSpPr>
        <p:spPr>
          <a:xfrm>
            <a:off x="4572000" y="3703320"/>
            <a:ext cx="3017520" cy="274320"/>
          </a:xfrm>
          <a:prstGeom prst="rect">
            <a:avLst/>
          </a:prstGeom>
          <a:noFill/>
          <a:ln/>
        </p:spPr>
        <p:txBody>
          <a:bodyPr wrap="square" lIns="0" tIns="0" rIns="0" bIns="0" rtlCol="0" anchor="ctr"/>
          <a:lstStyle/>
          <a:p>
            <a:pPr indent="0" marL="0">
              <a:buNone/>
            </a:pPr>
            <a:r>
              <a:rPr lang="en-US" sz="1100" i="1" dirty="0">
                <a:solidFill>
                  <a:schemeClr val="accent5"/>
                </a:solidFill>
                <a:latin typeface="Calibri" pitchFamily="34" charset="0"/>
                <a:ea typeface="Calibri" pitchFamily="34" charset="-122"/>
                <a:cs typeface="Calibri" pitchFamily="34" charset="-120"/>
              </a:rPr>
              <a:t>Verified, single study</a:t>
            </a:r>
            <a:endParaRPr lang="en-US" sz="1100" dirty="0"/>
          </a:p>
        </p:txBody>
      </p:sp>
      <p:sp>
        <p:nvSpPr>
          <p:cNvPr id="13" name="Stat 3"/>
          <p:cNvSpPr/>
          <p:nvPr/>
        </p:nvSpPr>
        <p:spPr>
          <a:xfrm>
            <a:off x="8046720" y="1417320"/>
            <a:ext cx="3566160" cy="2606040"/>
          </a:xfrm>
          <a:prstGeom prst="roundRect">
            <a:avLst>
              <a:gd name="adj" fmla="val 4211"/>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14" name="Marker 3"/>
          <p:cNvSpPr/>
          <p:nvPr/>
        </p:nvSpPr>
        <p:spPr>
          <a:xfrm>
            <a:off x="8321040" y="1645920"/>
            <a:ext cx="365760" cy="365760"/>
          </a:xfrm>
          <a:prstGeom prst="triangle">
            <a:avLst/>
          </a:prstGeom>
          <a:solidFill>
            <a:schemeClr val="accent1"/>
          </a:solidFill>
          <a:ln w="25400">
            <a:solidFill>
              <a:schemeClr val="tx1"/>
            </a:solidFill>
            <a:prstDash val="solid"/>
          </a:ln>
        </p:spPr>
      </p:sp>
      <p:sp>
        <p:nvSpPr>
          <p:cNvPr id="15" name="Text 13"/>
          <p:cNvSpPr txBox="1"/>
          <p:nvPr/>
        </p:nvSpPr>
        <p:spPr>
          <a:xfrm>
            <a:off x="8321040" y="2103120"/>
            <a:ext cx="3108960" cy="77724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1 in 3</a:t>
            </a:r>
            <a:endParaRPr lang="en-US" sz="4400" dirty="0"/>
          </a:p>
        </p:txBody>
      </p:sp>
      <p:sp>
        <p:nvSpPr>
          <p:cNvPr id="16" name="Text 14"/>
          <p:cNvSpPr txBox="1"/>
          <p:nvPr/>
        </p:nvSpPr>
        <p:spPr>
          <a:xfrm>
            <a:off x="8321040" y="2880360"/>
            <a:ext cx="306324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women still have fewer than four antenatal visits</a:t>
            </a:r>
            <a:endParaRPr lang="en-US" sz="1400" dirty="0"/>
          </a:p>
        </p:txBody>
      </p:sp>
      <p:sp>
        <p:nvSpPr>
          <p:cNvPr id="17" name="Text 15"/>
          <p:cNvSpPr txBox="1"/>
          <p:nvPr/>
        </p:nvSpPr>
        <p:spPr>
          <a:xfrm>
            <a:off x="8321040" y="3703320"/>
            <a:ext cx="3017520" cy="274320"/>
          </a:xfrm>
          <a:prstGeom prst="rect">
            <a:avLst/>
          </a:prstGeom>
          <a:noFill/>
          <a:ln/>
        </p:spPr>
        <p:txBody>
          <a:bodyPr wrap="square" lIns="0" tIns="0" rIns="0" bIns="0" rtlCol="0" anchor="ctr"/>
          <a:lstStyle/>
          <a:p>
            <a:pPr indent="0" marL="0">
              <a:buNone/>
            </a:pPr>
            <a:r>
              <a:rPr lang="en-US" sz="1100" i="1" dirty="0">
                <a:solidFill>
                  <a:schemeClr val="accent5"/>
                </a:solidFill>
                <a:latin typeface="Calibri" pitchFamily="34" charset="0"/>
                <a:ea typeface="Calibri" pitchFamily="34" charset="-122"/>
                <a:cs typeface="Calibri" pitchFamily="34" charset="-120"/>
              </a:rPr>
              <a:t>Secondary, derived</a:t>
            </a:r>
            <a:endParaRPr lang="en-US" sz="1100" dirty="0"/>
          </a:p>
        </p:txBody>
      </p:sp>
      <p:sp>
        <p:nvSpPr>
          <p:cNvPr id="18" name="Text 16"/>
          <p:cNvSpPr txBox="1"/>
          <p:nvPr/>
        </p:nvSpPr>
        <p:spPr>
          <a:xfrm>
            <a:off x="548640" y="4251960"/>
            <a:ext cx="7315200" cy="36576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Why today's options fall short</a:t>
            </a:r>
            <a:endParaRPr lang="en-US" sz="1800" dirty="0"/>
          </a:p>
        </p:txBody>
      </p:sp>
      <p:sp>
        <p:nvSpPr>
          <p:cNvPr id="19" name="Gap 1"/>
          <p:cNvSpPr/>
          <p:nvPr/>
        </p:nvSpPr>
        <p:spPr>
          <a:xfrm>
            <a:off x="548640" y="4663440"/>
            <a:ext cx="3566160" cy="1371600"/>
          </a:xfrm>
          <a:prstGeom prst="roundRect">
            <a:avLst>
              <a:gd name="adj" fmla="val 8000"/>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20" name="Gap icon 0"/>
          <p:cNvSpPr/>
          <p:nvPr/>
        </p:nvSpPr>
        <p:spPr>
          <a:xfrm>
            <a:off x="777240" y="4983480"/>
            <a:ext cx="640080" cy="640080"/>
          </a:xfrm>
          <a:prstGeom prst="ellipse">
            <a:avLst/>
          </a:prstGeom>
          <a:solidFill>
            <a:schemeClr val="accent5"/>
          </a:solidFill>
          <a:ln w="12700">
            <a:solidFill>
              <a:schemeClr val="accent5"/>
            </a:solidFill>
            <a:prstDash val="solid"/>
          </a:ln>
        </p:spPr>
      </p:sp>
      <p:pic>
        <p:nvPicPr>
          <p:cNvPr id="21" name="Image 0" descr="no">    </p:cNvPr>
          <p:cNvPicPr>
            <a:picLocks noChangeAspect="1"/>
          </p:cNvPicPr>
          <p:nvPr/>
        </p:nvPicPr>
        <p:blipFill>
          <a:blip r:embed="rId1"/>
          <a:stretch>
            <a:fillRect/>
          </a:stretch>
        </p:blipFill>
        <p:spPr>
          <a:xfrm>
            <a:off x="941832" y="5148072"/>
            <a:ext cx="310896" cy="310896"/>
          </a:xfrm>
          <a:prstGeom prst="rect">
            <a:avLst/>
          </a:prstGeom>
        </p:spPr>
      </p:pic>
      <p:sp>
        <p:nvSpPr>
          <p:cNvPr id="22" name="Text 19"/>
          <p:cNvSpPr txBox="1"/>
          <p:nvPr/>
        </p:nvSpPr>
        <p:spPr>
          <a:xfrm>
            <a:off x="1554480" y="4846320"/>
            <a:ext cx="2423160" cy="5486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 card has one level</a:t>
            </a:r>
            <a:endParaRPr lang="en-US" sz="1500" dirty="0"/>
          </a:p>
        </p:txBody>
      </p:sp>
      <p:sp>
        <p:nvSpPr>
          <p:cNvPr id="23" name="Text 20"/>
          <p:cNvSpPr txBox="1"/>
          <p:nvPr/>
        </p:nvSpPr>
        <p:spPr>
          <a:xfrm>
            <a:off x="1554480" y="5440680"/>
            <a:ext cx="2423160" cy="45720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No action plan, no voice</a:t>
            </a:r>
            <a:endParaRPr lang="en-US" sz="1300" dirty="0"/>
          </a:p>
        </p:txBody>
      </p:sp>
      <p:sp>
        <p:nvSpPr>
          <p:cNvPr id="24" name="Gap 2"/>
          <p:cNvSpPr/>
          <p:nvPr/>
        </p:nvSpPr>
        <p:spPr>
          <a:xfrm>
            <a:off x="4297680" y="4663440"/>
            <a:ext cx="3566160" cy="1371600"/>
          </a:xfrm>
          <a:prstGeom prst="roundRect">
            <a:avLst>
              <a:gd name="adj" fmla="val 8000"/>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25" name="Gap icon 1"/>
          <p:cNvSpPr/>
          <p:nvPr/>
        </p:nvSpPr>
        <p:spPr>
          <a:xfrm>
            <a:off x="4526280" y="4983480"/>
            <a:ext cx="640080" cy="640080"/>
          </a:xfrm>
          <a:prstGeom prst="ellipse">
            <a:avLst/>
          </a:prstGeom>
          <a:solidFill>
            <a:schemeClr val="accent5"/>
          </a:solidFill>
          <a:ln w="12700">
            <a:solidFill>
              <a:schemeClr val="accent5"/>
            </a:solidFill>
            <a:prstDash val="solid"/>
          </a:ln>
        </p:spPr>
      </p:sp>
      <p:pic>
        <p:nvPicPr>
          <p:cNvPr id="26" name="Image 1" descr="no">    </p:cNvPr>
          <p:cNvPicPr>
            <a:picLocks noChangeAspect="1"/>
          </p:cNvPicPr>
          <p:nvPr/>
        </p:nvPicPr>
        <p:blipFill>
          <a:blip r:embed="rId2"/>
          <a:stretch>
            <a:fillRect/>
          </a:stretch>
        </p:blipFill>
        <p:spPr>
          <a:xfrm>
            <a:off x="4690872" y="5148072"/>
            <a:ext cx="310896" cy="310896"/>
          </a:xfrm>
          <a:prstGeom prst="rect">
            <a:avLst/>
          </a:prstGeom>
        </p:spPr>
      </p:pic>
      <p:sp>
        <p:nvSpPr>
          <p:cNvPr id="27" name="Text 23"/>
          <p:cNvSpPr txBox="1"/>
          <p:nvPr/>
        </p:nvSpPr>
        <p:spPr>
          <a:xfrm>
            <a:off x="5303520" y="4846320"/>
            <a:ext cx="2423160" cy="5486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Chatbots need typing and signal</a:t>
            </a:r>
            <a:endParaRPr lang="en-US" sz="1500" dirty="0"/>
          </a:p>
        </p:txBody>
      </p:sp>
      <p:sp>
        <p:nvSpPr>
          <p:cNvPr id="28" name="Text 24"/>
          <p:cNvSpPr txBox="1"/>
          <p:nvPr/>
        </p:nvSpPr>
        <p:spPr>
          <a:xfrm>
            <a:off x="5303520" y="5440680"/>
            <a:ext cx="2423160" cy="45720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Hidden logic, may say "fine"</a:t>
            </a:r>
            <a:endParaRPr lang="en-US" sz="1300" dirty="0"/>
          </a:p>
        </p:txBody>
      </p:sp>
      <p:sp>
        <p:nvSpPr>
          <p:cNvPr id="29" name="Gap 3"/>
          <p:cNvSpPr/>
          <p:nvPr/>
        </p:nvSpPr>
        <p:spPr>
          <a:xfrm>
            <a:off x="8046720" y="4663440"/>
            <a:ext cx="3566160" cy="1371600"/>
          </a:xfrm>
          <a:prstGeom prst="roundRect">
            <a:avLst>
              <a:gd name="adj" fmla="val 8000"/>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30" name="Gap icon 2"/>
          <p:cNvSpPr/>
          <p:nvPr/>
        </p:nvSpPr>
        <p:spPr>
          <a:xfrm>
            <a:off x="8275320" y="4983480"/>
            <a:ext cx="640080" cy="640080"/>
          </a:xfrm>
          <a:prstGeom prst="ellipse">
            <a:avLst/>
          </a:prstGeom>
          <a:solidFill>
            <a:schemeClr val="accent5"/>
          </a:solidFill>
          <a:ln w="12700">
            <a:solidFill>
              <a:schemeClr val="accent5"/>
            </a:solidFill>
            <a:prstDash val="solid"/>
          </a:ln>
        </p:spPr>
      </p:sp>
      <p:pic>
        <p:nvPicPr>
          <p:cNvPr id="31" name="Image 2" descr="no">    </p:cNvPr>
          <p:cNvPicPr>
            <a:picLocks noChangeAspect="1"/>
          </p:cNvPicPr>
          <p:nvPr/>
        </p:nvPicPr>
        <p:blipFill>
          <a:blip r:embed="rId3"/>
          <a:stretch>
            <a:fillRect/>
          </a:stretch>
        </p:blipFill>
        <p:spPr>
          <a:xfrm>
            <a:off x="8439912" y="5148072"/>
            <a:ext cx="310896" cy="310896"/>
          </a:xfrm>
          <a:prstGeom prst="rect">
            <a:avLst/>
          </a:prstGeom>
        </p:spPr>
      </p:pic>
      <p:sp>
        <p:nvSpPr>
          <p:cNvPr id="32" name="Text 27"/>
          <p:cNvSpPr txBox="1"/>
          <p:nvPr/>
        </p:nvSpPr>
        <p:spPr>
          <a:xfrm>
            <a:off x="9052560" y="4846320"/>
            <a:ext cx="2423160" cy="5486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Helplines need a phone and a clear head</a:t>
            </a:r>
            <a:endParaRPr lang="en-US" sz="1500" dirty="0"/>
          </a:p>
        </p:txBody>
      </p:sp>
      <p:sp>
        <p:nvSpPr>
          <p:cNvPr id="33" name="Text 28"/>
          <p:cNvSpPr txBox="1"/>
          <p:nvPr/>
        </p:nvSpPr>
        <p:spPr>
          <a:xfrm>
            <a:off x="9052560" y="5440680"/>
            <a:ext cx="2423160" cy="45720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The decision is still the family's</a:t>
            </a:r>
            <a:endParaRPr lang="en-US" sz="1300" dirty="0"/>
          </a:p>
        </p:txBody>
      </p:sp>
      <p:sp>
        <p:nvSpPr>
          <p:cNvPr id="34" name="Text 29"/>
          <p:cNvSpPr txBox="1"/>
          <p:nvPr/>
        </p:nvSpPr>
        <p:spPr>
          <a:xfrm>
            <a:off x="548640" y="6144768"/>
            <a:ext cx="7315200" cy="22860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Sources and confidence labels: docs/PITCH_FACTS.md</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32004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Who uses it first</a:t>
            </a:r>
            <a:endParaRPr lang="en-US" sz="3600" dirty="0"/>
          </a:p>
        </p:txBody>
      </p:sp>
      <p:sp>
        <p:nvSpPr>
          <p:cNvPr id="3" name="Persona 1"/>
          <p:cNvSpPr/>
          <p:nvPr/>
        </p:nvSpPr>
        <p:spPr>
          <a:xfrm>
            <a:off x="548640" y="1417320"/>
            <a:ext cx="2194560" cy="283464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pic>
        <p:nvPicPr>
          <p:cNvPr id="4" name="Image 0" descr="The woman">    </p:cNvPr>
          <p:cNvPicPr>
            <a:picLocks noChangeAspect="1"/>
          </p:cNvPicPr>
          <p:nvPr/>
        </p:nvPicPr>
        <p:blipFill>
          <a:blip r:embed="rId1"/>
          <a:stretch>
            <a:fillRect/>
          </a:stretch>
        </p:blipFill>
        <p:spPr>
          <a:xfrm>
            <a:off x="1005840" y="1554480"/>
            <a:ext cx="1280160" cy="1280160"/>
          </a:xfrm>
          <a:prstGeom prst="rect">
            <a:avLst/>
          </a:prstGeom>
        </p:spPr>
      </p:pic>
      <p:sp>
        <p:nvSpPr>
          <p:cNvPr id="5" name="Text 2"/>
          <p:cNvSpPr txBox="1"/>
          <p:nvPr/>
        </p:nvSpPr>
        <p:spPr>
          <a:xfrm>
            <a:off x="685800" y="2926080"/>
            <a:ext cx="1920240" cy="41148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The woman</a:t>
            </a:r>
            <a:endParaRPr lang="en-US" sz="1800" dirty="0"/>
          </a:p>
        </p:txBody>
      </p:sp>
      <p:sp>
        <p:nvSpPr>
          <p:cNvPr id="6" name="Text 3"/>
          <p:cNvSpPr txBox="1"/>
          <p:nvPr/>
        </p:nvSpPr>
        <p:spPr>
          <a:xfrm>
            <a:off x="731520" y="3383280"/>
            <a:ext cx="1828800" cy="73152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Pregnant or within 42 days of birth</a:t>
            </a:r>
            <a:endParaRPr lang="en-US" sz="1300" dirty="0"/>
          </a:p>
        </p:txBody>
      </p:sp>
      <p:sp>
        <p:nvSpPr>
          <p:cNvPr id="7" name="Persona 2"/>
          <p:cNvSpPr/>
          <p:nvPr/>
        </p:nvSpPr>
        <p:spPr>
          <a:xfrm>
            <a:off x="2880360" y="1417320"/>
            <a:ext cx="2194560" cy="283464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pic>
        <p:nvPicPr>
          <p:cNvPr id="8" name="Image 1" descr="ASHA or ANM">    </p:cNvPr>
          <p:cNvPicPr>
            <a:picLocks noChangeAspect="1"/>
          </p:cNvPicPr>
          <p:nvPr/>
        </p:nvPicPr>
        <p:blipFill>
          <a:blip r:embed="rId2"/>
          <a:stretch>
            <a:fillRect/>
          </a:stretch>
        </p:blipFill>
        <p:spPr>
          <a:xfrm>
            <a:off x="3337560" y="1554480"/>
            <a:ext cx="1280160" cy="1280160"/>
          </a:xfrm>
          <a:prstGeom prst="rect">
            <a:avLst/>
          </a:prstGeom>
        </p:spPr>
      </p:pic>
      <p:sp>
        <p:nvSpPr>
          <p:cNvPr id="9" name="Text 5"/>
          <p:cNvSpPr txBox="1"/>
          <p:nvPr/>
        </p:nvSpPr>
        <p:spPr>
          <a:xfrm>
            <a:off x="3017520" y="2926080"/>
            <a:ext cx="1920240" cy="41148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ASHA or ANM</a:t>
            </a:r>
            <a:endParaRPr lang="en-US" sz="1800" dirty="0"/>
          </a:p>
        </p:txBody>
      </p:sp>
      <p:sp>
        <p:nvSpPr>
          <p:cNvPr id="10" name="Text 6"/>
          <p:cNvSpPr txBox="1"/>
          <p:nvPr/>
        </p:nvSpPr>
        <p:spPr>
          <a:xfrm>
            <a:off x="3063240" y="3383280"/>
            <a:ext cx="1828800" cy="73152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Checks one woman after another</a:t>
            </a:r>
            <a:endParaRPr lang="en-US" sz="1300" dirty="0"/>
          </a:p>
        </p:txBody>
      </p:sp>
      <p:sp>
        <p:nvSpPr>
          <p:cNvPr id="11" name="Persona 3"/>
          <p:cNvSpPr/>
          <p:nvPr/>
        </p:nvSpPr>
        <p:spPr>
          <a:xfrm>
            <a:off x="5212080" y="1417320"/>
            <a:ext cx="2194560" cy="283464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pic>
        <p:nvPicPr>
          <p:cNvPr id="12" name="Image 2" descr="The family">    </p:cNvPr>
          <p:cNvPicPr>
            <a:picLocks noChangeAspect="1"/>
          </p:cNvPicPr>
          <p:nvPr/>
        </p:nvPicPr>
        <p:blipFill>
          <a:blip r:embed="rId3"/>
          <a:stretch>
            <a:fillRect/>
          </a:stretch>
        </p:blipFill>
        <p:spPr>
          <a:xfrm>
            <a:off x="5669280" y="1554480"/>
            <a:ext cx="1280160" cy="1280160"/>
          </a:xfrm>
          <a:prstGeom prst="rect">
            <a:avLst/>
          </a:prstGeom>
        </p:spPr>
      </p:pic>
      <p:sp>
        <p:nvSpPr>
          <p:cNvPr id="13" name="Text 8"/>
          <p:cNvSpPr txBox="1"/>
          <p:nvPr/>
        </p:nvSpPr>
        <p:spPr>
          <a:xfrm>
            <a:off x="5349240" y="2926080"/>
            <a:ext cx="1920240" cy="41148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The family</a:t>
            </a:r>
            <a:endParaRPr lang="en-US" sz="1800" dirty="0"/>
          </a:p>
        </p:txBody>
      </p:sp>
      <p:sp>
        <p:nvSpPr>
          <p:cNvPr id="14" name="Text 9"/>
          <p:cNvSpPr txBox="1"/>
          <p:nvPr/>
        </p:nvSpPr>
        <p:spPr>
          <a:xfrm>
            <a:off x="5394960" y="3383280"/>
            <a:ext cx="1828800" cy="73152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Decides if she goes now</a:t>
            </a:r>
            <a:endParaRPr lang="en-US" sz="1300" dirty="0"/>
          </a:p>
        </p:txBody>
      </p:sp>
      <p:sp>
        <p:nvSpPr>
          <p:cNvPr id="15" name="Text 10"/>
          <p:cNvSpPr txBox="1"/>
          <p:nvPr/>
        </p:nvSpPr>
        <p:spPr>
          <a:xfrm>
            <a:off x="7680960" y="1371600"/>
            <a:ext cx="4023360" cy="365760"/>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Size of the opportunity</a:t>
            </a:r>
            <a:endParaRPr lang="en-US" sz="1800" dirty="0"/>
          </a:p>
        </p:txBody>
      </p:sp>
      <p:sp>
        <p:nvSpPr>
          <p:cNvPr id="16" name="TAM bar"/>
          <p:cNvSpPr/>
          <p:nvPr/>
        </p:nvSpPr>
        <p:spPr>
          <a:xfrm>
            <a:off x="7680960" y="1874520"/>
            <a:ext cx="4023360" cy="1188720"/>
          </a:xfrm>
          <a:prstGeom prst="roundRect">
            <a:avLst>
              <a:gd name="adj" fmla="val 9231"/>
            </a:avLst>
          </a:prstGeom>
          <a:solidFill>
            <a:schemeClr val="tx2"/>
          </a:solidFill>
          <a:ln w="12700">
            <a:solidFill>
              <a:schemeClr val="tx2"/>
            </a:solidFill>
            <a:prstDash val="solid"/>
          </a:ln>
        </p:spPr>
      </p:sp>
      <p:sp>
        <p:nvSpPr>
          <p:cNvPr id="17" name="Text 12"/>
          <p:cNvSpPr txBox="1"/>
          <p:nvPr/>
        </p:nvSpPr>
        <p:spPr>
          <a:xfrm>
            <a:off x="7863840" y="1965960"/>
            <a:ext cx="914400" cy="36576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TAM</a:t>
            </a:r>
            <a:endParaRPr lang="en-US" sz="2000" dirty="0"/>
          </a:p>
        </p:txBody>
      </p:sp>
      <p:sp>
        <p:nvSpPr>
          <p:cNvPr id="18" name="Text 13"/>
          <p:cNvSpPr txBox="1"/>
          <p:nvPr/>
        </p:nvSpPr>
        <p:spPr>
          <a:xfrm>
            <a:off x="7863840" y="2331720"/>
            <a:ext cx="3657600" cy="41148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25.2M births a year in India</a:t>
            </a:r>
            <a:endParaRPr lang="en-US" sz="1300" dirty="0"/>
          </a:p>
        </p:txBody>
      </p:sp>
      <p:sp>
        <p:nvSpPr>
          <p:cNvPr id="19" name="Text 14"/>
          <p:cNvSpPr txBox="1"/>
          <p:nvPr/>
        </p:nvSpPr>
        <p:spPr>
          <a:xfrm>
            <a:off x="7863840" y="2743200"/>
            <a:ext cx="3657600" cy="274320"/>
          </a:xfrm>
          <a:prstGeom prst="rect">
            <a:avLst/>
          </a:prstGeom>
          <a:noFill/>
          <a:ln/>
        </p:spPr>
        <p:txBody>
          <a:bodyPr wrap="square" lIns="0" tIns="0" rIns="0" bIns="0" rtlCol="0" anchor="ctr"/>
          <a:lstStyle/>
          <a:p>
            <a:pPr indent="0" marL="0">
              <a:buNone/>
            </a:pPr>
            <a:r>
              <a:rPr lang="en-US" sz="1100" i="1" dirty="0">
                <a:solidFill>
                  <a:schemeClr val="bg1"/>
                </a:solidFill>
                <a:latin typeface="Calibri" pitchFamily="34" charset="0"/>
                <a:ea typeface="Calibri" pitchFamily="34" charset="-122"/>
                <a:cs typeface="Calibri" pitchFamily="34" charset="-120"/>
              </a:rPr>
              <a:t>Secondary source</a:t>
            </a:r>
            <a:endParaRPr lang="en-US" sz="1100" dirty="0"/>
          </a:p>
        </p:txBody>
      </p:sp>
      <p:sp>
        <p:nvSpPr>
          <p:cNvPr id="20" name="SAM bar"/>
          <p:cNvSpPr/>
          <p:nvPr/>
        </p:nvSpPr>
        <p:spPr>
          <a:xfrm>
            <a:off x="7680960" y="3200400"/>
            <a:ext cx="3291840" cy="1188720"/>
          </a:xfrm>
          <a:prstGeom prst="roundRect">
            <a:avLst>
              <a:gd name="adj" fmla="val 9231"/>
            </a:avLst>
          </a:prstGeom>
          <a:solidFill>
            <a:schemeClr val="accent3"/>
          </a:solidFill>
          <a:ln w="12700">
            <a:solidFill>
              <a:schemeClr val="accent3"/>
            </a:solidFill>
            <a:prstDash val="solid"/>
          </a:ln>
        </p:spPr>
      </p:sp>
      <p:sp>
        <p:nvSpPr>
          <p:cNvPr id="21" name="Text 16"/>
          <p:cNvSpPr txBox="1"/>
          <p:nvPr/>
        </p:nvSpPr>
        <p:spPr>
          <a:xfrm>
            <a:off x="7863840" y="3291840"/>
            <a:ext cx="914400" cy="36576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SAM</a:t>
            </a:r>
            <a:endParaRPr lang="en-US" sz="2000" dirty="0"/>
          </a:p>
        </p:txBody>
      </p:sp>
      <p:sp>
        <p:nvSpPr>
          <p:cNvPr id="22" name="Text 17"/>
          <p:cNvSpPr txBox="1"/>
          <p:nvPr/>
        </p:nvSpPr>
        <p:spPr>
          <a:xfrm>
            <a:off x="7863840" y="3657600"/>
            <a:ext cx="2926080" cy="41148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Births in Hindi-first, ASHA-served states</a:t>
            </a:r>
            <a:endParaRPr lang="en-US" sz="1300" dirty="0"/>
          </a:p>
        </p:txBody>
      </p:sp>
      <p:sp>
        <p:nvSpPr>
          <p:cNvPr id="23" name="Text 18"/>
          <p:cNvSpPr txBox="1"/>
          <p:nvPr/>
        </p:nvSpPr>
        <p:spPr>
          <a:xfrm>
            <a:off x="7863840" y="4069080"/>
            <a:ext cx="2926080" cy="274320"/>
          </a:xfrm>
          <a:prstGeom prst="rect">
            <a:avLst/>
          </a:prstGeom>
          <a:noFill/>
          <a:ln/>
        </p:spPr>
        <p:txBody>
          <a:bodyPr wrap="square" lIns="0" tIns="0" rIns="0" bIns="0" rtlCol="0" anchor="ctr"/>
          <a:lstStyle/>
          <a:p>
            <a:pPr indent="0" marL="0">
              <a:buNone/>
            </a:pPr>
            <a:r>
              <a:rPr lang="en-US" sz="1100" i="1" dirty="0">
                <a:solidFill>
                  <a:schemeClr val="bg1"/>
                </a:solidFill>
                <a:latin typeface="Calibri" pitchFamily="34" charset="0"/>
                <a:ea typeface="Calibri" pitchFamily="34" charset="-122"/>
                <a:cs typeface="Calibri" pitchFamily="34" charset="-120"/>
              </a:rPr>
              <a:t>To be sized from SRS data</a:t>
            </a:r>
            <a:endParaRPr lang="en-US" sz="1100" dirty="0"/>
          </a:p>
        </p:txBody>
      </p:sp>
      <p:sp>
        <p:nvSpPr>
          <p:cNvPr id="24" name="SOM bar"/>
          <p:cNvSpPr/>
          <p:nvPr/>
        </p:nvSpPr>
        <p:spPr>
          <a:xfrm>
            <a:off x="7680960" y="4526280"/>
            <a:ext cx="2560320" cy="1188720"/>
          </a:xfrm>
          <a:prstGeom prst="roundRect">
            <a:avLst>
              <a:gd name="adj" fmla="val 9231"/>
            </a:avLst>
          </a:prstGeom>
          <a:solidFill>
            <a:schemeClr val="accent1"/>
          </a:solidFill>
          <a:ln w="12700">
            <a:solidFill>
              <a:schemeClr val="accent1"/>
            </a:solidFill>
            <a:prstDash val="solid"/>
          </a:ln>
        </p:spPr>
      </p:sp>
      <p:sp>
        <p:nvSpPr>
          <p:cNvPr id="25" name="Text 20"/>
          <p:cNvSpPr txBox="1"/>
          <p:nvPr/>
        </p:nvSpPr>
        <p:spPr>
          <a:xfrm>
            <a:off x="7863840" y="4617720"/>
            <a:ext cx="91440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SOM</a:t>
            </a:r>
            <a:endParaRPr lang="en-US" sz="2000" dirty="0"/>
          </a:p>
        </p:txBody>
      </p:sp>
      <p:sp>
        <p:nvSpPr>
          <p:cNvPr id="26" name="Text 21"/>
          <p:cNvSpPr txBox="1"/>
          <p:nvPr/>
        </p:nvSpPr>
        <p:spPr>
          <a:xfrm>
            <a:off x="7863840" y="4983480"/>
            <a:ext cx="2194560" cy="41148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One district pilot, ASHAs of one block</a:t>
            </a:r>
            <a:endParaRPr lang="en-US" sz="1300" dirty="0"/>
          </a:p>
        </p:txBody>
      </p:sp>
      <p:sp>
        <p:nvSpPr>
          <p:cNvPr id="27" name="Text 22"/>
          <p:cNvSpPr txBox="1"/>
          <p:nvPr/>
        </p:nvSpPr>
        <p:spPr>
          <a:xfrm>
            <a:off x="7863840" y="5394960"/>
            <a:ext cx="2194560" cy="274320"/>
          </a:xfrm>
          <a:prstGeom prst="rect">
            <a:avLst/>
          </a:prstGeom>
          <a:noFill/>
          <a:ln/>
        </p:spPr>
        <p:txBody>
          <a:bodyPr wrap="square" lIns="0" tIns="0" rIns="0" bIns="0" rtlCol="0" anchor="ctr"/>
          <a:lstStyle/>
          <a:p>
            <a:pPr indent="0" marL="0">
              <a:buNone/>
            </a:pPr>
            <a:r>
              <a:rPr lang="en-US" sz="1100" i="1" dirty="0">
                <a:solidFill>
                  <a:schemeClr val="tx1"/>
                </a:solidFill>
                <a:latin typeface="Calibri" pitchFamily="34" charset="0"/>
                <a:ea typeface="Calibri" pitchFamily="34" charset="-122"/>
                <a:cs typeface="Calibri" pitchFamily="34" charset="-120"/>
              </a:rPr>
              <a:t>To be sized with the health mission</a:t>
            </a:r>
            <a:endParaRPr lang="en-US" sz="1100" dirty="0"/>
          </a:p>
        </p:txBody>
      </p:sp>
      <p:sp>
        <p:nvSpPr>
          <p:cNvPr id="28" name="Text 23"/>
          <p:cNvSpPr txBox="1"/>
          <p:nvPr/>
        </p:nvSpPr>
        <p:spPr>
          <a:xfrm>
            <a:off x="548640" y="4526280"/>
            <a:ext cx="6858000" cy="5486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About 36% of women do not own a phone (secondary), so ASHA and family modes come first.</a:t>
            </a:r>
            <a:endParaRPr lang="en-US" sz="1400" dirty="0"/>
          </a:p>
        </p:txBody>
      </p:sp>
      <p:sp>
        <p:nvSpPr>
          <p:cNvPr id="29" name="First users"/>
          <p:cNvSpPr/>
          <p:nvPr/>
        </p:nvSpPr>
        <p:spPr>
          <a:xfrm>
            <a:off x="548640" y="5120640"/>
            <a:ext cx="6858000" cy="1005840"/>
          </a:xfrm>
          <a:prstGeom prst="roundRect">
            <a:avLst>
              <a:gd name="adj" fmla="val 10909"/>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30" name="Text 25"/>
          <p:cNvSpPr txBox="1"/>
          <p:nvPr/>
        </p:nvSpPr>
        <p:spPr>
          <a:xfrm>
            <a:off x="777240" y="5212080"/>
            <a:ext cx="6400800" cy="82296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First users: ASHAs and families in a Hindi-speaking district with patchy signal. Only TAM is a sourced number. SAM and SOM are labelled "to be sized" on purpose.</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32004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Say it. See why. Know what to do.</a:t>
            </a:r>
            <a:endParaRPr lang="en-US" sz="3600" dirty="0"/>
          </a:p>
        </p:txBody>
      </p:sp>
      <p:sp>
        <p:nvSpPr>
          <p:cNvPr id="3" name="Text 1"/>
          <p:cNvSpPr txBox="1"/>
          <p:nvPr/>
        </p:nvSpPr>
        <p:spPr>
          <a:xfrm>
            <a:off x="548640" y="1234440"/>
            <a:ext cx="10972800" cy="457200"/>
          </a:xfrm>
          <a:prstGeom prst="rect">
            <a:avLst/>
          </a:prstGeom>
          <a:noFill/>
          <a:ln/>
        </p:spPr>
        <p:txBody>
          <a:bodyPr wrap="square" lIns="0" tIns="0" rIns="0" bIns="0" rtlCol="0" anchor="ctr"/>
          <a:lstStyle/>
          <a:p>
            <a:pPr indent="0" marL="0">
              <a:buNone/>
            </a:pPr>
            <a:r>
              <a:rPr lang="en-US" sz="1800" dirty="0">
                <a:solidFill>
                  <a:schemeClr val="accent5"/>
                </a:solidFill>
                <a:latin typeface="Calibri" pitchFamily="34" charset="0"/>
                <a:ea typeface="Calibri" pitchFamily="34" charset="-122"/>
                <a:cs typeface="Calibri" pitchFamily="34" charset="-120"/>
              </a:rPr>
              <a:t>An offline, Hindi-first checker that turns danger signs into one clear next step for the family.</a:t>
            </a:r>
            <a:endParaRPr lang="en-US" sz="1800" dirty="0"/>
          </a:p>
        </p:txBody>
      </p:sp>
      <p:sp>
        <p:nvSpPr>
          <p:cNvPr id="4" name="Feature 1"/>
          <p:cNvSpPr/>
          <p:nvPr/>
        </p:nvSpPr>
        <p:spPr>
          <a:xfrm>
            <a:off x="548640" y="1920240"/>
            <a:ext cx="3566160" cy="192024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5" name="Feature bg 1"/>
          <p:cNvSpPr/>
          <p:nvPr/>
        </p:nvSpPr>
        <p:spPr>
          <a:xfrm>
            <a:off x="822960" y="2240280"/>
            <a:ext cx="777240" cy="777240"/>
          </a:xfrm>
          <a:prstGeom prst="ellipse">
            <a:avLst/>
          </a:prstGeom>
          <a:solidFill>
            <a:schemeClr val="tx2"/>
          </a:solidFill>
          <a:ln w="12700">
            <a:solidFill>
              <a:schemeClr val="tx2"/>
            </a:solidFill>
            <a:prstDash val="solid"/>
          </a:ln>
        </p:spPr>
      </p:sp>
      <p:pic>
        <p:nvPicPr>
          <p:cNvPr id="6" name="Image 0" descr="Voice or tap">    </p:cNvPr>
          <p:cNvPicPr>
            <a:picLocks noChangeAspect="1"/>
          </p:cNvPicPr>
          <p:nvPr/>
        </p:nvPicPr>
        <p:blipFill>
          <a:blip r:embed="rId1"/>
          <a:stretch>
            <a:fillRect/>
          </a:stretch>
        </p:blipFill>
        <p:spPr>
          <a:xfrm>
            <a:off x="1024128" y="2441448"/>
            <a:ext cx="384048" cy="384048"/>
          </a:xfrm>
          <a:prstGeom prst="rect">
            <a:avLst/>
          </a:prstGeom>
        </p:spPr>
      </p:pic>
      <p:sp>
        <p:nvSpPr>
          <p:cNvPr id="7" name="Text 4"/>
          <p:cNvSpPr txBox="1"/>
          <p:nvPr/>
        </p:nvSpPr>
        <p:spPr>
          <a:xfrm>
            <a:off x="1828800" y="2194560"/>
            <a:ext cx="2194560" cy="8686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Voice or tap</a:t>
            </a:r>
            <a:endParaRPr lang="en-US" sz="2000" dirty="0"/>
          </a:p>
        </p:txBody>
      </p:sp>
      <p:sp>
        <p:nvSpPr>
          <p:cNvPr id="8" name="Text 5"/>
          <p:cNvSpPr txBox="1"/>
          <p:nvPr/>
        </p:nvSpPr>
        <p:spPr>
          <a:xfrm>
            <a:off x="822960" y="3154680"/>
            <a:ext cx="3108960" cy="5486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Speak it, or tap Yes, No, Not sure</a:t>
            </a:r>
            <a:endParaRPr lang="en-US" sz="1400" dirty="0"/>
          </a:p>
        </p:txBody>
      </p:sp>
      <p:sp>
        <p:nvSpPr>
          <p:cNvPr id="9" name="Feature 2"/>
          <p:cNvSpPr/>
          <p:nvPr/>
        </p:nvSpPr>
        <p:spPr>
          <a:xfrm>
            <a:off x="4297680" y="1920240"/>
            <a:ext cx="3566160" cy="192024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10" name="Feature bg 2"/>
          <p:cNvSpPr/>
          <p:nvPr/>
        </p:nvSpPr>
        <p:spPr>
          <a:xfrm>
            <a:off x="4572000" y="2240280"/>
            <a:ext cx="777240" cy="777240"/>
          </a:xfrm>
          <a:prstGeom prst="ellipse">
            <a:avLst/>
          </a:prstGeom>
          <a:solidFill>
            <a:schemeClr val="tx2"/>
          </a:solidFill>
          <a:ln w="12700">
            <a:solidFill>
              <a:schemeClr val="tx2"/>
            </a:solidFill>
            <a:prstDash val="solid"/>
          </a:ln>
        </p:spPr>
      </p:sp>
      <p:pic>
        <p:nvPicPr>
          <p:cNvPr id="11" name="Image 1" descr="Shows its rule">    </p:cNvPr>
          <p:cNvPicPr>
            <a:picLocks noChangeAspect="1"/>
          </p:cNvPicPr>
          <p:nvPr/>
        </p:nvPicPr>
        <p:blipFill>
          <a:blip r:embed="rId2"/>
          <a:stretch>
            <a:fillRect/>
          </a:stretch>
        </p:blipFill>
        <p:spPr>
          <a:xfrm>
            <a:off x="4773168" y="2441448"/>
            <a:ext cx="384048" cy="384048"/>
          </a:xfrm>
          <a:prstGeom prst="rect">
            <a:avLst/>
          </a:prstGeom>
        </p:spPr>
      </p:pic>
      <p:sp>
        <p:nvSpPr>
          <p:cNvPr id="12" name="Text 8"/>
          <p:cNvSpPr txBox="1"/>
          <p:nvPr/>
        </p:nvSpPr>
        <p:spPr>
          <a:xfrm>
            <a:off x="5577840" y="2194560"/>
            <a:ext cx="2194560" cy="8686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Shows its rule</a:t>
            </a:r>
            <a:endParaRPr lang="en-US" sz="2000" dirty="0"/>
          </a:p>
        </p:txBody>
      </p:sp>
      <p:sp>
        <p:nvSpPr>
          <p:cNvPr id="13" name="Text 9"/>
          <p:cNvSpPr txBox="1"/>
          <p:nvPr/>
        </p:nvSpPr>
        <p:spPr>
          <a:xfrm>
            <a:off x="4572000" y="3154680"/>
            <a:ext cx="3108960" cy="5486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Every verdict names its sign and source</a:t>
            </a:r>
            <a:endParaRPr lang="en-US" sz="1400" dirty="0"/>
          </a:p>
        </p:txBody>
      </p:sp>
      <p:sp>
        <p:nvSpPr>
          <p:cNvPr id="14" name="Feature 3"/>
          <p:cNvSpPr/>
          <p:nvPr/>
        </p:nvSpPr>
        <p:spPr>
          <a:xfrm>
            <a:off x="8046720" y="1920240"/>
            <a:ext cx="3566160" cy="192024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15" name="Feature bg 3"/>
          <p:cNvSpPr/>
          <p:nvPr/>
        </p:nvSpPr>
        <p:spPr>
          <a:xfrm>
            <a:off x="8321040" y="2240280"/>
            <a:ext cx="777240" cy="777240"/>
          </a:xfrm>
          <a:prstGeom prst="ellipse">
            <a:avLst/>
          </a:prstGeom>
          <a:solidFill>
            <a:schemeClr val="tx2"/>
          </a:solidFill>
          <a:ln w="12700">
            <a:solidFill>
              <a:schemeClr val="tx2"/>
            </a:solidFill>
            <a:prstDash val="solid"/>
          </a:ln>
        </p:spPr>
      </p:sp>
      <p:pic>
        <p:nvPicPr>
          <p:cNvPr id="16" name="Image 2" descr="One RED sign, one call">    </p:cNvPr>
          <p:cNvPicPr>
            <a:picLocks noChangeAspect="1"/>
          </p:cNvPicPr>
          <p:nvPr/>
        </p:nvPicPr>
        <p:blipFill>
          <a:blip r:embed="rId3"/>
          <a:stretch>
            <a:fillRect/>
          </a:stretch>
        </p:blipFill>
        <p:spPr>
          <a:xfrm>
            <a:off x="8522208" y="2441448"/>
            <a:ext cx="384048" cy="384048"/>
          </a:xfrm>
          <a:prstGeom prst="rect">
            <a:avLst/>
          </a:prstGeom>
        </p:spPr>
      </p:pic>
      <p:sp>
        <p:nvSpPr>
          <p:cNvPr id="17" name="Text 12"/>
          <p:cNvSpPr txBox="1"/>
          <p:nvPr/>
        </p:nvSpPr>
        <p:spPr>
          <a:xfrm>
            <a:off x="9326880" y="2194560"/>
            <a:ext cx="2194560" cy="8686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One RED sign, one call</a:t>
            </a:r>
            <a:endParaRPr lang="en-US" sz="2000" dirty="0"/>
          </a:p>
        </p:txBody>
      </p:sp>
      <p:sp>
        <p:nvSpPr>
          <p:cNvPr id="18" name="Text 13"/>
          <p:cNvSpPr txBox="1"/>
          <p:nvPr/>
        </p:nvSpPr>
        <p:spPr>
          <a:xfrm>
            <a:off x="8321040" y="3154680"/>
            <a:ext cx="3108960" cy="5486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The check stops and the call button shows</a:t>
            </a:r>
            <a:endParaRPr lang="en-US" sz="1400" dirty="0"/>
          </a:p>
        </p:txBody>
      </p:sp>
      <p:sp>
        <p:nvSpPr>
          <p:cNvPr id="19" name="Feature 4"/>
          <p:cNvSpPr/>
          <p:nvPr/>
        </p:nvSpPr>
        <p:spPr>
          <a:xfrm>
            <a:off x="548640" y="4114800"/>
            <a:ext cx="3566160" cy="192024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20" name="Feature bg 4"/>
          <p:cNvSpPr/>
          <p:nvPr/>
        </p:nvSpPr>
        <p:spPr>
          <a:xfrm>
            <a:off x="822960" y="4434840"/>
            <a:ext cx="777240" cy="777240"/>
          </a:xfrm>
          <a:prstGeom prst="ellipse">
            <a:avLst/>
          </a:prstGeom>
          <a:solidFill>
            <a:schemeClr val="tx2"/>
          </a:solidFill>
          <a:ln w="12700">
            <a:solidFill>
              <a:schemeClr val="tx2"/>
            </a:solidFill>
            <a:prstDash val="solid"/>
          </a:ln>
        </p:spPr>
      </p:sp>
      <p:pic>
        <p:nvPicPr>
          <p:cNvPr id="21" name="Image 3" descr="Slip for the ASHA">    </p:cNvPr>
          <p:cNvPicPr>
            <a:picLocks noChangeAspect="1"/>
          </p:cNvPicPr>
          <p:nvPr/>
        </p:nvPicPr>
        <p:blipFill>
          <a:blip r:embed="rId4"/>
          <a:stretch>
            <a:fillRect/>
          </a:stretch>
        </p:blipFill>
        <p:spPr>
          <a:xfrm>
            <a:off x="1024128" y="4636008"/>
            <a:ext cx="384048" cy="384048"/>
          </a:xfrm>
          <a:prstGeom prst="rect">
            <a:avLst/>
          </a:prstGeom>
        </p:spPr>
      </p:pic>
      <p:sp>
        <p:nvSpPr>
          <p:cNvPr id="22" name="Text 16"/>
          <p:cNvSpPr txBox="1"/>
          <p:nvPr/>
        </p:nvSpPr>
        <p:spPr>
          <a:xfrm>
            <a:off x="1828800" y="4389120"/>
            <a:ext cx="2194560" cy="8686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Slip for the ASHA</a:t>
            </a:r>
            <a:endParaRPr lang="en-US" sz="2000" dirty="0"/>
          </a:p>
        </p:txBody>
      </p:sp>
      <p:sp>
        <p:nvSpPr>
          <p:cNvPr id="23" name="Text 17"/>
          <p:cNvSpPr txBox="1"/>
          <p:nvPr/>
        </p:nvSpPr>
        <p:spPr>
          <a:xfrm>
            <a:off x="822960" y="5349240"/>
            <a:ext cx="3108960" cy="5486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Share with consent. No name or number</a:t>
            </a:r>
            <a:endParaRPr lang="en-US" sz="1400" dirty="0"/>
          </a:p>
        </p:txBody>
      </p:sp>
      <p:sp>
        <p:nvSpPr>
          <p:cNvPr id="24" name="Feature 5"/>
          <p:cNvSpPr/>
          <p:nvPr/>
        </p:nvSpPr>
        <p:spPr>
          <a:xfrm>
            <a:off x="4297680" y="4114800"/>
            <a:ext cx="3566160" cy="192024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25" name="Feature bg 5"/>
          <p:cNvSpPr/>
          <p:nvPr/>
        </p:nvSpPr>
        <p:spPr>
          <a:xfrm>
            <a:off x="4572000" y="4434840"/>
            <a:ext cx="777240" cy="777240"/>
          </a:xfrm>
          <a:prstGeom prst="ellipse">
            <a:avLst/>
          </a:prstGeom>
          <a:solidFill>
            <a:schemeClr val="tx2"/>
          </a:solidFill>
          <a:ln w="12700">
            <a:solidFill>
              <a:schemeClr val="tx2"/>
            </a:solidFill>
            <a:prstDash val="solid"/>
          </a:ln>
        </p:spPr>
      </p:sp>
      <p:pic>
        <p:nvPicPr>
          <p:cNvPr id="26" name="Image 4" descr="Works offline">    </p:cNvPr>
          <p:cNvPicPr>
            <a:picLocks noChangeAspect="1"/>
          </p:cNvPicPr>
          <p:nvPr/>
        </p:nvPicPr>
        <p:blipFill>
          <a:blip r:embed="rId5"/>
          <a:stretch>
            <a:fillRect/>
          </a:stretch>
        </p:blipFill>
        <p:spPr>
          <a:xfrm>
            <a:off x="4773168" y="4636008"/>
            <a:ext cx="384048" cy="384048"/>
          </a:xfrm>
          <a:prstGeom prst="rect">
            <a:avLst/>
          </a:prstGeom>
        </p:spPr>
      </p:pic>
      <p:sp>
        <p:nvSpPr>
          <p:cNvPr id="27" name="Text 20"/>
          <p:cNvSpPr txBox="1"/>
          <p:nvPr/>
        </p:nvSpPr>
        <p:spPr>
          <a:xfrm>
            <a:off x="5577840" y="4389120"/>
            <a:ext cx="2194560" cy="8686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Works offline</a:t>
            </a:r>
            <a:endParaRPr lang="en-US" sz="2000" dirty="0"/>
          </a:p>
        </p:txBody>
      </p:sp>
      <p:sp>
        <p:nvSpPr>
          <p:cNvPr id="28" name="Text 21"/>
          <p:cNvSpPr txBox="1"/>
          <p:nvPr/>
        </p:nvSpPr>
        <p:spPr>
          <a:xfrm>
            <a:off x="4572000" y="5349240"/>
            <a:ext cx="3108960" cy="5486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After one visit, in airplane mode</a:t>
            </a:r>
            <a:endParaRPr lang="en-US" sz="1400" dirty="0"/>
          </a:p>
        </p:txBody>
      </p:sp>
      <p:sp>
        <p:nvSpPr>
          <p:cNvPr id="29" name="Feature 6"/>
          <p:cNvSpPr/>
          <p:nvPr/>
        </p:nvSpPr>
        <p:spPr>
          <a:xfrm>
            <a:off x="8046720" y="4114800"/>
            <a:ext cx="3566160" cy="192024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30" name="Feature bg 6"/>
          <p:cNvSpPr/>
          <p:nvPr/>
        </p:nvSpPr>
        <p:spPr>
          <a:xfrm>
            <a:off x="8321040" y="4434840"/>
            <a:ext cx="777240" cy="777240"/>
          </a:xfrm>
          <a:prstGeom prst="ellipse">
            <a:avLst/>
          </a:prstGeom>
          <a:solidFill>
            <a:schemeClr val="tx2"/>
          </a:solidFill>
          <a:ln w="12700">
            <a:solidFill>
              <a:schemeClr val="tx2"/>
            </a:solidFill>
            <a:prstDash val="solid"/>
          </a:ln>
        </p:spPr>
      </p:sp>
      <p:pic>
        <p:nvPicPr>
          <p:cNvPr id="31" name="Image 5" descr="Private by default">    </p:cNvPr>
          <p:cNvPicPr>
            <a:picLocks noChangeAspect="1"/>
          </p:cNvPicPr>
          <p:nvPr/>
        </p:nvPicPr>
        <p:blipFill>
          <a:blip r:embed="rId6"/>
          <a:stretch>
            <a:fillRect/>
          </a:stretch>
        </p:blipFill>
        <p:spPr>
          <a:xfrm>
            <a:off x="8522208" y="4636008"/>
            <a:ext cx="384048" cy="384048"/>
          </a:xfrm>
          <a:prstGeom prst="rect">
            <a:avLst/>
          </a:prstGeom>
        </p:spPr>
      </p:pic>
      <p:sp>
        <p:nvSpPr>
          <p:cNvPr id="32" name="Text 24"/>
          <p:cNvSpPr txBox="1"/>
          <p:nvPr/>
        </p:nvSpPr>
        <p:spPr>
          <a:xfrm>
            <a:off x="9326880" y="4389120"/>
            <a:ext cx="2194560" cy="8686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Private by default</a:t>
            </a:r>
            <a:endParaRPr lang="en-US" sz="2000" dirty="0"/>
          </a:p>
        </p:txBody>
      </p:sp>
      <p:sp>
        <p:nvSpPr>
          <p:cNvPr id="33" name="Text 25"/>
          <p:cNvSpPr txBox="1"/>
          <p:nvPr/>
        </p:nvSpPr>
        <p:spPr>
          <a:xfrm>
            <a:off x="8321040" y="5349240"/>
            <a:ext cx="3108960" cy="5486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No account needed. Exit now clears all</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32004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Prototype walkthrough</a:t>
            </a:r>
            <a:endParaRPr lang="en-US" sz="3600" dirty="0"/>
          </a:p>
        </p:txBody>
      </p:sp>
      <p:pic>
        <p:nvPicPr>
          <p:cNvPr id="3" name="Image 0" descr="Maitri screen: Emergency call first">    </p:cNvPr>
          <p:cNvPicPr>
            <a:picLocks noChangeAspect="1"/>
          </p:cNvPicPr>
          <p:nvPr/>
        </p:nvPicPr>
        <p:blipFill>
          <a:blip r:embed="rId1"/>
          <a:stretch>
            <a:fillRect/>
          </a:stretch>
        </p:blipFill>
        <p:spPr>
          <a:xfrm>
            <a:off x="548640" y="1234440"/>
            <a:ext cx="2103120" cy="4093937"/>
          </a:xfrm>
          <a:prstGeom prst="rect">
            <a:avLst/>
          </a:prstGeom>
        </p:spPr>
      </p:pic>
      <p:sp>
        <p:nvSpPr>
          <p:cNvPr id="4" name="Text 1"/>
          <p:cNvSpPr txBox="1"/>
          <p:nvPr/>
        </p:nvSpPr>
        <p:spPr>
          <a:xfrm>
            <a:off x="457200" y="5897880"/>
            <a:ext cx="228600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Emergency call first</a:t>
            </a:r>
            <a:endParaRPr lang="en-US" sz="1400" dirty="0"/>
          </a:p>
        </p:txBody>
      </p:sp>
      <p:pic>
        <p:nvPicPr>
          <p:cNvPr id="5" name="Image 1" descr="Maitri screen: Say what is happening">    </p:cNvPr>
          <p:cNvPicPr>
            <a:picLocks noChangeAspect="1"/>
          </p:cNvPicPr>
          <p:nvPr/>
        </p:nvPicPr>
        <p:blipFill>
          <a:blip r:embed="rId2"/>
          <a:stretch>
            <a:fillRect/>
          </a:stretch>
        </p:blipFill>
        <p:spPr>
          <a:xfrm>
            <a:off x="2880360" y="1234440"/>
            <a:ext cx="2103120" cy="4093937"/>
          </a:xfrm>
          <a:prstGeom prst="rect">
            <a:avLst/>
          </a:prstGeom>
        </p:spPr>
      </p:pic>
      <p:sp>
        <p:nvSpPr>
          <p:cNvPr id="6" name="Text 2"/>
          <p:cNvSpPr txBox="1"/>
          <p:nvPr/>
        </p:nvSpPr>
        <p:spPr>
          <a:xfrm>
            <a:off x="2788920" y="5897880"/>
            <a:ext cx="228600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Say what is happening</a:t>
            </a:r>
            <a:endParaRPr lang="en-US" sz="1400" dirty="0"/>
          </a:p>
        </p:txBody>
      </p:sp>
      <p:pic>
        <p:nvPicPr>
          <p:cNvPr id="7" name="Image 2" descr="Maitri screen: One RED sign, one call">    </p:cNvPr>
          <p:cNvPicPr>
            <a:picLocks noChangeAspect="1"/>
          </p:cNvPicPr>
          <p:nvPr/>
        </p:nvPicPr>
        <p:blipFill>
          <a:blip r:embed="rId3"/>
          <a:stretch>
            <a:fillRect/>
          </a:stretch>
        </p:blipFill>
        <p:spPr>
          <a:xfrm>
            <a:off x="5212080" y="1234440"/>
            <a:ext cx="2103120" cy="4093937"/>
          </a:xfrm>
          <a:prstGeom prst="rect">
            <a:avLst/>
          </a:prstGeom>
        </p:spPr>
      </p:pic>
      <p:sp>
        <p:nvSpPr>
          <p:cNvPr id="8" name="Text 3"/>
          <p:cNvSpPr txBox="1"/>
          <p:nvPr/>
        </p:nvSpPr>
        <p:spPr>
          <a:xfrm>
            <a:off x="5120640" y="5897880"/>
            <a:ext cx="228600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One RED sign, one call</a:t>
            </a:r>
            <a:endParaRPr lang="en-US" sz="1400" dirty="0"/>
          </a:p>
        </p:txBody>
      </p:sp>
      <p:pic>
        <p:nvPicPr>
          <p:cNvPr id="9" name="Image 3" descr="Maitri screen: Why this result">    </p:cNvPr>
          <p:cNvPicPr>
            <a:picLocks noChangeAspect="1"/>
          </p:cNvPicPr>
          <p:nvPr/>
        </p:nvPicPr>
        <p:blipFill>
          <a:blip r:embed="rId4"/>
          <a:stretch>
            <a:fillRect/>
          </a:stretch>
        </p:blipFill>
        <p:spPr>
          <a:xfrm>
            <a:off x="7543800" y="1234440"/>
            <a:ext cx="2103120" cy="4093937"/>
          </a:xfrm>
          <a:prstGeom prst="rect">
            <a:avLst/>
          </a:prstGeom>
        </p:spPr>
      </p:pic>
      <p:sp>
        <p:nvSpPr>
          <p:cNvPr id="10" name="Text 4"/>
          <p:cNvSpPr txBox="1"/>
          <p:nvPr/>
        </p:nvSpPr>
        <p:spPr>
          <a:xfrm>
            <a:off x="7452360" y="5897880"/>
            <a:ext cx="228600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Why this result</a:t>
            </a:r>
            <a:endParaRPr lang="en-US" sz="1400" dirty="0"/>
          </a:p>
        </p:txBody>
      </p:sp>
      <p:sp>
        <p:nvSpPr>
          <p:cNvPr id="11" name="QR card"/>
          <p:cNvSpPr/>
          <p:nvPr/>
        </p:nvSpPr>
        <p:spPr>
          <a:xfrm>
            <a:off x="9966960" y="1371600"/>
            <a:ext cx="1783080" cy="3017520"/>
          </a:xfrm>
          <a:prstGeom prst="roundRect">
            <a:avLst>
              <a:gd name="adj" fmla="val 6154"/>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pic>
        <p:nvPicPr>
          <p:cNvPr id="12" name="Image 4" descr="QR code to the Maitri repository">    </p:cNvPr>
          <p:cNvPicPr>
            <a:picLocks noChangeAspect="1"/>
          </p:cNvPicPr>
          <p:nvPr/>
        </p:nvPicPr>
        <p:blipFill>
          <a:blip r:embed="rId5"/>
          <a:stretch>
            <a:fillRect/>
          </a:stretch>
        </p:blipFill>
        <p:spPr>
          <a:xfrm>
            <a:off x="10058400" y="1463040"/>
            <a:ext cx="1600200" cy="1600200"/>
          </a:xfrm>
          <a:prstGeom prst="rect">
            <a:avLst/>
          </a:prstGeom>
        </p:spPr>
      </p:pic>
      <p:sp>
        <p:nvSpPr>
          <p:cNvPr id="13" name="Text 6"/>
          <p:cNvSpPr txBox="1"/>
          <p:nvPr/>
        </p:nvSpPr>
        <p:spPr>
          <a:xfrm>
            <a:off x="10058400" y="3154680"/>
            <a:ext cx="1600200" cy="82296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Scan for code, demo video and the live app link</a:t>
            </a:r>
            <a:endParaRPr lang="en-US" sz="1200" dirty="0"/>
          </a:p>
        </p:txBody>
      </p:sp>
      <p:sp>
        <p:nvSpPr>
          <p:cNvPr id="14" name="Text 7"/>
          <p:cNvSpPr txBox="1"/>
          <p:nvPr/>
        </p:nvSpPr>
        <p:spPr>
          <a:xfrm>
            <a:off x="9921240" y="4526280"/>
            <a:ext cx="1874520" cy="457200"/>
          </a:xfrm>
          <a:prstGeom prst="rect">
            <a:avLst/>
          </a:prstGeom>
          <a:noFill/>
          <a:ln/>
        </p:spPr>
        <p:txBody>
          <a:bodyPr wrap="square" lIns="0" tIns="0" rIns="0" bIns="0" rtlCol="0" anchor="t"/>
          <a:lstStyle/>
          <a:p>
            <a:pPr algn="ctr" indent="0" marL="0">
              <a:buNone/>
            </a:pPr>
            <a:r>
              <a:rPr lang="en-US" sz="1100" b="1" dirty="0">
                <a:solidFill>
                  <a:schemeClr val="tx2"/>
                </a:solidFill>
                <a:latin typeface="Calibri" pitchFamily="34" charset="0"/>
                <a:ea typeface="Calibri" pitchFamily="34" charset="-122"/>
                <a:cs typeface="Calibri" pitchFamily="34" charset="-120"/>
              </a:rPr>
              <a:t>github.com/aafreenzy/maitri</a:t>
            </a:r>
            <a:endParaRPr lang="en-US" sz="1100" dirty="0"/>
          </a:p>
        </p:txBody>
      </p:sp>
      <p:sp>
        <p:nvSpPr>
          <p:cNvPr id="15" name="Text 8"/>
          <p:cNvSpPr txBox="1"/>
          <p:nvPr/>
        </p:nvSpPr>
        <p:spPr>
          <a:xfrm>
            <a:off x="9921240" y="5029200"/>
            <a:ext cx="1874520" cy="320040"/>
          </a:xfrm>
          <a:prstGeom prst="rect">
            <a:avLst/>
          </a:prstGeom>
          <a:noFill/>
          <a:ln/>
        </p:spPr>
        <p:txBody>
          <a:bodyPr wrap="square" lIns="0" tIns="0" rIns="0" bIns="0" rtlCol="0" anchor="ctr"/>
          <a:lstStyle/>
          <a:p>
            <a:pPr algn="ctr" indent="0" marL="0">
              <a:buNone/>
            </a:pPr>
            <a:r>
              <a:rPr lang="en-US" sz="1100" dirty="0">
                <a:solidFill>
                  <a:schemeClr val="accent5"/>
                </a:solidFill>
                <a:latin typeface="Calibri" pitchFamily="34" charset="0"/>
                <a:ea typeface="Calibri" pitchFamily="34" charset="-122"/>
                <a:cs typeface="Calibri" pitchFamily="34" charset="-120"/>
              </a:rPr>
              <a:t>Demo video: docs/demo</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32004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How it is built</a:t>
            </a:r>
            <a:endParaRPr lang="en-US" sz="3600" dirty="0"/>
          </a:p>
        </p:txBody>
      </p:sp>
      <p:sp>
        <p:nvSpPr>
          <p:cNvPr id="3" name="Pipeline card"/>
          <p:cNvSpPr/>
          <p:nvPr/>
        </p:nvSpPr>
        <p:spPr>
          <a:xfrm>
            <a:off x="548640" y="1371600"/>
            <a:ext cx="7040880" cy="1828800"/>
          </a:xfrm>
          <a:prstGeom prst="roundRect">
            <a:avLst>
              <a:gd name="adj" fmla="val 6000"/>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4" name="Text 2"/>
          <p:cNvSpPr txBox="1"/>
          <p:nvPr/>
        </p:nvSpPr>
        <p:spPr>
          <a:xfrm>
            <a:off x="777240" y="1463040"/>
            <a:ext cx="658368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Voice path: no model decides</a:t>
            </a:r>
            <a:endParaRPr lang="en-US" sz="1500" dirty="0"/>
          </a:p>
        </p:txBody>
      </p:sp>
      <p:sp>
        <p:nvSpPr>
          <p:cNvPr id="5" name="Step 0"/>
          <p:cNvSpPr/>
          <p:nvPr/>
        </p:nvSpPr>
        <p:spPr>
          <a:xfrm>
            <a:off x="777240" y="1965960"/>
            <a:ext cx="1234440" cy="1005840"/>
          </a:xfrm>
          <a:prstGeom prst="roundRect">
            <a:avLst>
              <a:gd name="adj" fmla="val 9091"/>
            </a:avLst>
          </a:prstGeom>
          <a:solidFill>
            <a:schemeClr val="bg2"/>
          </a:solidFill>
          <a:ln w="19050">
            <a:solidFill>
              <a:schemeClr val="tx2"/>
            </a:solidFill>
            <a:prstDash val="solid"/>
          </a:ln>
        </p:spPr>
      </p:sp>
      <p:sp>
        <p:nvSpPr>
          <p:cNvPr id="6" name="Text 4"/>
          <p:cNvSpPr txBox="1"/>
          <p:nvPr/>
        </p:nvSpPr>
        <p:spPr>
          <a:xfrm>
            <a:off x="822960" y="1965960"/>
            <a:ext cx="1143000" cy="100584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Browser speech</a:t>
            </a:r>
            <a:endParaRPr lang="en-US" sz="1200" dirty="0"/>
          </a:p>
        </p:txBody>
      </p:sp>
      <p:sp>
        <p:nvSpPr>
          <p:cNvPr id="7" name="Step 1"/>
          <p:cNvSpPr/>
          <p:nvPr/>
        </p:nvSpPr>
        <p:spPr>
          <a:xfrm>
            <a:off x="2148840" y="1965960"/>
            <a:ext cx="1234440" cy="1005840"/>
          </a:xfrm>
          <a:prstGeom prst="roundRect">
            <a:avLst>
              <a:gd name="adj" fmla="val 9091"/>
            </a:avLst>
          </a:prstGeom>
          <a:solidFill>
            <a:schemeClr val="bg2"/>
          </a:solidFill>
          <a:ln w="19050">
            <a:solidFill>
              <a:schemeClr val="tx2"/>
            </a:solidFill>
            <a:prstDash val="solid"/>
          </a:ln>
        </p:spPr>
      </p:sp>
      <p:sp>
        <p:nvSpPr>
          <p:cNvPr id="8" name="Text 6"/>
          <p:cNvSpPr txBox="1"/>
          <p:nvPr/>
        </p:nvSpPr>
        <p:spPr>
          <a:xfrm>
            <a:off x="2194560" y="1965960"/>
            <a:ext cx="1143000" cy="100584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Transcript she can edit</a:t>
            </a:r>
            <a:endParaRPr lang="en-US" sz="1200" dirty="0"/>
          </a:p>
        </p:txBody>
      </p:sp>
      <p:sp>
        <p:nvSpPr>
          <p:cNvPr id="9" name="Step 2"/>
          <p:cNvSpPr/>
          <p:nvPr/>
        </p:nvSpPr>
        <p:spPr>
          <a:xfrm>
            <a:off x="3520440" y="1965960"/>
            <a:ext cx="1234440" cy="1005840"/>
          </a:xfrm>
          <a:prstGeom prst="roundRect">
            <a:avLst>
              <a:gd name="adj" fmla="val 9091"/>
            </a:avLst>
          </a:prstGeom>
          <a:solidFill>
            <a:schemeClr val="bg2"/>
          </a:solidFill>
          <a:ln w="19050">
            <a:solidFill>
              <a:schemeClr val="tx2"/>
            </a:solidFill>
            <a:prstDash val="solid"/>
          </a:ln>
        </p:spPr>
      </p:sp>
      <p:sp>
        <p:nvSpPr>
          <p:cNvPr id="10" name="Text 8"/>
          <p:cNvSpPr txBox="1"/>
          <p:nvPr/>
        </p:nvSpPr>
        <p:spPr>
          <a:xfrm>
            <a:off x="3566160" y="1965960"/>
            <a:ext cx="1143000" cy="100584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Word lists (Hindi, English)</a:t>
            </a:r>
            <a:endParaRPr lang="en-US" sz="1200" dirty="0"/>
          </a:p>
        </p:txBody>
      </p:sp>
      <p:sp>
        <p:nvSpPr>
          <p:cNvPr id="11" name="Step 3"/>
          <p:cNvSpPr/>
          <p:nvPr/>
        </p:nvSpPr>
        <p:spPr>
          <a:xfrm>
            <a:off x="4892040" y="1965960"/>
            <a:ext cx="1234440" cy="1005840"/>
          </a:xfrm>
          <a:prstGeom prst="roundRect">
            <a:avLst>
              <a:gd name="adj" fmla="val 9091"/>
            </a:avLst>
          </a:prstGeom>
          <a:solidFill>
            <a:schemeClr val="bg2"/>
          </a:solidFill>
          <a:ln w="19050">
            <a:solidFill>
              <a:schemeClr val="tx2"/>
            </a:solidFill>
            <a:prstDash val="solid"/>
          </a:ln>
        </p:spPr>
      </p:sp>
      <p:sp>
        <p:nvSpPr>
          <p:cNvPr id="12" name="Text 10"/>
          <p:cNvSpPr txBox="1"/>
          <p:nvPr/>
        </p:nvSpPr>
        <p:spPr>
          <a:xfrm>
            <a:off x="4937760" y="1965960"/>
            <a:ext cx="1143000" cy="100584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Same Yes / No / Not sure</a:t>
            </a:r>
            <a:endParaRPr lang="en-US" sz="1200" dirty="0"/>
          </a:p>
        </p:txBody>
      </p:sp>
      <p:sp>
        <p:nvSpPr>
          <p:cNvPr id="13" name="Step 4"/>
          <p:cNvSpPr/>
          <p:nvPr/>
        </p:nvSpPr>
        <p:spPr>
          <a:xfrm>
            <a:off x="6263640" y="1965960"/>
            <a:ext cx="1234440" cy="1005840"/>
          </a:xfrm>
          <a:prstGeom prst="roundRect">
            <a:avLst>
              <a:gd name="adj" fmla="val 9091"/>
            </a:avLst>
          </a:prstGeom>
          <a:solidFill>
            <a:schemeClr val="tx2"/>
          </a:solidFill>
          <a:ln w="19050">
            <a:solidFill>
              <a:schemeClr val="tx2"/>
            </a:solidFill>
            <a:prstDash val="solid"/>
          </a:ln>
        </p:spPr>
      </p:sp>
      <p:sp>
        <p:nvSpPr>
          <p:cNvPr id="14" name="Text 12"/>
          <p:cNvSpPr txBox="1"/>
          <p:nvPr/>
        </p:nvSpPr>
        <p:spPr>
          <a:xfrm>
            <a:off x="6309360" y="1965960"/>
            <a:ext cx="1143000" cy="100584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Rule engine</a:t>
            </a:r>
            <a:endParaRPr lang="en-US" sz="1200" dirty="0"/>
          </a:p>
        </p:txBody>
      </p:sp>
      <p:sp>
        <p:nvSpPr>
          <p:cNvPr id="15" name="Phone card"/>
          <p:cNvSpPr/>
          <p:nvPr/>
        </p:nvSpPr>
        <p:spPr>
          <a:xfrm>
            <a:off x="548640" y="3383280"/>
            <a:ext cx="3429000" cy="2697480"/>
          </a:xfrm>
          <a:prstGeom prst="roundRect">
            <a:avLst>
              <a:gd name="adj" fmla="val 4068"/>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16" name="Text 14"/>
          <p:cNvSpPr txBox="1"/>
          <p:nvPr/>
        </p:nvSpPr>
        <p:spPr>
          <a:xfrm>
            <a:off x="777240" y="3474720"/>
            <a:ext cx="301752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On the phone</a:t>
            </a:r>
            <a:endParaRPr lang="en-US" sz="1500" dirty="0"/>
          </a:p>
        </p:txBody>
      </p:sp>
      <p:sp>
        <p:nvSpPr>
          <p:cNvPr id="17" name="Text 15"/>
          <p:cNvSpPr txBox="1"/>
          <p:nvPr/>
        </p:nvSpPr>
        <p:spPr>
          <a:xfrm>
            <a:off x="777240" y="3840480"/>
            <a:ext cx="3063240" cy="21031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React 18 + TypeScript + Vite</a:t>
            </a:r>
            <a:endParaRPr lang="en-US" sz="1300" dirty="0"/>
          </a:p>
          <a:p>
            <a:pPr marL="342900" indent="-342900">
              <a:spcAft>
                <a:spcPts val="500"/>
              </a:spcAft>
              <a:buSzPct val="100000"/>
              <a:buChar char="•"/>
            </a:pPr>
            <a:r>
              <a:rPr lang="en-US" sz="1300" dirty="0">
                <a:solidFill>
                  <a:schemeClr val="tx1"/>
                </a:solidFill>
              </a:rPr>
              <a:t>Rules in one JSON file, 46 cases</a:t>
            </a:r>
            <a:endParaRPr lang="en-US" sz="1300" dirty="0"/>
          </a:p>
          <a:p>
            <a:pPr marL="342900" indent="-342900">
              <a:spcAft>
                <a:spcPts val="500"/>
              </a:spcAft>
              <a:buSzPct val="100000"/>
              <a:buChar char="•"/>
            </a:pPr>
            <a:r>
              <a:rPr lang="en-US" sz="1300" dirty="0">
                <a:solidFill>
                  <a:schemeClr val="tx1"/>
                </a:solidFill>
              </a:rPr>
              <a:t>Service worker: offline</a:t>
            </a:r>
            <a:endParaRPr lang="en-US" sz="1300" dirty="0"/>
          </a:p>
          <a:p>
            <a:pPr marL="342900" indent="-342900">
              <a:spcAft>
                <a:spcPts val="500"/>
              </a:spcAft>
              <a:buSzPct val="100000"/>
              <a:buChar char="•"/>
            </a:pPr>
            <a:r>
              <a:rPr lang="en-US" sz="1300" dirty="0">
                <a:solidFill>
                  <a:schemeClr val="tx1"/>
                </a:solidFill>
              </a:rPr>
              <a:t>Hindi and English strings</a:t>
            </a:r>
            <a:endParaRPr lang="en-US" sz="1300" dirty="0"/>
          </a:p>
          <a:p>
            <a:pPr marL="342900" indent="-342900">
              <a:spcAft>
                <a:spcPts val="500"/>
              </a:spcAft>
              <a:buSzPct val="100000"/>
              <a:buChar char="•"/>
            </a:pPr>
            <a:r>
              <a:rPr lang="en-US" sz="1300" dirty="0">
                <a:solidFill>
                  <a:schemeClr val="tx1"/>
                </a:solidFill>
              </a:rPr>
              <a:t>Browser speech recognition</a:t>
            </a:r>
            <a:endParaRPr lang="en-US" sz="1300" dirty="0"/>
          </a:p>
        </p:txBody>
      </p:sp>
      <p:sp>
        <p:nvSpPr>
          <p:cNvPr id="18" name="Quality card"/>
          <p:cNvSpPr/>
          <p:nvPr/>
        </p:nvSpPr>
        <p:spPr>
          <a:xfrm>
            <a:off x="4160520" y="3383280"/>
            <a:ext cx="3429000" cy="2697480"/>
          </a:xfrm>
          <a:prstGeom prst="roundRect">
            <a:avLst>
              <a:gd name="adj" fmla="val 4068"/>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19" name="Text 17"/>
          <p:cNvSpPr txBox="1"/>
          <p:nvPr/>
        </p:nvSpPr>
        <p:spPr>
          <a:xfrm>
            <a:off x="4389120" y="3474720"/>
            <a:ext cx="3017520" cy="3200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Checks</a:t>
            </a:r>
            <a:endParaRPr lang="en-US" sz="1500" dirty="0"/>
          </a:p>
        </p:txBody>
      </p:sp>
      <p:sp>
        <p:nvSpPr>
          <p:cNvPr id="20" name="Text 18"/>
          <p:cNvSpPr txBox="1"/>
          <p:nvPr/>
        </p:nvSpPr>
        <p:spPr>
          <a:xfrm>
            <a:off x="4389120" y="3840480"/>
            <a:ext cx="3063240" cy="21031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205 automated tests</a:t>
            </a:r>
            <a:endParaRPr lang="en-US" sz="1300" dirty="0"/>
          </a:p>
          <a:p>
            <a:pPr marL="342900" indent="-342900">
              <a:spcAft>
                <a:spcPts val="500"/>
              </a:spcAft>
              <a:buSzPct val="100000"/>
              <a:buChar char="•"/>
            </a:pPr>
            <a:r>
              <a:rPr lang="en-US" sz="1300" dirty="0">
                <a:solidFill>
                  <a:schemeClr val="tx1"/>
                </a:solidFill>
              </a:rPr>
              <a:t>Python re-check, 12,420 cases</a:t>
            </a:r>
            <a:endParaRPr lang="en-US" sz="1300" dirty="0"/>
          </a:p>
          <a:p>
            <a:pPr marL="342900" indent="-342900">
              <a:spcAft>
                <a:spcPts val="500"/>
              </a:spcAft>
              <a:buSzPct val="100000"/>
              <a:buChar char="•"/>
            </a:pPr>
            <a:r>
              <a:rPr lang="en-US" sz="1300" dirty="0">
                <a:solidFill>
                  <a:schemeClr val="tx1"/>
                </a:solidFill>
              </a:rPr>
              <a:t>Database tests in real Postgres</a:t>
            </a:r>
            <a:endParaRPr lang="en-US" sz="1300" dirty="0"/>
          </a:p>
          <a:p>
            <a:pPr marL="342900" indent="-342900">
              <a:spcAft>
                <a:spcPts val="500"/>
              </a:spcAft>
              <a:buSzPct val="100000"/>
              <a:buChar char="•"/>
            </a:pPr>
            <a:r>
              <a:rPr lang="en-US" sz="1300" dirty="0">
                <a:solidFill>
                  <a:schemeClr val="tx1"/>
                </a:solidFill>
              </a:rPr>
              <a:t>axe audit, small-screen audit</a:t>
            </a:r>
            <a:endParaRPr lang="en-US" sz="1300" dirty="0"/>
          </a:p>
          <a:p>
            <a:pPr marL="342900" indent="-342900">
              <a:spcAft>
                <a:spcPts val="500"/>
              </a:spcAft>
              <a:buSzPct val="100000"/>
              <a:buChar char="•"/>
            </a:pPr>
            <a:r>
              <a:rPr lang="en-US" sz="1300" dirty="0">
                <a:solidFill>
                  <a:schemeClr val="tx1"/>
                </a:solidFill>
              </a:rPr>
              <a:t>CI on every pull request</a:t>
            </a:r>
            <a:endParaRPr lang="en-US" sz="1300" dirty="0"/>
          </a:p>
        </p:txBody>
      </p:sp>
      <p:sp>
        <p:nvSpPr>
          <p:cNvPr id="21" name="Cloud card"/>
          <p:cNvSpPr/>
          <p:nvPr/>
        </p:nvSpPr>
        <p:spPr>
          <a:xfrm>
            <a:off x="7955280" y="1371600"/>
            <a:ext cx="3749040" cy="4709160"/>
          </a:xfrm>
          <a:prstGeom prst="roundRect">
            <a:avLst>
              <a:gd name="adj" fmla="val 2927"/>
            </a:avLst>
          </a:prstGeom>
          <a:solidFill>
            <a:schemeClr val="bg1"/>
          </a:solidFill>
          <a:ln w="25400">
            <a:solidFill>
              <a:schemeClr val="accent5"/>
            </a:solidFill>
            <a:prstDash val="dash"/>
          </a:ln>
        </p:spPr>
      </p:sp>
      <p:sp>
        <p:nvSpPr>
          <p:cNvPr id="22" name="Text 20"/>
          <p:cNvSpPr txBox="1"/>
          <p:nvPr/>
        </p:nvSpPr>
        <p:spPr>
          <a:xfrm>
            <a:off x="8183880" y="1463040"/>
            <a:ext cx="3291840" cy="320040"/>
          </a:xfrm>
          <a:prstGeom prst="rect">
            <a:avLst/>
          </a:prstGeom>
          <a:noFill/>
          <a:ln/>
        </p:spPr>
        <p:txBody>
          <a:bodyPr wrap="square" lIns="0" tIns="0" rIns="0" bIns="0" rtlCol="0" anchor="ctr"/>
          <a:lstStyle/>
          <a:p>
            <a:pPr indent="0" marL="0">
              <a:buNone/>
            </a:pPr>
            <a:r>
              <a:rPr lang="en-US" sz="1500" b="1" dirty="0">
                <a:solidFill>
                  <a:schemeClr val="accent5"/>
                </a:solidFill>
                <a:latin typeface="Calibri" pitchFamily="34" charset="0"/>
                <a:ea typeface="Calibri" pitchFamily="34" charset="-122"/>
                <a:cs typeface="Calibri" pitchFamily="34" charset="-120"/>
              </a:rPr>
              <a:t>Optional cloud (Supabase)</a:t>
            </a:r>
            <a:endParaRPr lang="en-US" sz="1500" dirty="0"/>
          </a:p>
        </p:txBody>
      </p:sp>
      <p:sp>
        <p:nvSpPr>
          <p:cNvPr id="23" name="Text 21"/>
          <p:cNvSpPr txBox="1"/>
          <p:nvPr/>
        </p:nvSpPr>
        <p:spPr>
          <a:xfrm>
            <a:off x="8183880" y="1874520"/>
            <a:ext cx="3291840" cy="36576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Sign in with Google or phone code</a:t>
            </a:r>
            <a:endParaRPr lang="en-US" sz="1300" dirty="0"/>
          </a:p>
        </p:txBody>
      </p:sp>
      <p:sp>
        <p:nvSpPr>
          <p:cNvPr id="24" name="Text 22"/>
          <p:cNvSpPr txBox="1"/>
          <p:nvPr/>
        </p:nvSpPr>
        <p:spPr>
          <a:xfrm>
            <a:off x="8183880" y="2377440"/>
            <a:ext cx="3291840" cy="274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checkins</a:t>
            </a:r>
            <a:endParaRPr lang="en-US" sz="1400" dirty="0"/>
          </a:p>
        </p:txBody>
      </p:sp>
      <p:sp>
        <p:nvSpPr>
          <p:cNvPr id="25" name="Text 23"/>
          <p:cNvSpPr txBox="1"/>
          <p:nvPr/>
        </p:nvSpPr>
        <p:spPr>
          <a:xfrm>
            <a:off x="8183880" y="2651760"/>
            <a:ext cx="3291840" cy="64008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user_id, entry_date, phase, answers (json), tier, rules_version</a:t>
            </a:r>
            <a:endParaRPr lang="en-US" sz="1200" dirty="0"/>
          </a:p>
        </p:txBody>
      </p:sp>
      <p:sp>
        <p:nvSpPr>
          <p:cNvPr id="26" name="Text 24"/>
          <p:cNvSpPr txBox="1"/>
          <p:nvPr/>
        </p:nvSpPr>
        <p:spPr>
          <a:xfrm>
            <a:off x="8183880" y="3383280"/>
            <a:ext cx="3291840" cy="274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profiles</a:t>
            </a:r>
            <a:endParaRPr lang="en-US" sz="1400" dirty="0"/>
          </a:p>
        </p:txBody>
      </p:sp>
      <p:sp>
        <p:nvSpPr>
          <p:cNvPr id="27" name="Text 25"/>
          <p:cNvSpPr txBox="1"/>
          <p:nvPr/>
        </p:nvSpPr>
        <p:spPr>
          <a:xfrm>
            <a:off x="8183880" y="3657600"/>
            <a:ext cx="3291840" cy="548640"/>
          </a:xfrm>
          <a:prstGeom prst="rect">
            <a:avLst/>
          </a:prstGeom>
          <a:noFill/>
          <a:ln/>
        </p:spPr>
        <p:txBody>
          <a:bodyPr wrap="square" lIns="0" tIns="0" rIns="0" bIns="0" rtlCol="0" anchor="t"/>
          <a:lstStyle/>
          <a:p>
            <a:pPr indent="0" marL="0">
              <a:buNone/>
            </a:pPr>
            <a:r>
              <a:rPr lang="en-US" sz="1200" dirty="0">
                <a:solidFill>
                  <a:schemeClr val="accent5"/>
                </a:solidFill>
                <a:latin typeface="Calibri" pitchFamily="34" charset="0"/>
                <a:ea typeface="Calibri" pitchFamily="34" charset="-122"/>
                <a:cs typeface="Calibri" pitchFamily="34" charset="-120"/>
              </a:rPr>
              <a:t>user_id, stage, due_date, delivery_date, language</a:t>
            </a:r>
            <a:endParaRPr lang="en-US" sz="1200" dirty="0"/>
          </a:p>
        </p:txBody>
      </p:sp>
      <p:sp>
        <p:nvSpPr>
          <p:cNvPr id="28" name="Text 26"/>
          <p:cNvSpPr txBox="1"/>
          <p:nvPr/>
        </p:nvSpPr>
        <p:spPr>
          <a:xfrm>
            <a:off x="8183880" y="4297680"/>
            <a:ext cx="3291840" cy="731520"/>
          </a:xfrm>
          <a:prstGeom prst="rect">
            <a:avLst/>
          </a:prstGeom>
          <a:noFill/>
          <a:ln/>
        </p:spPr>
        <p:txBody>
          <a:bodyPr wrap="square" lIns="0" tIns="0" rIns="0" bIns="0" rtlCol="0" anchor="t"/>
          <a:lstStyle/>
          <a:p>
            <a:pPr indent="0" marL="0">
              <a:buNone/>
            </a:pPr>
            <a:r>
              <a:rPr lang="en-US" sz="1200" b="1" dirty="0">
                <a:solidFill>
                  <a:schemeClr val="tx1"/>
                </a:solidFill>
                <a:latin typeface="Calibri" pitchFamily="34" charset="0"/>
                <a:ea typeface="Calibri" pitchFamily="34" charset="-122"/>
                <a:cs typeface="Calibri" pitchFamily="34" charset="-120"/>
              </a:rPr>
              <a:t>Row level security: each woman reads only her own rows. Tested in Postgres.</a:t>
            </a:r>
            <a:endParaRPr lang="en-US" sz="1200" dirty="0"/>
          </a:p>
        </p:txBody>
      </p:sp>
      <p:sp>
        <p:nvSpPr>
          <p:cNvPr id="29" name="Tag Built, not connected yet"/>
          <p:cNvSpPr/>
          <p:nvPr/>
        </p:nvSpPr>
        <p:spPr>
          <a:xfrm>
            <a:off x="8183880" y="5212080"/>
            <a:ext cx="2834640" cy="310896"/>
          </a:xfrm>
          <a:prstGeom prst="roundRect">
            <a:avLst>
              <a:gd name="adj" fmla="val 50000"/>
            </a:avLst>
          </a:prstGeom>
          <a:solidFill>
            <a:schemeClr val="accent1"/>
          </a:solidFill>
          <a:ln w="12700">
            <a:solidFill>
              <a:schemeClr val="accent1"/>
            </a:solidFill>
            <a:prstDash val="solid"/>
          </a:ln>
        </p:spPr>
      </p:sp>
      <p:sp>
        <p:nvSpPr>
          <p:cNvPr id="30" name="Text 28"/>
          <p:cNvSpPr txBox="1"/>
          <p:nvPr/>
        </p:nvSpPr>
        <p:spPr>
          <a:xfrm>
            <a:off x="8183880" y="5212080"/>
            <a:ext cx="2834640" cy="310896"/>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Built, not connected yet</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32004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Feasible now. Clear next steps.</a:t>
            </a:r>
            <a:endParaRPr lang="en-US" sz="3600" dirty="0"/>
          </a:p>
        </p:txBody>
      </p:sp>
      <p:sp>
        <p:nvSpPr>
          <p:cNvPr id="3" name="Feasible 1"/>
          <p:cNvSpPr/>
          <p:nvPr/>
        </p:nvSpPr>
        <p:spPr>
          <a:xfrm>
            <a:off x="548640" y="1371600"/>
            <a:ext cx="2651760" cy="1463040"/>
          </a:xfrm>
          <a:prstGeom prst="roundRect">
            <a:avLst>
              <a:gd name="adj" fmla="val 7500"/>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4" name="Feas bg 0"/>
          <p:cNvSpPr/>
          <p:nvPr/>
        </p:nvSpPr>
        <p:spPr>
          <a:xfrm>
            <a:off x="777240" y="1600200"/>
            <a:ext cx="640080" cy="640080"/>
          </a:xfrm>
          <a:prstGeom prst="ellipse">
            <a:avLst/>
          </a:prstGeom>
          <a:solidFill>
            <a:schemeClr val="accent3"/>
          </a:solidFill>
          <a:ln w="12700">
            <a:solidFill>
              <a:schemeClr val="accent3"/>
            </a:solidFill>
            <a:prstDash val="solid"/>
          </a:ln>
        </p:spPr>
      </p:sp>
      <p:pic>
        <p:nvPicPr>
          <p:cNvPr id="5" name="Image 0" descr="Static site">    </p:cNvPr>
          <p:cNvPicPr>
            <a:picLocks noChangeAspect="1"/>
          </p:cNvPicPr>
          <p:nvPr/>
        </p:nvPicPr>
        <p:blipFill>
          <a:blip r:embed="rId1"/>
          <a:stretch>
            <a:fillRect/>
          </a:stretch>
        </p:blipFill>
        <p:spPr>
          <a:xfrm>
            <a:off x="941832" y="1764792"/>
            <a:ext cx="310896" cy="310896"/>
          </a:xfrm>
          <a:prstGeom prst="rect">
            <a:avLst/>
          </a:prstGeom>
        </p:spPr>
      </p:pic>
      <p:sp>
        <p:nvSpPr>
          <p:cNvPr id="6" name="Text 3"/>
          <p:cNvSpPr txBox="1"/>
          <p:nvPr/>
        </p:nvSpPr>
        <p:spPr>
          <a:xfrm>
            <a:off x="1554480" y="1554480"/>
            <a:ext cx="155448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Static site</a:t>
            </a:r>
            <a:endParaRPr lang="en-US" sz="1700" dirty="0"/>
          </a:p>
        </p:txBody>
      </p:sp>
      <p:sp>
        <p:nvSpPr>
          <p:cNvPr id="7" name="Text 4"/>
          <p:cNvSpPr txBox="1"/>
          <p:nvPr/>
        </p:nvSpPr>
        <p:spPr>
          <a:xfrm>
            <a:off x="777240" y="2286000"/>
            <a:ext cx="2286000" cy="45720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No server for the check</a:t>
            </a:r>
            <a:endParaRPr lang="en-US" sz="1300" dirty="0"/>
          </a:p>
        </p:txBody>
      </p:sp>
      <p:sp>
        <p:nvSpPr>
          <p:cNvPr id="8" name="Feasible 2"/>
          <p:cNvSpPr/>
          <p:nvPr/>
        </p:nvSpPr>
        <p:spPr>
          <a:xfrm>
            <a:off x="3383280" y="1371600"/>
            <a:ext cx="2651760" cy="1463040"/>
          </a:xfrm>
          <a:prstGeom prst="roundRect">
            <a:avLst>
              <a:gd name="adj" fmla="val 7500"/>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9" name="Feas bg 1"/>
          <p:cNvSpPr/>
          <p:nvPr/>
        </p:nvSpPr>
        <p:spPr>
          <a:xfrm>
            <a:off x="3611880" y="1600200"/>
            <a:ext cx="640080" cy="640080"/>
          </a:xfrm>
          <a:prstGeom prst="ellipse">
            <a:avLst/>
          </a:prstGeom>
          <a:solidFill>
            <a:schemeClr val="accent3"/>
          </a:solidFill>
          <a:ln w="12700">
            <a:solidFill>
              <a:schemeClr val="accent3"/>
            </a:solidFill>
            <a:prstDash val="solid"/>
          </a:ln>
        </p:spPr>
      </p:sp>
      <p:pic>
        <p:nvPicPr>
          <p:cNvPr id="10" name="Image 1" descr="Offline">    </p:cNvPr>
          <p:cNvPicPr>
            <a:picLocks noChangeAspect="1"/>
          </p:cNvPicPr>
          <p:nvPr/>
        </p:nvPicPr>
        <p:blipFill>
          <a:blip r:embed="rId2"/>
          <a:stretch>
            <a:fillRect/>
          </a:stretch>
        </p:blipFill>
        <p:spPr>
          <a:xfrm>
            <a:off x="3776472" y="1764792"/>
            <a:ext cx="310896" cy="310896"/>
          </a:xfrm>
          <a:prstGeom prst="rect">
            <a:avLst/>
          </a:prstGeom>
        </p:spPr>
      </p:pic>
      <p:sp>
        <p:nvSpPr>
          <p:cNvPr id="11" name="Text 7"/>
          <p:cNvSpPr txBox="1"/>
          <p:nvPr/>
        </p:nvSpPr>
        <p:spPr>
          <a:xfrm>
            <a:off x="4389120" y="1554480"/>
            <a:ext cx="155448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Offline</a:t>
            </a:r>
            <a:endParaRPr lang="en-US" sz="1700" dirty="0"/>
          </a:p>
        </p:txBody>
      </p:sp>
      <p:sp>
        <p:nvSpPr>
          <p:cNvPr id="12" name="Text 8"/>
          <p:cNvSpPr txBox="1"/>
          <p:nvPr/>
        </p:nvSpPr>
        <p:spPr>
          <a:xfrm>
            <a:off x="3611880" y="2286000"/>
            <a:ext cx="2286000" cy="45720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Verified with the network cut</a:t>
            </a:r>
            <a:endParaRPr lang="en-US" sz="1300" dirty="0"/>
          </a:p>
        </p:txBody>
      </p:sp>
      <p:sp>
        <p:nvSpPr>
          <p:cNvPr id="13" name="Feasible 3"/>
          <p:cNvSpPr/>
          <p:nvPr/>
        </p:nvSpPr>
        <p:spPr>
          <a:xfrm>
            <a:off x="6217920" y="1371600"/>
            <a:ext cx="2651760" cy="1463040"/>
          </a:xfrm>
          <a:prstGeom prst="roundRect">
            <a:avLst>
              <a:gd name="adj" fmla="val 7500"/>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14" name="Feas bg 2"/>
          <p:cNvSpPr/>
          <p:nvPr/>
        </p:nvSpPr>
        <p:spPr>
          <a:xfrm>
            <a:off x="6446520" y="1600200"/>
            <a:ext cx="640080" cy="640080"/>
          </a:xfrm>
          <a:prstGeom prst="ellipse">
            <a:avLst/>
          </a:prstGeom>
          <a:solidFill>
            <a:schemeClr val="accent3"/>
          </a:solidFill>
          <a:ln w="12700">
            <a:solidFill>
              <a:schemeClr val="accent3"/>
            </a:solidFill>
            <a:prstDash val="solid"/>
          </a:ln>
        </p:spPr>
      </p:sp>
      <p:pic>
        <p:nvPicPr>
          <p:cNvPr id="15" name="Image 2" descr="Low cost">    </p:cNvPr>
          <p:cNvPicPr>
            <a:picLocks noChangeAspect="1"/>
          </p:cNvPicPr>
          <p:nvPr/>
        </p:nvPicPr>
        <p:blipFill>
          <a:blip r:embed="rId3"/>
          <a:stretch>
            <a:fillRect/>
          </a:stretch>
        </p:blipFill>
        <p:spPr>
          <a:xfrm>
            <a:off x="6611112" y="1764792"/>
            <a:ext cx="310896" cy="310896"/>
          </a:xfrm>
          <a:prstGeom prst="rect">
            <a:avLst/>
          </a:prstGeom>
        </p:spPr>
      </p:pic>
      <p:sp>
        <p:nvSpPr>
          <p:cNvPr id="16" name="Text 11"/>
          <p:cNvSpPr txBox="1"/>
          <p:nvPr/>
        </p:nvSpPr>
        <p:spPr>
          <a:xfrm>
            <a:off x="7223760" y="1554480"/>
            <a:ext cx="155448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Low cost</a:t>
            </a:r>
            <a:endParaRPr lang="en-US" sz="1700" dirty="0"/>
          </a:p>
        </p:txBody>
      </p:sp>
      <p:sp>
        <p:nvSpPr>
          <p:cNvPr id="17" name="Text 12"/>
          <p:cNvSpPr txBox="1"/>
          <p:nvPr/>
        </p:nvSpPr>
        <p:spPr>
          <a:xfrm>
            <a:off x="6446520" y="2286000"/>
            <a:ext cx="2286000" cy="45720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About INR 6 per language for voice clips</a:t>
            </a:r>
            <a:endParaRPr lang="en-US" sz="1300" dirty="0"/>
          </a:p>
        </p:txBody>
      </p:sp>
      <p:sp>
        <p:nvSpPr>
          <p:cNvPr id="18" name="Feasible 4"/>
          <p:cNvSpPr/>
          <p:nvPr/>
        </p:nvSpPr>
        <p:spPr>
          <a:xfrm>
            <a:off x="9052560" y="1371600"/>
            <a:ext cx="2651760" cy="1463040"/>
          </a:xfrm>
          <a:prstGeom prst="roundRect">
            <a:avLst>
              <a:gd name="adj" fmla="val 7500"/>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19" name="Feas bg 3"/>
          <p:cNvSpPr/>
          <p:nvPr/>
        </p:nvSpPr>
        <p:spPr>
          <a:xfrm>
            <a:off x="9281160" y="1600200"/>
            <a:ext cx="640080" cy="640080"/>
          </a:xfrm>
          <a:prstGeom prst="ellipse">
            <a:avLst/>
          </a:prstGeom>
          <a:solidFill>
            <a:schemeClr val="accent3"/>
          </a:solidFill>
          <a:ln w="12700">
            <a:solidFill>
              <a:schemeClr val="accent3"/>
            </a:solidFill>
            <a:prstDash val="solid"/>
          </a:ln>
        </p:spPr>
      </p:sp>
      <p:pic>
        <p:nvPicPr>
          <p:cNvPr id="20" name="Image 3" descr="Privacy first">    </p:cNvPr>
          <p:cNvPicPr>
            <a:picLocks noChangeAspect="1"/>
          </p:cNvPicPr>
          <p:nvPr/>
        </p:nvPicPr>
        <p:blipFill>
          <a:blip r:embed="rId4"/>
          <a:stretch>
            <a:fillRect/>
          </a:stretch>
        </p:blipFill>
        <p:spPr>
          <a:xfrm>
            <a:off x="9445752" y="1764792"/>
            <a:ext cx="310896" cy="310896"/>
          </a:xfrm>
          <a:prstGeom prst="rect">
            <a:avLst/>
          </a:prstGeom>
        </p:spPr>
      </p:pic>
      <p:sp>
        <p:nvSpPr>
          <p:cNvPr id="21" name="Text 15"/>
          <p:cNvSpPr txBox="1"/>
          <p:nvPr/>
        </p:nvSpPr>
        <p:spPr>
          <a:xfrm>
            <a:off x="10058400" y="1554480"/>
            <a:ext cx="155448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Privacy first</a:t>
            </a:r>
            <a:endParaRPr lang="en-US" sz="1700" dirty="0"/>
          </a:p>
        </p:txBody>
      </p:sp>
      <p:sp>
        <p:nvSpPr>
          <p:cNvPr id="22" name="Text 16"/>
          <p:cNvSpPr txBox="1"/>
          <p:nvPr/>
        </p:nvSpPr>
        <p:spPr>
          <a:xfrm>
            <a:off x="9281160" y="2286000"/>
            <a:ext cx="2286000" cy="45720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No account needed</a:t>
            </a:r>
            <a:endParaRPr lang="en-US" sz="1300" dirty="0"/>
          </a:p>
        </p:txBody>
      </p:sp>
      <p:sp>
        <p:nvSpPr>
          <p:cNvPr id="23" name="Timeline"/>
          <p:cNvSpPr/>
          <p:nvPr/>
        </p:nvSpPr>
        <p:spPr>
          <a:xfrm>
            <a:off x="1097280" y="4160520"/>
            <a:ext cx="9966960" cy="0"/>
          </a:xfrm>
          <a:prstGeom prst="line">
            <a:avLst/>
          </a:prstGeom>
          <a:noFill/>
          <a:ln w="38100">
            <a:solidFill>
              <a:schemeClr val="accent5"/>
            </a:solidFill>
            <a:prstDash val="solid"/>
          </a:ln>
        </p:spPr>
      </p:sp>
      <p:sp>
        <p:nvSpPr>
          <p:cNvPr id="24" name="Text 18"/>
          <p:cNvSpPr txBox="1"/>
          <p:nvPr/>
        </p:nvSpPr>
        <p:spPr>
          <a:xfrm>
            <a:off x="822960" y="3154680"/>
            <a:ext cx="2377440" cy="457200"/>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Now</a:t>
            </a:r>
            <a:endParaRPr lang="en-US" sz="2400" dirty="0"/>
          </a:p>
        </p:txBody>
      </p:sp>
      <p:sp>
        <p:nvSpPr>
          <p:cNvPr id="25" name="Milestone 1"/>
          <p:cNvSpPr/>
          <p:nvPr/>
        </p:nvSpPr>
        <p:spPr>
          <a:xfrm>
            <a:off x="1600200" y="3749040"/>
            <a:ext cx="822960" cy="822960"/>
          </a:xfrm>
          <a:prstGeom prst="octagon">
            <a:avLst/>
          </a:prstGeom>
          <a:solidFill>
            <a:schemeClr val="accent2"/>
          </a:solidFill>
          <a:ln w="25400">
            <a:solidFill>
              <a:schemeClr val="tx1"/>
            </a:solidFill>
            <a:prstDash val="solid"/>
          </a:ln>
        </p:spPr>
      </p:sp>
      <p:sp>
        <p:nvSpPr>
          <p:cNvPr id="26" name="Text 20"/>
          <p:cNvSpPr txBox="1"/>
          <p:nvPr/>
        </p:nvSpPr>
        <p:spPr>
          <a:xfrm>
            <a:off x="822960" y="4754880"/>
            <a:ext cx="2377440" cy="12801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Clinician review. ASHA field test. Real-phone voice test.</a:t>
            </a:r>
            <a:endParaRPr lang="en-US" sz="1400" dirty="0"/>
          </a:p>
        </p:txBody>
      </p:sp>
      <p:sp>
        <p:nvSpPr>
          <p:cNvPr id="27" name="Text 21"/>
          <p:cNvSpPr txBox="1"/>
          <p:nvPr/>
        </p:nvSpPr>
        <p:spPr>
          <a:xfrm>
            <a:off x="3566160" y="3154680"/>
            <a:ext cx="2377440" cy="457200"/>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Next</a:t>
            </a:r>
            <a:endParaRPr lang="en-US" sz="2400" dirty="0"/>
          </a:p>
        </p:txBody>
      </p:sp>
      <p:sp>
        <p:nvSpPr>
          <p:cNvPr id="28" name="Milestone 2"/>
          <p:cNvSpPr/>
          <p:nvPr/>
        </p:nvSpPr>
        <p:spPr>
          <a:xfrm>
            <a:off x="4343400" y="3749040"/>
            <a:ext cx="822960" cy="822960"/>
          </a:xfrm>
          <a:prstGeom prst="triangle">
            <a:avLst/>
          </a:prstGeom>
          <a:solidFill>
            <a:schemeClr val="accent1"/>
          </a:solidFill>
          <a:ln w="25400">
            <a:solidFill>
              <a:schemeClr val="tx1"/>
            </a:solidFill>
            <a:prstDash val="solid"/>
          </a:ln>
        </p:spPr>
      </p:sp>
      <p:sp>
        <p:nvSpPr>
          <p:cNvPr id="29" name="Text 23"/>
          <p:cNvSpPr txBox="1"/>
          <p:nvPr/>
        </p:nvSpPr>
        <p:spPr>
          <a:xfrm>
            <a:off x="3566160" y="4754880"/>
            <a:ext cx="2377440" cy="12801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Odia, Assamese, Bengali. Connect sign-in and the daily log.</a:t>
            </a:r>
            <a:endParaRPr lang="en-US" sz="1400" dirty="0"/>
          </a:p>
        </p:txBody>
      </p:sp>
      <p:sp>
        <p:nvSpPr>
          <p:cNvPr id="30" name="Text 24"/>
          <p:cNvSpPr txBox="1"/>
          <p:nvPr/>
        </p:nvSpPr>
        <p:spPr>
          <a:xfrm>
            <a:off x="6309360" y="3154680"/>
            <a:ext cx="2377440" cy="457200"/>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Then</a:t>
            </a:r>
            <a:endParaRPr lang="en-US" sz="2400" dirty="0"/>
          </a:p>
        </p:txBody>
      </p:sp>
      <p:sp>
        <p:nvSpPr>
          <p:cNvPr id="31" name="Milestone 3"/>
          <p:cNvSpPr/>
          <p:nvPr/>
        </p:nvSpPr>
        <p:spPr>
          <a:xfrm>
            <a:off x="7086600" y="3749040"/>
            <a:ext cx="822960" cy="822960"/>
          </a:xfrm>
          <a:prstGeom prst="ellipse">
            <a:avLst/>
          </a:prstGeom>
          <a:solidFill>
            <a:schemeClr val="accent3"/>
          </a:solidFill>
          <a:ln w="25400">
            <a:solidFill>
              <a:schemeClr val="tx1"/>
            </a:solidFill>
            <a:prstDash val="solid"/>
          </a:ln>
        </p:spPr>
      </p:sp>
      <p:sp>
        <p:nvSpPr>
          <p:cNvPr id="32" name="Text 26"/>
          <p:cNvSpPr txBox="1"/>
          <p:nvPr/>
        </p:nvSpPr>
        <p:spPr>
          <a:xfrm>
            <a:off x="6309360" y="4754880"/>
            <a:ext cx="2377440" cy="12801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Visit and vaccine schedules. Scheme help.</a:t>
            </a:r>
            <a:endParaRPr lang="en-US" sz="1400" dirty="0"/>
          </a:p>
        </p:txBody>
      </p:sp>
      <p:sp>
        <p:nvSpPr>
          <p:cNvPr id="33" name="Text 27"/>
          <p:cNvSpPr txBox="1"/>
          <p:nvPr/>
        </p:nvSpPr>
        <p:spPr>
          <a:xfrm>
            <a:off x="9052560" y="3154680"/>
            <a:ext cx="2377440" cy="457200"/>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Later</a:t>
            </a:r>
            <a:endParaRPr lang="en-US" sz="2400" dirty="0"/>
          </a:p>
        </p:txBody>
      </p:sp>
      <p:sp>
        <p:nvSpPr>
          <p:cNvPr id="34" name="Milestone 4"/>
          <p:cNvSpPr/>
          <p:nvPr/>
        </p:nvSpPr>
        <p:spPr>
          <a:xfrm>
            <a:off x="9829800" y="3749040"/>
            <a:ext cx="822960" cy="822960"/>
          </a:xfrm>
          <a:prstGeom prst="ellipse">
            <a:avLst/>
          </a:prstGeom>
          <a:solidFill>
            <a:schemeClr val="accent3"/>
          </a:solidFill>
          <a:ln w="25400">
            <a:solidFill>
              <a:schemeClr val="tx1"/>
            </a:solidFill>
            <a:prstDash val="solid"/>
          </a:ln>
        </p:spPr>
      </p:sp>
      <p:sp>
        <p:nvSpPr>
          <p:cNvPr id="35" name="Text 29"/>
          <p:cNvSpPr txBox="1"/>
          <p:nvPr/>
        </p:nvSpPr>
        <p:spPr>
          <a:xfrm>
            <a:off x="9052560" y="4754880"/>
            <a:ext cx="2377440" cy="12801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Facility finder from a verified dataset.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32004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Free for her. Funded by those who run care.</a:t>
            </a:r>
            <a:endParaRPr lang="en-US" sz="3600" dirty="0"/>
          </a:p>
        </p:txBody>
      </p:sp>
      <p:sp>
        <p:nvSpPr>
          <p:cNvPr id="3" name="Model 1"/>
          <p:cNvSpPr/>
          <p:nvPr/>
        </p:nvSpPr>
        <p:spPr>
          <a:xfrm>
            <a:off x="548640" y="1463040"/>
            <a:ext cx="3566160" cy="3383280"/>
          </a:xfrm>
          <a:prstGeom prst="roundRect">
            <a:avLst>
              <a:gd name="adj" fmla="val 3243"/>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4" name="Model bg 1"/>
          <p:cNvSpPr/>
          <p:nvPr/>
        </p:nvSpPr>
        <p:spPr>
          <a:xfrm>
            <a:off x="822960" y="1737360"/>
            <a:ext cx="868680" cy="868680"/>
          </a:xfrm>
          <a:prstGeom prst="ellipse">
            <a:avLst/>
          </a:prstGeom>
          <a:solidFill>
            <a:schemeClr val="accent1"/>
          </a:solidFill>
          <a:ln w="12700">
            <a:solidFill>
              <a:schemeClr val="accent1"/>
            </a:solidFill>
            <a:prstDash val="solid"/>
          </a:ln>
        </p:spPr>
      </p:sp>
      <p:pic>
        <p:nvPicPr>
          <p:cNvPr id="5" name="Image 0" descr="State missions and NGOs">    </p:cNvPr>
          <p:cNvPicPr>
            <a:picLocks noChangeAspect="1"/>
          </p:cNvPicPr>
          <p:nvPr/>
        </p:nvPicPr>
        <p:blipFill>
          <a:blip r:embed="rId1"/>
          <a:stretch>
            <a:fillRect/>
          </a:stretch>
        </p:blipFill>
        <p:spPr>
          <a:xfrm>
            <a:off x="1051560" y="1965960"/>
            <a:ext cx="411480" cy="411480"/>
          </a:xfrm>
          <a:prstGeom prst="rect">
            <a:avLst/>
          </a:prstGeom>
        </p:spPr>
      </p:pic>
      <p:sp>
        <p:nvSpPr>
          <p:cNvPr id="6" name="Text 3"/>
          <p:cNvSpPr txBox="1"/>
          <p:nvPr/>
        </p:nvSpPr>
        <p:spPr>
          <a:xfrm>
            <a:off x="822960" y="283464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State missions and NGOs</a:t>
            </a:r>
            <a:endParaRPr lang="en-US" sz="2000" dirty="0"/>
          </a:p>
        </p:txBody>
      </p:sp>
      <p:sp>
        <p:nvSpPr>
          <p:cNvPr id="7" name="Text 4"/>
          <p:cNvSpPr txBox="1"/>
          <p:nvPr/>
        </p:nvSpPr>
        <p:spPr>
          <a:xfrm>
            <a:off x="822960" y="3474720"/>
            <a:ext cx="3017520" cy="11887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Licence, localisation, ASHA training and a district dashboard (with consent)</a:t>
            </a:r>
            <a:endParaRPr lang="en-US" sz="1400" dirty="0"/>
          </a:p>
        </p:txBody>
      </p:sp>
      <p:sp>
        <p:nvSpPr>
          <p:cNvPr id="8" name="Model 2"/>
          <p:cNvSpPr/>
          <p:nvPr/>
        </p:nvSpPr>
        <p:spPr>
          <a:xfrm>
            <a:off x="4297680" y="1463040"/>
            <a:ext cx="3566160" cy="3383280"/>
          </a:xfrm>
          <a:prstGeom prst="roundRect">
            <a:avLst>
              <a:gd name="adj" fmla="val 3243"/>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9" name="Model bg 2"/>
          <p:cNvSpPr/>
          <p:nvPr/>
        </p:nvSpPr>
        <p:spPr>
          <a:xfrm>
            <a:off x="4572000" y="1737360"/>
            <a:ext cx="868680" cy="868680"/>
          </a:xfrm>
          <a:prstGeom prst="ellipse">
            <a:avLst/>
          </a:prstGeom>
          <a:solidFill>
            <a:schemeClr val="accent1"/>
          </a:solidFill>
          <a:ln w="12700">
            <a:solidFill>
              <a:schemeClr val="accent1"/>
            </a:solidFill>
            <a:prstDash val="solid"/>
          </a:ln>
        </p:spPr>
      </p:sp>
      <p:pic>
        <p:nvPicPr>
          <p:cNvPr id="10" name="Image 1" descr="CSR and grants">    </p:cNvPr>
          <p:cNvPicPr>
            <a:picLocks noChangeAspect="1"/>
          </p:cNvPicPr>
          <p:nvPr/>
        </p:nvPicPr>
        <p:blipFill>
          <a:blip r:embed="rId2"/>
          <a:stretch>
            <a:fillRect/>
          </a:stretch>
        </p:blipFill>
        <p:spPr>
          <a:xfrm>
            <a:off x="4800600" y="1965960"/>
            <a:ext cx="411480" cy="411480"/>
          </a:xfrm>
          <a:prstGeom prst="rect">
            <a:avLst/>
          </a:prstGeom>
        </p:spPr>
      </p:pic>
      <p:sp>
        <p:nvSpPr>
          <p:cNvPr id="11" name="Text 7"/>
          <p:cNvSpPr txBox="1"/>
          <p:nvPr/>
        </p:nvSpPr>
        <p:spPr>
          <a:xfrm>
            <a:off x="4572000" y="283464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CSR and grants</a:t>
            </a:r>
            <a:endParaRPr lang="en-US" sz="2000" dirty="0"/>
          </a:p>
        </p:txBody>
      </p:sp>
      <p:sp>
        <p:nvSpPr>
          <p:cNvPr id="12" name="Text 8"/>
          <p:cNvSpPr txBox="1"/>
          <p:nvPr/>
        </p:nvSpPr>
        <p:spPr>
          <a:xfrm>
            <a:off x="4572000" y="3474720"/>
            <a:ext cx="3017520" cy="11887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Fund new languages, voice clips and clinician review</a:t>
            </a:r>
            <a:endParaRPr lang="en-US" sz="1400" dirty="0"/>
          </a:p>
        </p:txBody>
      </p:sp>
      <p:sp>
        <p:nvSpPr>
          <p:cNvPr id="13" name="Model 3"/>
          <p:cNvSpPr/>
          <p:nvPr/>
        </p:nvSpPr>
        <p:spPr>
          <a:xfrm>
            <a:off x="8046720" y="1463040"/>
            <a:ext cx="3566160" cy="3383280"/>
          </a:xfrm>
          <a:prstGeom prst="roundRect">
            <a:avLst>
              <a:gd name="adj" fmla="val 3243"/>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14" name="Model bg 3"/>
          <p:cNvSpPr/>
          <p:nvPr/>
        </p:nvSpPr>
        <p:spPr>
          <a:xfrm>
            <a:off x="8321040" y="1737360"/>
            <a:ext cx="868680" cy="868680"/>
          </a:xfrm>
          <a:prstGeom prst="ellipse">
            <a:avLst/>
          </a:prstGeom>
          <a:solidFill>
            <a:schemeClr val="accent1"/>
          </a:solidFill>
          <a:ln w="12700">
            <a:solidFill>
              <a:schemeClr val="accent1"/>
            </a:solidFill>
            <a:prstDash val="solid"/>
          </a:ln>
        </p:spPr>
      </p:sp>
      <p:pic>
        <p:nvPicPr>
          <p:cNvPr id="15" name="Image 2" descr="Open core">    </p:cNvPr>
          <p:cNvPicPr>
            <a:picLocks noChangeAspect="1"/>
          </p:cNvPicPr>
          <p:nvPr/>
        </p:nvPicPr>
        <p:blipFill>
          <a:blip r:embed="rId3"/>
          <a:stretch>
            <a:fillRect/>
          </a:stretch>
        </p:blipFill>
        <p:spPr>
          <a:xfrm>
            <a:off x="8549640" y="1965960"/>
            <a:ext cx="411480" cy="411480"/>
          </a:xfrm>
          <a:prstGeom prst="rect">
            <a:avLst/>
          </a:prstGeom>
        </p:spPr>
      </p:pic>
      <p:sp>
        <p:nvSpPr>
          <p:cNvPr id="16" name="Text 11"/>
          <p:cNvSpPr txBox="1"/>
          <p:nvPr/>
        </p:nvSpPr>
        <p:spPr>
          <a:xfrm>
            <a:off x="8321040" y="2834640"/>
            <a:ext cx="3017520" cy="54864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Open core</a:t>
            </a:r>
            <a:endParaRPr lang="en-US" sz="2000" dirty="0"/>
          </a:p>
        </p:txBody>
      </p:sp>
      <p:sp>
        <p:nvSpPr>
          <p:cNvPr id="17" name="Text 12"/>
          <p:cNvSpPr txBox="1"/>
          <p:nvPr/>
        </p:nvSpPr>
        <p:spPr>
          <a:xfrm>
            <a:off x="8321040" y="3474720"/>
            <a:ext cx="3017520" cy="118872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Rules and app stay open and auditable. Services are paid.</a:t>
            </a:r>
            <a:endParaRPr lang="en-US" sz="1400" dirty="0"/>
          </a:p>
        </p:txBody>
      </p:sp>
      <p:sp>
        <p:nvSpPr>
          <p:cNvPr id="18" name="Promise"/>
          <p:cNvSpPr/>
          <p:nvPr/>
        </p:nvSpPr>
        <p:spPr>
          <a:xfrm>
            <a:off x="548640" y="5074920"/>
            <a:ext cx="11064240" cy="1005840"/>
          </a:xfrm>
          <a:prstGeom prst="roundRect">
            <a:avLst>
              <a:gd name="adj" fmla="val 10909"/>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19" name="Text 14"/>
          <p:cNvSpPr txBox="1"/>
          <p:nvPr/>
        </p:nvSpPr>
        <p:spPr>
          <a:xfrm>
            <a:off x="822960" y="5120640"/>
            <a:ext cx="10515600" cy="91440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We never sell data. No ads. Women and families pay nothing. This is a proposed model and has not been tested with a funder yet.</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320040"/>
            <a:ext cx="11064240" cy="91440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What broke. What we changed.</a:t>
            </a:r>
            <a:endParaRPr lang="en-US" sz="3600" dirty="0"/>
          </a:p>
        </p:txBody>
      </p:sp>
      <p:sp>
        <p:nvSpPr>
          <p:cNvPr id="3" name="Lesson 1"/>
          <p:cNvSpPr/>
          <p:nvPr/>
        </p:nvSpPr>
        <p:spPr>
          <a:xfrm>
            <a:off x="548640" y="1371600"/>
            <a:ext cx="5394960" cy="1645920"/>
          </a:xfrm>
          <a:prstGeom prst="roundRect">
            <a:avLst>
              <a:gd name="adj" fmla="val 6667"/>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4" name="Lesson bg 0"/>
          <p:cNvSpPr/>
          <p:nvPr/>
        </p:nvSpPr>
        <p:spPr>
          <a:xfrm>
            <a:off x="777240" y="1783080"/>
            <a:ext cx="731520" cy="731520"/>
          </a:xfrm>
          <a:prstGeom prst="ellipse">
            <a:avLst/>
          </a:prstGeom>
          <a:solidFill>
            <a:schemeClr val="tx2"/>
          </a:solidFill>
          <a:ln w="12700">
            <a:solidFill>
              <a:schemeClr val="tx2"/>
            </a:solidFill>
            <a:prstDash val="solid"/>
          </a:ln>
        </p:spPr>
      </p:sp>
      <p:pic>
        <p:nvPicPr>
          <p:cNvPr id="5" name="Image 0" descr="The build failed on main">    </p:cNvPr>
          <p:cNvPicPr>
            <a:picLocks noChangeAspect="1"/>
          </p:cNvPicPr>
          <p:nvPr/>
        </p:nvPicPr>
        <p:blipFill>
          <a:blip r:embed="rId1"/>
          <a:stretch>
            <a:fillRect/>
          </a:stretch>
        </p:blipFill>
        <p:spPr>
          <a:xfrm>
            <a:off x="960120" y="1965960"/>
            <a:ext cx="365760" cy="365760"/>
          </a:xfrm>
          <a:prstGeom prst="rect">
            <a:avLst/>
          </a:prstGeom>
        </p:spPr>
      </p:pic>
      <p:sp>
        <p:nvSpPr>
          <p:cNvPr id="6" name="Text 3"/>
          <p:cNvSpPr txBox="1"/>
          <p:nvPr/>
        </p:nvSpPr>
        <p:spPr>
          <a:xfrm>
            <a:off x="1737360" y="1508760"/>
            <a:ext cx="4023360" cy="41148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The build failed on main</a:t>
            </a:r>
            <a:endParaRPr lang="en-US" sz="1700" dirty="0"/>
          </a:p>
        </p:txBody>
      </p:sp>
      <p:sp>
        <p:nvSpPr>
          <p:cNvPr id="7" name="Text 4"/>
          <p:cNvSpPr txBox="1"/>
          <p:nvPr/>
        </p:nvSpPr>
        <p:spPr>
          <a:xfrm>
            <a:off x="1737360" y="1965960"/>
            <a:ext cx="4023360" cy="96012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A new screen changed the flow and a test was not updated. Tests now gate the build and CI runs on every pull request.</a:t>
            </a:r>
            <a:endParaRPr lang="en-US" sz="1300" dirty="0"/>
          </a:p>
        </p:txBody>
      </p:sp>
      <p:sp>
        <p:nvSpPr>
          <p:cNvPr id="8" name="Lesson 2"/>
          <p:cNvSpPr/>
          <p:nvPr/>
        </p:nvSpPr>
        <p:spPr>
          <a:xfrm>
            <a:off x="6217920" y="1371600"/>
            <a:ext cx="5394960" cy="1645920"/>
          </a:xfrm>
          <a:prstGeom prst="roundRect">
            <a:avLst>
              <a:gd name="adj" fmla="val 6667"/>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9" name="Lesson bg 1"/>
          <p:cNvSpPr/>
          <p:nvPr/>
        </p:nvSpPr>
        <p:spPr>
          <a:xfrm>
            <a:off x="6446520" y="1783080"/>
            <a:ext cx="731520" cy="731520"/>
          </a:xfrm>
          <a:prstGeom prst="ellipse">
            <a:avLst/>
          </a:prstGeom>
          <a:solidFill>
            <a:schemeClr val="tx2"/>
          </a:solidFill>
          <a:ln w="12700">
            <a:solidFill>
              <a:schemeClr val="tx2"/>
            </a:solidFill>
            <a:prstDash val="solid"/>
          </a:ln>
        </p:spPr>
      </p:sp>
      <p:pic>
        <p:nvPicPr>
          <p:cNvPr id="10" name="Image 1" descr="Buttons clipped on short phones">    </p:cNvPr>
          <p:cNvPicPr>
            <a:picLocks noChangeAspect="1"/>
          </p:cNvPicPr>
          <p:nvPr/>
        </p:nvPicPr>
        <p:blipFill>
          <a:blip r:embed="rId2"/>
          <a:stretch>
            <a:fillRect/>
          </a:stretch>
        </p:blipFill>
        <p:spPr>
          <a:xfrm>
            <a:off x="6629400" y="1965960"/>
            <a:ext cx="365760" cy="365760"/>
          </a:xfrm>
          <a:prstGeom prst="rect">
            <a:avLst/>
          </a:prstGeom>
        </p:spPr>
      </p:pic>
      <p:sp>
        <p:nvSpPr>
          <p:cNvPr id="11" name="Text 7"/>
          <p:cNvSpPr txBox="1"/>
          <p:nvPr/>
        </p:nvSpPr>
        <p:spPr>
          <a:xfrm>
            <a:off x="7406640" y="1508760"/>
            <a:ext cx="4023360" cy="41148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Buttons clipped on short phones</a:t>
            </a:r>
            <a:endParaRPr lang="en-US" sz="1700" dirty="0"/>
          </a:p>
        </p:txBody>
      </p:sp>
      <p:sp>
        <p:nvSpPr>
          <p:cNvPr id="12" name="Text 8"/>
          <p:cNvSpPr txBox="1"/>
          <p:nvPr/>
        </p:nvSpPr>
        <p:spPr>
          <a:xfrm>
            <a:off x="7406640" y="1965960"/>
            <a:ext cx="4023360" cy="96012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Items were squeezed in a scrolling column. One layout rule and a 15-screen audit fixed it.</a:t>
            </a:r>
            <a:endParaRPr lang="en-US" sz="1300" dirty="0"/>
          </a:p>
        </p:txBody>
      </p:sp>
      <p:sp>
        <p:nvSpPr>
          <p:cNvPr id="13" name="Lesson 3"/>
          <p:cNvSpPr/>
          <p:nvPr/>
        </p:nvSpPr>
        <p:spPr>
          <a:xfrm>
            <a:off x="548640" y="3200400"/>
            <a:ext cx="5394960" cy="1645920"/>
          </a:xfrm>
          <a:prstGeom prst="roundRect">
            <a:avLst>
              <a:gd name="adj" fmla="val 6667"/>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14" name="Lesson bg 2"/>
          <p:cNvSpPr/>
          <p:nvPr/>
        </p:nvSpPr>
        <p:spPr>
          <a:xfrm>
            <a:off x="777240" y="3611880"/>
            <a:ext cx="731520" cy="731520"/>
          </a:xfrm>
          <a:prstGeom prst="ellipse">
            <a:avLst/>
          </a:prstGeom>
          <a:solidFill>
            <a:schemeClr val="tx2"/>
          </a:solidFill>
          <a:ln w="12700">
            <a:solidFill>
              <a:schemeClr val="tx2"/>
            </a:solidFill>
            <a:prstDash val="solid"/>
          </a:ln>
        </p:spPr>
      </p:sp>
      <p:pic>
        <p:nvPicPr>
          <p:cNvPr id="15" name="Image 2" descr="A misheard &quot;No&quot; could hide a sign">    </p:cNvPr>
          <p:cNvPicPr>
            <a:picLocks noChangeAspect="1"/>
          </p:cNvPicPr>
          <p:nvPr/>
        </p:nvPicPr>
        <p:blipFill>
          <a:blip r:embed="rId3"/>
          <a:stretch>
            <a:fillRect/>
          </a:stretch>
        </p:blipFill>
        <p:spPr>
          <a:xfrm>
            <a:off x="960120" y="3794760"/>
            <a:ext cx="365760" cy="365760"/>
          </a:xfrm>
          <a:prstGeom prst="rect">
            <a:avLst/>
          </a:prstGeom>
        </p:spPr>
      </p:pic>
      <p:sp>
        <p:nvSpPr>
          <p:cNvPr id="16" name="Text 11"/>
          <p:cNvSpPr txBox="1"/>
          <p:nvPr/>
        </p:nvSpPr>
        <p:spPr>
          <a:xfrm>
            <a:off x="1737360" y="3337560"/>
            <a:ext cx="4023360" cy="41148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A misheard "No" could hide a sign</a:t>
            </a:r>
            <a:endParaRPr lang="en-US" sz="1700" dirty="0"/>
          </a:p>
        </p:txBody>
      </p:sp>
      <p:sp>
        <p:nvSpPr>
          <p:cNvPr id="17" name="Text 12"/>
          <p:cNvSpPr txBox="1"/>
          <p:nvPr/>
        </p:nvSpPr>
        <p:spPr>
          <a:xfrm>
            <a:off x="1737360" y="3794760"/>
            <a:ext cx="4023360" cy="96012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A spoken No is confirmed. A misheard Yes only over-escalates, so it goes straight through.</a:t>
            </a:r>
            <a:endParaRPr lang="en-US" sz="1300" dirty="0"/>
          </a:p>
        </p:txBody>
      </p:sp>
      <p:sp>
        <p:nvSpPr>
          <p:cNvPr id="18" name="Lesson 4"/>
          <p:cNvSpPr/>
          <p:nvPr/>
        </p:nvSpPr>
        <p:spPr>
          <a:xfrm>
            <a:off x="6217920" y="3200400"/>
            <a:ext cx="5394960" cy="1645920"/>
          </a:xfrm>
          <a:prstGeom prst="roundRect">
            <a:avLst>
              <a:gd name="adj" fmla="val 6667"/>
            </a:avLst>
          </a:prstGeom>
          <a:solidFill>
            <a:schemeClr val="bg1"/>
          </a:solidFill>
          <a:ln w="12700">
            <a:solidFill>
              <a:schemeClr val="bg1"/>
            </a:solidFill>
            <a:prstDash val="solid"/>
          </a:ln>
          <a:effectLst>
            <a:outerShdw sx="100000" sy="100000" kx="0" ky="0" algn="bl" rotWithShape="0" blurRad="101600" dist="25400" dir="5400000">
              <a:srgbClr val="111B38">
                <a:alpha val="12000"/>
              </a:srgbClr>
            </a:outerShdw>
          </a:effectLst>
        </p:spPr>
      </p:sp>
      <p:sp>
        <p:nvSpPr>
          <p:cNvPr id="19" name="Lesson bg 3"/>
          <p:cNvSpPr/>
          <p:nvPr/>
        </p:nvSpPr>
        <p:spPr>
          <a:xfrm>
            <a:off x="6446520" y="3611880"/>
            <a:ext cx="731520" cy="731520"/>
          </a:xfrm>
          <a:prstGeom prst="ellipse">
            <a:avLst/>
          </a:prstGeom>
          <a:solidFill>
            <a:schemeClr val="tx2"/>
          </a:solidFill>
          <a:ln w="12700">
            <a:solidFill>
              <a:schemeClr val="tx2"/>
            </a:solidFill>
            <a:prstDash val="solid"/>
          </a:ln>
        </p:spPr>
      </p:sp>
      <p:pic>
        <p:nvPicPr>
          <p:cNvPr id="20" name="Image 3" descr="Voice cannot be fully tested here">    </p:cNvPr>
          <p:cNvPicPr>
            <a:picLocks noChangeAspect="1"/>
          </p:cNvPicPr>
          <p:nvPr/>
        </p:nvPicPr>
        <p:blipFill>
          <a:blip r:embed="rId4"/>
          <a:stretch>
            <a:fillRect/>
          </a:stretch>
        </p:blipFill>
        <p:spPr>
          <a:xfrm>
            <a:off x="6629400" y="3794760"/>
            <a:ext cx="365760" cy="365760"/>
          </a:xfrm>
          <a:prstGeom prst="rect">
            <a:avLst/>
          </a:prstGeom>
        </p:spPr>
      </p:pic>
      <p:sp>
        <p:nvSpPr>
          <p:cNvPr id="21" name="Text 15"/>
          <p:cNvSpPr txBox="1"/>
          <p:nvPr/>
        </p:nvSpPr>
        <p:spPr>
          <a:xfrm>
            <a:off x="7406640" y="3337560"/>
            <a:ext cx="4023360" cy="41148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Voice cannot be fully tested here</a:t>
            </a:r>
            <a:endParaRPr lang="en-US" sz="1700" dirty="0"/>
          </a:p>
        </p:txBody>
      </p:sp>
      <p:sp>
        <p:nvSpPr>
          <p:cNvPr id="22" name="Text 16"/>
          <p:cNvSpPr txBox="1"/>
          <p:nvPr/>
        </p:nvSpPr>
        <p:spPr>
          <a:xfrm>
            <a:off x="7406640" y="3794760"/>
            <a:ext cx="4023360" cy="96012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Tests use a simulated recogniser, and we say so. A real-phone test is the next step.</a:t>
            </a:r>
            <a:endParaRPr lang="en-US" sz="1300" dirty="0"/>
          </a:p>
        </p:txBody>
      </p:sp>
      <p:sp>
        <p:nvSpPr>
          <p:cNvPr id="23" name="Text 17"/>
          <p:cNvSpPr txBox="1"/>
          <p:nvPr/>
        </p:nvSpPr>
        <p:spPr>
          <a:xfrm>
            <a:off x="548640" y="5120640"/>
            <a:ext cx="548640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Trade-offs we chose</a:t>
            </a:r>
            <a:endParaRPr lang="en-US" sz="1600" dirty="0"/>
          </a:p>
        </p:txBody>
      </p:sp>
      <p:sp>
        <p:nvSpPr>
          <p:cNvPr id="24" name="Tag Rules, not AI"/>
          <p:cNvSpPr/>
          <p:nvPr/>
        </p:nvSpPr>
        <p:spPr>
          <a:xfrm>
            <a:off x="548640" y="5577840"/>
            <a:ext cx="2651760" cy="310896"/>
          </a:xfrm>
          <a:prstGeom prst="roundRect">
            <a:avLst>
              <a:gd name="adj" fmla="val 50000"/>
            </a:avLst>
          </a:prstGeom>
          <a:solidFill>
            <a:schemeClr val="tx2"/>
          </a:solidFill>
          <a:ln w="12700">
            <a:solidFill>
              <a:schemeClr val="tx2"/>
            </a:solidFill>
            <a:prstDash val="solid"/>
          </a:ln>
        </p:spPr>
      </p:sp>
      <p:sp>
        <p:nvSpPr>
          <p:cNvPr id="25" name="Text 19"/>
          <p:cNvSpPr txBox="1"/>
          <p:nvPr/>
        </p:nvSpPr>
        <p:spPr>
          <a:xfrm>
            <a:off x="548640" y="5577840"/>
            <a:ext cx="265176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Rules, not AI</a:t>
            </a:r>
            <a:endParaRPr lang="en-US" sz="1200" dirty="0"/>
          </a:p>
        </p:txBody>
      </p:sp>
      <p:sp>
        <p:nvSpPr>
          <p:cNvPr id="26" name="Tag Over-escalate, never under"/>
          <p:cNvSpPr/>
          <p:nvPr/>
        </p:nvSpPr>
        <p:spPr>
          <a:xfrm>
            <a:off x="3337560" y="5577840"/>
            <a:ext cx="2651760" cy="310896"/>
          </a:xfrm>
          <a:prstGeom prst="roundRect">
            <a:avLst>
              <a:gd name="adj" fmla="val 50000"/>
            </a:avLst>
          </a:prstGeom>
          <a:solidFill>
            <a:schemeClr val="accent2"/>
          </a:solidFill>
          <a:ln w="12700">
            <a:solidFill>
              <a:schemeClr val="accent2"/>
            </a:solidFill>
            <a:prstDash val="solid"/>
          </a:ln>
        </p:spPr>
      </p:sp>
      <p:sp>
        <p:nvSpPr>
          <p:cNvPr id="27" name="Text 21"/>
          <p:cNvSpPr txBox="1"/>
          <p:nvPr/>
        </p:nvSpPr>
        <p:spPr>
          <a:xfrm>
            <a:off x="3337560" y="5577840"/>
            <a:ext cx="265176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Over-escalate, never under</a:t>
            </a:r>
            <a:endParaRPr lang="en-US" sz="1200" dirty="0"/>
          </a:p>
        </p:txBody>
      </p:sp>
      <p:sp>
        <p:nvSpPr>
          <p:cNvPr id="28" name="Tag Offline over cloud"/>
          <p:cNvSpPr/>
          <p:nvPr/>
        </p:nvSpPr>
        <p:spPr>
          <a:xfrm>
            <a:off x="6126480" y="5577840"/>
            <a:ext cx="2651760" cy="310896"/>
          </a:xfrm>
          <a:prstGeom prst="roundRect">
            <a:avLst>
              <a:gd name="adj" fmla="val 50000"/>
            </a:avLst>
          </a:prstGeom>
          <a:solidFill>
            <a:schemeClr val="accent3"/>
          </a:solidFill>
          <a:ln w="12700">
            <a:solidFill>
              <a:schemeClr val="accent3"/>
            </a:solidFill>
            <a:prstDash val="solid"/>
          </a:ln>
        </p:spPr>
      </p:sp>
      <p:sp>
        <p:nvSpPr>
          <p:cNvPr id="29" name="Text 23"/>
          <p:cNvSpPr txBox="1"/>
          <p:nvPr/>
        </p:nvSpPr>
        <p:spPr>
          <a:xfrm>
            <a:off x="6126480" y="5577840"/>
            <a:ext cx="265176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Offline over cloud</a:t>
            </a:r>
            <a:endParaRPr lang="en-US" sz="1200" dirty="0"/>
          </a:p>
        </p:txBody>
      </p:sp>
      <p:sp>
        <p:nvSpPr>
          <p:cNvPr id="30" name="Tag No numeric thresholds"/>
          <p:cNvSpPr/>
          <p:nvPr/>
        </p:nvSpPr>
        <p:spPr>
          <a:xfrm>
            <a:off x="8915400" y="5577840"/>
            <a:ext cx="2651760" cy="310896"/>
          </a:xfrm>
          <a:prstGeom prst="roundRect">
            <a:avLst>
              <a:gd name="adj" fmla="val 50000"/>
            </a:avLst>
          </a:prstGeom>
          <a:solidFill>
            <a:schemeClr val="accent1"/>
          </a:solidFill>
          <a:ln w="12700">
            <a:solidFill>
              <a:schemeClr val="accent1"/>
            </a:solidFill>
            <a:prstDash val="solid"/>
          </a:ln>
        </p:spPr>
      </p:sp>
      <p:sp>
        <p:nvSpPr>
          <p:cNvPr id="31" name="Text 25"/>
          <p:cNvSpPr txBox="1"/>
          <p:nvPr/>
        </p:nvSpPr>
        <p:spPr>
          <a:xfrm>
            <a:off x="8915400" y="5577840"/>
            <a:ext cx="2651760" cy="310896"/>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No numeric thresholds</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320040"/>
            <a:ext cx="11064240" cy="91440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Sources and credits</a:t>
            </a:r>
            <a:endParaRPr lang="en-US" sz="3600" dirty="0"/>
          </a:p>
        </p:txBody>
      </p:sp>
      <p:sp>
        <p:nvSpPr>
          <p:cNvPr id="3" name="Text 1"/>
          <p:cNvSpPr txBox="1"/>
          <p:nvPr/>
        </p:nvSpPr>
        <p:spPr>
          <a:xfrm>
            <a:off x="548640" y="1463040"/>
            <a:ext cx="1106424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2"/>
                </a:solidFill>
              </a:rPr>
              <a:t>MoHFW Mother and Child Protection card  |  HBNC leaflet  |  WHO essential practice guide, chapters B and D</a:t>
            </a:r>
            <a:endParaRPr lang="en-US" sz="1600" dirty="0"/>
          </a:p>
          <a:p>
            <a:pPr marL="342900" indent="-342900">
              <a:spcAft>
                <a:spcPts val="1000"/>
              </a:spcAft>
              <a:buSzPct val="100000"/>
              <a:buChar char="•"/>
            </a:pPr>
            <a:r>
              <a:rPr lang="en-US" sz="1600" dirty="0">
                <a:solidFill>
                  <a:schemeClr val="bg2"/>
                </a:solidFill>
              </a:rPr>
              <a:t>JSSK guidelines (NHM)  |  PIB note on Tele-MANAS 14416</a:t>
            </a:r>
            <a:endParaRPr lang="en-US" sz="1600" dirty="0"/>
          </a:p>
          <a:p>
            <a:pPr marL="342900" indent="-342900">
              <a:spcAft>
                <a:spcPts val="1000"/>
              </a:spcAft>
              <a:buSzPct val="100000"/>
              <a:buChar char="•"/>
            </a:pPr>
            <a:r>
              <a:rPr lang="en-US" sz="1600" dirty="0">
                <a:solidFill>
                  <a:schemeClr val="bg2"/>
                </a:solidFill>
              </a:rPr>
              <a:t>NFHS-6 findings and SRS maternal mortality bulletin 2021-23 (secondary coverage, labelled in the repository)</a:t>
            </a:r>
            <a:endParaRPr lang="en-US" sz="1600" dirty="0"/>
          </a:p>
          <a:p>
            <a:pPr marL="342900" indent="-342900">
              <a:spcAft>
                <a:spcPts val="1000"/>
              </a:spcAft>
              <a:buSzPct val="100000"/>
              <a:buChar char="•"/>
            </a:pPr>
            <a:r>
              <a:rPr lang="en-US" sz="1600" dirty="0">
                <a:solidFill>
                  <a:schemeClr val="bg2"/>
                </a:solidFill>
              </a:rPr>
              <a:t>BMC Pregnancy and Childbirth 2019 delay study  |  Cochrane 2020 mobile messaging review  |  Kenya PROMPTS trial</a:t>
            </a:r>
            <a:endParaRPr lang="en-US" sz="1600" dirty="0"/>
          </a:p>
          <a:p>
            <a:pPr marL="342900" indent="-342900">
              <a:spcAft>
                <a:spcPts val="1000"/>
              </a:spcAft>
              <a:buSzPct val="100000"/>
              <a:buChar char="•"/>
            </a:pPr>
            <a:r>
              <a:rPr lang="en-US" sz="1600" dirty="0">
                <a:solidFill>
                  <a:schemeClr val="bg2"/>
                </a:solidFill>
              </a:rPr>
              <a:t>Built with React, TypeScript, Vite, Vitest, PGlite (tests), Supabase client. Fonts: Yatra One and Mukta (SIL OFL). Pictograms drawn for this project.</a:t>
            </a:r>
            <a:endParaRPr lang="en-US" sz="1600" dirty="0"/>
          </a:p>
          <a:p>
            <a:pPr marL="342900" indent="-342900">
              <a:spcAft>
                <a:spcPts val="1000"/>
              </a:spcAft>
              <a:buSzPct val="100000"/>
              <a:buChar char="•"/>
            </a:pPr>
            <a:r>
              <a:rPr lang="en-US" sz="1600" dirty="0">
                <a:solidFill>
                  <a:schemeClr val="bg2"/>
                </a:solidFill>
              </a:rPr>
              <a:t>AI assistance: built with Claude Code. The team is responsible for all content.</a:t>
            </a:r>
            <a:endParaRPr lang="en-US" sz="1600" dirty="0"/>
          </a:p>
        </p:txBody>
      </p:sp>
      <p:sp>
        <p:nvSpPr>
          <p:cNvPr id="4" name="Text 2"/>
          <p:cNvSpPr txBox="1"/>
          <p:nvPr/>
        </p:nvSpPr>
        <p:spPr>
          <a:xfrm>
            <a:off x="548640" y="5394960"/>
            <a:ext cx="73152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libri" pitchFamily="34" charset="0"/>
                <a:ea typeface="Calibri" pitchFamily="34" charset="-122"/>
                <a:cs typeface="Calibri" pitchFamily="34" charset="-120"/>
              </a:rPr>
              <a:t>github.com/aafreenzy/maitri</a:t>
            </a:r>
            <a:endParaRPr lang="en-US" sz="2400" dirty="0"/>
          </a:p>
        </p:txBody>
      </p:sp>
      <p:sp>
        <p:nvSpPr>
          <p:cNvPr id="5" name="Text 3"/>
          <p:cNvSpPr txBox="1"/>
          <p:nvPr/>
        </p:nvSpPr>
        <p:spPr>
          <a:xfrm>
            <a:off x="548640" y="5989320"/>
            <a:ext cx="10972800" cy="320040"/>
          </a:xfrm>
          <a:prstGeom prst="rect">
            <a:avLst/>
          </a:prstGeom>
          <a:noFill/>
          <a:ln/>
        </p:spPr>
        <p:txBody>
          <a:bodyPr wrap="square" lIns="0" tIns="0" rIns="0" bIns="0" rtlCol="0" anchor="ctr"/>
          <a:lstStyle/>
          <a:p>
            <a:pPr indent="0" marL="0">
              <a:buNone/>
            </a:pPr>
            <a:r>
              <a:rPr lang="en-US" sz="1400" dirty="0">
                <a:solidFill>
                  <a:schemeClr val="accent6"/>
                </a:solidFill>
                <a:latin typeface="Calibri" pitchFamily="34" charset="0"/>
                <a:ea typeface="Calibri" pitchFamily="34" charset="-122"/>
                <a:cs typeface="Calibri" pitchFamily="34" charset="-120"/>
              </a:rPr>
              <a:t>Education tool. Does not diagnose. Rules are a draft, not reviewed by a doctor.</a:t>
            </a:r>
            <a:endParaRPr lang="en-US" sz="1400" dirty="0"/>
          </a:p>
        </p:txBody>
      </p:sp>
    </p:spTree>
  </p:cSld>
  <p:clrMapOvr>
    <a:masterClrMapping/>
  </p:clrMapOvr>
</p:sld>
</file>

<file path=ppt/theme/theme1.xml><?xml version="1.0" encoding="utf-8"?>
<a:theme xmlns:a="http://schemas.openxmlformats.org/drawingml/2006/main" name="Maitri">
  <a:themeElements>
    <a:clrScheme name="Maitri">
      <a:dk1>
        <a:srgbClr val="111B38"/>
      </a:dk1>
      <a:lt1>
        <a:srgbClr val="FFFFFF"/>
      </a:lt1>
      <a:dk2>
        <a:srgbClr val="23358A"/>
      </a:dk2>
      <a:lt2>
        <a:srgbClr val="E6EEF6"/>
      </a:lt2>
      <a:accent1>
        <a:srgbClr val="F7B500"/>
      </a:accent1>
      <a:accent2>
        <a:srgbClr val="C4122F"/>
      </a:accent2>
      <a:accent3>
        <a:srgbClr val="0F7A6B"/>
      </a:accent3>
      <a:accent4>
        <a:srgbClr val="23358A"/>
      </a:accent4>
      <a:accent5>
        <a:srgbClr val="4A5878"/>
      </a:accent5>
      <a:accent6>
        <a:srgbClr val="8FA3C8"/>
      </a:accent6>
      <a:hlink>
        <a:srgbClr val="23358A"/>
      </a:hlink>
      <a:folHlink>
        <a:srgbClr val="4A5878"/>
      </a:folHlink>
    </a:clrScheme>
    <a:fontScheme name="Maitr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Maitri - recHERsion 2026</dc:title>
  <dc:subject>PptxGenJS Presentation</dc:subject>
  <dc:creator>Team Maitri</dc:creator>
  <cp:lastModifiedBy>Team Maitri</cp:lastModifiedBy>
  <cp:revision>1</cp:revision>
  <dcterms:created xsi:type="dcterms:W3CDTF">2026-10-25T14:22:40Z</dcterms:created>
  <dcterms:modified xsi:type="dcterms:W3CDTF">2026-10-25T14:22:40Z</dcterms:modified>
</cp:coreProperties>
</file>