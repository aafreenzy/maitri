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7170f14-c117-95a4-0ffc-3b53381cf5a4}">
          <p14:sldIdLst>
            <p14:sldId id="256"/>
            <p14:sldId id="257"/>
            <p14:sldId id="258"/>
          </p14:sldIdLst>
        </p14:section>
        <p14:section name="Solution" id="{73722153-0515-2fd1-42fd-75849b5dfb60}">
          <p14:sldIdLst>
            <p14:sldId id="259"/>
            <p14:sldId id="260"/>
            <p14:sldId id="261"/>
            <p14:sldId id="262"/>
          </p14:sldIdLst>
        </p14:section>
        <p14:section name="Trust and technology" id="{4f928db4-e83d-2645-b7ec-995d431ee527}">
          <p14:sldIdLst>
            <p14:sldId id="263"/>
            <p14:sldId id="264"/>
            <p14:sldId id="265"/>
          </p14:sldIdLst>
        </p14:section>
        <p14:section name="Reality and impact" id="{b5605e2a-79f2-84a1-6865-250c42a7324e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Maitri is an offline, Hindi-first danger-sign checker for pregnant and postpartum women. One line: other tools tell a woman what her symptoms might mean. Maitri tells her family what to do in the next ten minutes, and shows exactly why. Add the team name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not contact: about 90.6% of births are institutional. The gap is recognising danger and deciding fast. The 48.6% figure is from one West Bengal hospital study, not national. We never present these as lives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modes change the wording only ("Answer for yourself", "Ask the woman", "Answer for her"). The checks and rules are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demo here: speak or tap. Signs are matched with fixed word lists, no AI. She can remove a wrong sign. One RED sign stops the questions and shows a large call button. Then the go-now plan and the slip. The voice screenshot uses a simulated recogniser; the real one needs a phone browser with speech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for low literacy: every question has a picture, a Listen button and a Slow button, and tick, cross and question-mark symbols on the answers. Audio plays a clip if present, otherwise the phone's Hindi voice if it has one, otherwise the app says audio is not available. No audio clips are shipped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built: ASHA mode with an optional on-device list (off by default), and a rule review page where a clinician can mark rules reviewed and export an updated rules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levels are our own design, based on the MoHFW Mother and Child Protection card (which has one level: take to hospital immediately) and WHO guidance. The About page says so. The lowest result is "No danger sign told" plus a go-if-worse line. The app never says "fine" or "safe". "Not sure" escalates.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can open the Trust page in the app: rule version, sources, test count, review status and every helpline with its confirmation status. Only Tele-MANAS 14416 is confirmed; the other numbers are shown as not yet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verdict never leaves the phone and never depends on a server. The optional cloud part (phone sign-in, a daily log in Postgres with row level security) is built and tested against a simulated client only; it is not connected to a real project yet. Tools: React, TypeScript, Vite, Vitest, Fontsource fonts (OFL), Supabase client. Built with help from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tools help recognise a symptom. The largest delay in the one Indian study we found was in deciding to seek care, so Maitri is built around the next ten minutes: call, who goes, show the slip, ask about free transport (JSSK). We have not completed a market search, so we say "built around the decision delay" and do not claim to be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with judges. The tests use a simulated speech recogniser; try it on a real phone. Sign-in and the daily log are tested against a simulated client and are not connected to a real project. No clinician has reviewed the rules, no audio clips are shipped, and there has been no field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to run is low: a static site with no server for the check itself. Before any account feature goes live with real users: a legal review under the Digital Personal Data Protection Act 2023, a hosting-region check, and a text-message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here is a design goal we will measure in a pilot, not a result. No effectiveness claim is made. The evidence we cite: Kenya PROMPTS trial (knowledge and postnatal visits improved, no mortality effect shown) and a Cochrane review rating the wider evidence low 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items need other people: a clinician reviewer, native reviewers per language, a Supabase project and text-message provider, official documents for schedules and schemes, and a verified facility dataset. Language order follows the first pilot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video and the live prototype carry the 25% for the working MVP: an end-to-end check from voice or taps to RED, the call button, the go-now plan and the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source links and confidence labels are in docs/PITCH_FACTS.md in the repository. Numbers marked secondary should be re-checked against the primary bulletin before wider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6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Maitri  |  recHERsion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"/>
          <p:cNvSpPr txBox="1"/>
          <p:nvPr/>
        </p:nvSpPr>
        <p:spPr>
          <a:xfrm>
            <a:off x="640080" y="1371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Maitri</a:t>
            </a:r>
            <a:endParaRPr lang="en-US" sz="8000" dirty="0"/>
          </a:p>
        </p:txBody>
      </p:sp>
      <p:sp>
        <p:nvSpPr>
          <p:cNvPr id="3" name="Tagline"/>
          <p:cNvSpPr txBox="1"/>
          <p:nvPr/>
        </p:nvSpPr>
        <p:spPr>
          <a:xfrm>
            <a:off x="640080" y="27432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who tells the family what to do now</a:t>
            </a:r>
            <a:endParaRPr lang="en-US" sz="2800" dirty="0"/>
          </a:p>
        </p:txBody>
      </p:sp>
      <p:sp>
        <p:nvSpPr>
          <p:cNvPr id="4" name="Event line"/>
          <p:cNvSpPr txBox="1"/>
          <p:nvPr/>
        </p:nvSpPr>
        <p:spPr>
          <a:xfrm>
            <a:off x="640080" y="5029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recHERsion 2026  |  Problem Statement 1: Women's Healthcare</a:t>
            </a:r>
            <a:endParaRPr lang="en-US" sz="1600" dirty="0"/>
          </a:p>
        </p:txBody>
      </p:sp>
      <p:sp>
        <p:nvSpPr>
          <p:cNvPr id="5" name="Team line"/>
          <p:cNvSpPr txBox="1"/>
          <p:nvPr/>
        </p:nvSpPr>
        <p:spPr>
          <a:xfrm>
            <a:off x="64008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[add team name]</a:t>
            </a:r>
            <a:endParaRPr lang="en-US" sz="1600" dirty="0"/>
          </a:p>
        </p:txBody>
      </p:sp>
      <p:sp>
        <p:nvSpPr>
          <p:cNvPr id="6" name="Red octagon"/>
          <p:cNvSpPr/>
          <p:nvPr/>
        </p:nvSpPr>
        <p:spPr>
          <a:xfrm>
            <a:off x="640080" y="4114800"/>
            <a:ext cx="548640" cy="548640"/>
          </a:xfrm>
          <a:prstGeom prst="octagon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7" name="Amber triangle"/>
          <p:cNvSpPr/>
          <p:nvPr/>
        </p:nvSpPr>
        <p:spPr>
          <a:xfrm>
            <a:off x="1371600" y="4114800"/>
            <a:ext cx="548640" cy="548640"/>
          </a:xfrm>
          <a:prstGeom prst="triangl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8" name="Green circle"/>
          <p:cNvSpPr/>
          <p:nvPr/>
        </p:nvSpPr>
        <p:spPr>
          <a:xfrm>
            <a:off x="2103120" y="4114800"/>
            <a:ext cx="548640" cy="5486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9" name="Image 0" descr="Maitri RED result screen in Hindi with a large call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2468880" cy="4805927"/>
          </a:xfrm>
          <a:prstGeom prst="rect">
            <a:avLst/>
          </a:prstGeom>
        </p:spPr>
      </p:pic>
      <p:pic>
        <p:nvPicPr>
          <p:cNvPr id="10" name="Image 1" descr="Maitri voice check showing the danger sign it he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371600"/>
            <a:ext cx="2468880" cy="4805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is high. The decision is late.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55448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4" name="Stat marker 1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25.2M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births a year in India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source</a:t>
            </a:r>
            <a:endParaRPr lang="en-US" sz="1200" dirty="0"/>
          </a:p>
        </p:txBody>
      </p:sp>
      <p:sp>
        <p:nvSpPr>
          <p:cNvPr id="8" name="Stat card 2"/>
          <p:cNvSpPr/>
          <p:nvPr/>
        </p:nvSpPr>
        <p:spPr>
          <a:xfrm>
            <a:off x="4297680" y="155448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9" name="Stat marker 2"/>
          <p:cNvSpPr/>
          <p:nvPr/>
        </p:nvSpPr>
        <p:spPr>
          <a:xfrm>
            <a:off x="4617720" y="1828800"/>
            <a:ext cx="502920" cy="502920"/>
          </a:xfrm>
          <a:prstGeom prst="octagon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48.6%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maternal deaths in one Indian hospital study involved a delay in deciding or seeking care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single study</a:t>
            </a:r>
            <a:endParaRPr lang="en-US" sz="1200" dirty="0"/>
          </a:p>
        </p:txBody>
      </p:sp>
      <p:sp>
        <p:nvSpPr>
          <p:cNvPr id="13" name="Stat card 3"/>
          <p:cNvSpPr/>
          <p:nvPr/>
        </p:nvSpPr>
        <p:spPr>
          <a:xfrm>
            <a:off x="8046720" y="155448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14" name="Stat marker 3"/>
          <p:cNvSpPr/>
          <p:nvPr/>
        </p:nvSpPr>
        <p:spPr>
          <a:xfrm>
            <a:off x="8366760" y="1828800"/>
            <a:ext cx="502920" cy="502920"/>
          </a:xfrm>
          <a:prstGeom prst="triangl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still have fewer than four antenatal visits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Secondary, derived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and confidence labels are on the last slide.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three people in the room</a:t>
            </a:r>
            <a:endParaRPr lang="en-US" sz="3600" dirty="0"/>
          </a:p>
        </p:txBody>
      </p:sp>
      <p:sp>
        <p:nvSpPr>
          <p:cNvPr id="3" name="User card 1"/>
          <p:cNvSpPr/>
          <p:nvPr/>
        </p:nvSpPr>
        <p:spPr>
          <a:xfrm>
            <a:off x="548640" y="155448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4" name="Image 0" descr="The woman pict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8308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woman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her own phone</a:t>
            </a:r>
            <a:endParaRPr lang="en-US" sz="1800" dirty="0"/>
          </a:p>
        </p:txBody>
      </p:sp>
      <p:sp>
        <p:nvSpPr>
          <p:cNvPr id="7" name="User card 2"/>
          <p:cNvSpPr/>
          <p:nvPr/>
        </p:nvSpPr>
        <p:spPr>
          <a:xfrm>
            <a:off x="4297680" y="155448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8" name="Image 1" descr="The ASHA or ANM picto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783080"/>
            <a:ext cx="1828800" cy="1828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ASHA or ANM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one woman after another</a:t>
            </a:r>
            <a:endParaRPr lang="en-US" sz="1800" dirty="0"/>
          </a:p>
        </p:txBody>
      </p:sp>
      <p:sp>
        <p:nvSpPr>
          <p:cNvPr id="11" name="User card 3"/>
          <p:cNvSpPr/>
          <p:nvPr/>
        </p:nvSpPr>
        <p:spPr>
          <a:xfrm>
            <a:off x="8046720" y="155448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12" name="Image 2" descr="The family picto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783080"/>
            <a:ext cx="1828800" cy="1828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2104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if she goes now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36% of women do not own a phone (secondary source), so Maitri has family and ASHA modes.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it. See why. Know what to do.</a:t>
            </a:r>
            <a:endParaRPr lang="en-US" sz="3600" dirty="0"/>
          </a:p>
        </p:txBody>
      </p:sp>
      <p:pic>
        <p:nvPicPr>
          <p:cNvPr id="3" name="Image 0" descr="Maitri screen: Say it or tap 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25880"/>
            <a:ext cx="2331720" cy="4538931"/>
          </a:xfrm>
          <a:prstGeom prst="rect">
            <a:avLst/>
          </a:prstGeom>
        </p:spPr>
      </p:pic>
      <p:sp>
        <p:nvSpPr>
          <p:cNvPr id="4" name="Step marker 1"/>
          <p:cNvSpPr/>
          <p:nvPr/>
        </p:nvSpPr>
        <p:spPr>
          <a:xfrm>
            <a:off x="3566160" y="201168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5661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520440" y="2834640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or tap it</a:t>
            </a:r>
            <a:endParaRPr lang="en-US" sz="1600" dirty="0"/>
          </a:p>
        </p:txBody>
      </p:sp>
      <p:pic>
        <p:nvPicPr>
          <p:cNvPr id="7" name="Image 1" descr="Maitri screen: One RED sign ends the 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2331720" cy="4538931"/>
          </a:xfrm>
          <a:prstGeom prst="rect">
            <a:avLst/>
          </a:prstGeom>
        </p:spPr>
      </p:pic>
      <p:sp>
        <p:nvSpPr>
          <p:cNvPr id="8" name="Step marker 2"/>
          <p:cNvSpPr/>
          <p:nvPr/>
        </p:nvSpPr>
        <p:spPr>
          <a:xfrm>
            <a:off x="7315200" y="201168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269480" y="2834640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RED sign ends the check</a:t>
            </a:r>
            <a:endParaRPr lang="en-US" sz="1600" dirty="0"/>
          </a:p>
        </p:txBody>
      </p:sp>
      <p:pic>
        <p:nvPicPr>
          <p:cNvPr id="11" name="Image 2" descr="Maitri screen: Call, plan, sl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325880"/>
            <a:ext cx="2331720" cy="4538931"/>
          </a:xfrm>
          <a:prstGeom prst="rect">
            <a:avLst/>
          </a:prstGeom>
        </p:spPr>
      </p:pic>
      <p:sp>
        <p:nvSpPr>
          <p:cNvPr id="12" name="Step marker 3"/>
          <p:cNvSpPr/>
          <p:nvPr/>
        </p:nvSpPr>
        <p:spPr>
          <a:xfrm>
            <a:off x="11064240" y="201168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064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11018520" y="2834640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plan, slip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question. One picture. One tap.</a:t>
            </a:r>
            <a:endParaRPr lang="en-US" sz="3600" dirty="0"/>
          </a:p>
        </p:txBody>
      </p:sp>
      <p:sp>
        <p:nvSpPr>
          <p:cNvPr id="3" name="Icon tile bleeding-cloth"/>
          <p:cNvSpPr/>
          <p:nvPr/>
        </p:nvSpPr>
        <p:spPr>
          <a:xfrm>
            <a:off x="548640" y="146304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4" name="Image 0" descr="bleeding-cloth pict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1188720" cy="1188720"/>
          </a:xfrm>
          <a:prstGeom prst="rect">
            <a:avLst/>
          </a:prstGeom>
        </p:spPr>
      </p:pic>
      <p:sp>
        <p:nvSpPr>
          <p:cNvPr id="5" name="Icon tile fits"/>
          <p:cNvSpPr/>
          <p:nvPr/>
        </p:nvSpPr>
        <p:spPr>
          <a:xfrm>
            <a:off x="2240280" y="146304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6" name="Image 1" descr="fits picto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645920"/>
            <a:ext cx="1188720" cy="1188720"/>
          </a:xfrm>
          <a:prstGeom prst="rect">
            <a:avLst/>
          </a:prstGeom>
        </p:spPr>
      </p:pic>
      <p:sp>
        <p:nvSpPr>
          <p:cNvPr id="7" name="Icon tile head-eye"/>
          <p:cNvSpPr/>
          <p:nvPr/>
        </p:nvSpPr>
        <p:spPr>
          <a:xfrm>
            <a:off x="3931920" y="146304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8" name="Image 2" descr="head-eye picto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1188720" cy="1188720"/>
          </a:xfrm>
          <a:prstGeom prst="rect">
            <a:avLst/>
          </a:prstGeom>
        </p:spPr>
      </p:pic>
      <p:sp>
        <p:nvSpPr>
          <p:cNvPr id="9" name="Icon tile fever"/>
          <p:cNvSpPr/>
          <p:nvPr/>
        </p:nvSpPr>
        <p:spPr>
          <a:xfrm>
            <a:off x="5623560" y="146304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10" name="Image 3" descr="fever pictogr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645920"/>
            <a:ext cx="1188720" cy="1188720"/>
          </a:xfrm>
          <a:prstGeom prst="rect">
            <a:avLst/>
          </a:prstGeom>
        </p:spPr>
      </p:pic>
      <p:sp>
        <p:nvSpPr>
          <p:cNvPr id="11" name="Icon tile water-leak"/>
          <p:cNvSpPr/>
          <p:nvPr/>
        </p:nvSpPr>
        <p:spPr>
          <a:xfrm>
            <a:off x="548640" y="315468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12" name="Image 4" descr="water-leak pictogra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37560"/>
            <a:ext cx="1188720" cy="1188720"/>
          </a:xfrm>
          <a:prstGeom prst="rect">
            <a:avLst/>
          </a:prstGeom>
        </p:spPr>
      </p:pic>
      <p:sp>
        <p:nvSpPr>
          <p:cNvPr id="13" name="Icon tile baby-moves"/>
          <p:cNvSpPr/>
          <p:nvPr/>
        </p:nvSpPr>
        <p:spPr>
          <a:xfrm>
            <a:off x="2240280" y="315468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14" name="Image 5" descr="baby-moves pictogra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3337560"/>
            <a:ext cx="1188720" cy="1188720"/>
          </a:xfrm>
          <a:prstGeom prst="rect">
            <a:avLst/>
          </a:prstGeom>
        </p:spPr>
      </p:pic>
      <p:sp>
        <p:nvSpPr>
          <p:cNvPr id="15" name="Icon tile belly-pain"/>
          <p:cNvSpPr/>
          <p:nvPr/>
        </p:nvSpPr>
        <p:spPr>
          <a:xfrm>
            <a:off x="3931920" y="315468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16" name="Image 6" descr="belly-pain pictogra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337560"/>
            <a:ext cx="1188720" cy="1188720"/>
          </a:xfrm>
          <a:prstGeom prst="rect">
            <a:avLst/>
          </a:prstGeom>
        </p:spPr>
      </p:pic>
      <p:sp>
        <p:nvSpPr>
          <p:cNvPr id="17" name="Icon tile pale-weak"/>
          <p:cNvSpPr/>
          <p:nvPr/>
        </p:nvSpPr>
        <p:spPr>
          <a:xfrm>
            <a:off x="5623560" y="315468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18" name="Image 7" descr="pale-weak pictogram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3337560"/>
            <a:ext cx="1188720" cy="1188720"/>
          </a:xfrm>
          <a:prstGeom prst="rect">
            <a:avLst/>
          </a:prstGeom>
        </p:spPr>
      </p:pic>
      <p:sp>
        <p:nvSpPr>
          <p:cNvPr id="19" name="Icon tile breathing"/>
          <p:cNvSpPr/>
          <p:nvPr/>
        </p:nvSpPr>
        <p:spPr>
          <a:xfrm>
            <a:off x="548640" y="484632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20" name="Image 8" descr="breathing pictogram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029200"/>
            <a:ext cx="1188720" cy="1188720"/>
          </a:xfrm>
          <a:prstGeom prst="rect">
            <a:avLst/>
          </a:prstGeom>
        </p:spPr>
      </p:pic>
      <p:sp>
        <p:nvSpPr>
          <p:cNvPr id="21" name="Icon tile swelling"/>
          <p:cNvSpPr/>
          <p:nvPr/>
        </p:nvSpPr>
        <p:spPr>
          <a:xfrm>
            <a:off x="2240280" y="484632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22" name="Image 9" descr="swelling pictogram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23160" y="5029200"/>
            <a:ext cx="1188720" cy="1188720"/>
          </a:xfrm>
          <a:prstGeom prst="rect">
            <a:avLst/>
          </a:prstGeom>
        </p:spPr>
      </p:pic>
      <p:sp>
        <p:nvSpPr>
          <p:cNvPr id="23" name="Icon tile calf-pain"/>
          <p:cNvSpPr/>
          <p:nvPr/>
        </p:nvSpPr>
        <p:spPr>
          <a:xfrm>
            <a:off x="3931920" y="484632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24" name="Image 10" descr="calf-pain pictogram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0" y="5029200"/>
            <a:ext cx="1188720" cy="1188720"/>
          </a:xfrm>
          <a:prstGeom prst="rect">
            <a:avLst/>
          </a:prstGeom>
        </p:spPr>
      </p:pic>
      <p:sp>
        <p:nvSpPr>
          <p:cNvPr id="25" name="Icon tile heavy-heart"/>
          <p:cNvSpPr/>
          <p:nvPr/>
        </p:nvSpPr>
        <p:spPr>
          <a:xfrm>
            <a:off x="5623560" y="4846320"/>
            <a:ext cx="15544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pic>
        <p:nvPicPr>
          <p:cNvPr id="26" name="Image 11" descr="heavy-heart pictogram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6440" y="5029200"/>
            <a:ext cx="1188720" cy="1188720"/>
          </a:xfrm>
          <a:prstGeom prst="rect">
            <a:avLst/>
          </a:prstGeom>
        </p:spPr>
      </p:pic>
      <p:pic>
        <p:nvPicPr>
          <p:cNvPr id="27" name="Image 12" descr="Maitri question screen with tick and cross answer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8160" y="1188720"/>
            <a:ext cx="2377440" cy="4627929"/>
          </a:xfrm>
          <a:prstGeom prst="rect">
            <a:avLst/>
          </a:prstGeom>
        </p:spPr>
      </p:pic>
      <p:sp>
        <p:nvSpPr>
          <p:cNvPr id="28" name="Text 13"/>
          <p:cNvSpPr txBox="1"/>
          <p:nvPr/>
        </p:nvSpPr>
        <p:spPr>
          <a:xfrm>
            <a:off x="749808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Tick. Cross. Not sure.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 the prototype</a:t>
            </a:r>
            <a:endParaRPr lang="en-US" sz="3600" dirty="0"/>
          </a:p>
        </p:txBody>
      </p:sp>
      <p:sp>
        <p:nvSpPr>
          <p:cNvPr id="3" name="Feature card 1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4" name="Feature icon bg 1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Voice or t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1305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tap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</a:t>
            </a:r>
            <a:endParaRPr lang="en-US" sz="1600" dirty="0"/>
          </a:p>
        </p:txBody>
      </p:sp>
      <p:sp>
        <p:nvSpPr>
          <p:cNvPr id="8" name="Feature card 2"/>
          <p:cNvSpPr/>
          <p:nvPr/>
        </p:nvSpPr>
        <p:spPr>
          <a:xfrm>
            <a:off x="429768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9" name="Feature icon bg 2"/>
          <p:cNvSpPr/>
          <p:nvPr/>
        </p:nvSpPr>
        <p:spPr>
          <a:xfrm>
            <a:off x="4617720" y="192024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Works offl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1305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visit</a:t>
            </a:r>
            <a:endParaRPr lang="en-US" sz="1600" dirty="0"/>
          </a:p>
        </p:txBody>
      </p:sp>
      <p:sp>
        <p:nvSpPr>
          <p:cNvPr id="13" name="Feature card 3"/>
          <p:cNvSpPr/>
          <p:nvPr/>
        </p:nvSpPr>
        <p:spPr>
          <a:xfrm>
            <a:off x="804672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14" name="Feature icon bg 3"/>
          <p:cNvSpPr/>
          <p:nvPr/>
        </p:nvSpPr>
        <p:spPr>
          <a:xfrm>
            <a:off x="8366760" y="192024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2" descr="Shows its ru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1305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7260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rule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names its sign</a:t>
            </a:r>
            <a:endParaRPr lang="en-US" sz="1600" dirty="0"/>
          </a:p>
        </p:txBody>
      </p:sp>
      <p:sp>
        <p:nvSpPr>
          <p:cNvPr id="18" name="Feature card 4"/>
          <p:cNvSpPr/>
          <p:nvPr/>
        </p:nvSpPr>
        <p:spPr>
          <a:xfrm>
            <a:off x="548640" y="379476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19" name="Feature icon bg 4"/>
          <p:cNvSpPr/>
          <p:nvPr/>
        </p:nvSpPr>
        <p:spPr>
          <a:xfrm>
            <a:off x="868680" y="41605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3" descr="Maitri sli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37083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87452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 slip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 share a picture</a:t>
            </a:r>
            <a:endParaRPr lang="en-US" sz="1600" dirty="0"/>
          </a:p>
        </p:txBody>
      </p:sp>
      <p:sp>
        <p:nvSpPr>
          <p:cNvPr id="23" name="Feature card 5"/>
          <p:cNvSpPr/>
          <p:nvPr/>
        </p:nvSpPr>
        <p:spPr>
          <a:xfrm>
            <a:off x="4297680" y="379476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24" name="Feature icon bg 5"/>
          <p:cNvSpPr/>
          <p:nvPr/>
        </p:nvSpPr>
        <p:spPr>
          <a:xfrm>
            <a:off x="4617720" y="41605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mage 4" descr="Go-now pla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37083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62356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Go-now plan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and a call button</a:t>
            </a:r>
            <a:endParaRPr lang="en-US" sz="1600" dirty="0"/>
          </a:p>
        </p:txBody>
      </p:sp>
      <p:sp>
        <p:nvSpPr>
          <p:cNvPr id="28" name="Feature card 6"/>
          <p:cNvSpPr/>
          <p:nvPr/>
        </p:nvSpPr>
        <p:spPr>
          <a:xfrm>
            <a:off x="8046720" y="379476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29" name="Feature icon bg 6"/>
          <p:cNvSpPr/>
          <p:nvPr/>
        </p:nvSpPr>
        <p:spPr>
          <a:xfrm>
            <a:off x="8366760" y="41605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Image 5" descr="Privat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4370832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7260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836676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account. Exit now.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Word, shape and colour. It reads in greyscale.</a:t>
            </a:r>
            <a:endParaRPr lang="en-US" sz="3600" dirty="0"/>
          </a:p>
        </p:txBody>
      </p:sp>
      <p:pic>
        <p:nvPicPr>
          <p:cNvPr id="3" name="Image 0" descr="Maitri RED 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2148840" cy="4182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20040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2651760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hospital now</a:t>
            </a:r>
            <a:endParaRPr lang="en-US" sz="1400" dirty="0"/>
          </a:p>
        </p:txBody>
      </p:sp>
      <p:pic>
        <p:nvPicPr>
          <p:cNvPr id="6" name="Image 1" descr="Maitri AMBER resu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148840" cy="41829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6858000" y="2651760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ANM, ASHA or doctor today</a:t>
            </a:r>
            <a:endParaRPr lang="en-US" sz="1400" dirty="0"/>
          </a:p>
        </p:txBody>
      </p:sp>
      <p:pic>
        <p:nvPicPr>
          <p:cNvPr id="9" name="Image 2" descr="Maitri GREEN resu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0"/>
            <a:ext cx="2148840" cy="41829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10515600" y="2651760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danger sign told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shows its work</a:t>
            </a:r>
            <a:endParaRPr lang="en-US" sz="3600" dirty="0"/>
          </a:p>
        </p:txBody>
      </p:sp>
      <p:pic>
        <p:nvPicPr>
          <p:cNvPr id="3" name="Image 0" descr="Maitri Trust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2468880" cy="48059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108/108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417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cases, checked by a second implementation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file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794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every rule, with its source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yet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reviews. We say it out loud.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60807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check the code matches the rule table. They are not clinical validation.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built</a:t>
            </a:r>
            <a:endParaRPr lang="en-US" sz="3600" dirty="0"/>
          </a:p>
        </p:txBody>
      </p:sp>
      <p:sp>
        <p:nvSpPr>
          <p:cNvPr id="3" name="Phone panel"/>
          <p:cNvSpPr/>
          <p:nvPr/>
        </p:nvSpPr>
        <p:spPr>
          <a:xfrm>
            <a:off x="548640" y="1417320"/>
            <a:ext cx="6949440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phone. No account, no network needed.</a:t>
            </a:r>
            <a:endParaRPr lang="en-US" sz="1600" dirty="0"/>
          </a:p>
        </p:txBody>
      </p:sp>
      <p:sp>
        <p:nvSpPr>
          <p:cNvPr id="5" name="Box Rule engine"/>
          <p:cNvSpPr/>
          <p:nvPr/>
        </p:nvSpPr>
        <p:spPr>
          <a:xfrm>
            <a:off x="822960" y="2103120"/>
            <a:ext cx="31089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70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Deterministic. 46 cases.</a:t>
            </a:r>
            <a:endParaRPr lang="en-US" sz="1400" dirty="0"/>
          </a:p>
        </p:txBody>
      </p:sp>
      <p:sp>
        <p:nvSpPr>
          <p:cNvPr id="8" name="Box Voice word lists"/>
          <p:cNvSpPr/>
          <p:nvPr/>
        </p:nvSpPr>
        <p:spPr>
          <a:xfrm>
            <a:off x="4206240" y="2103120"/>
            <a:ext cx="31089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word lists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670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the same answers</a:t>
            </a:r>
            <a:endParaRPr lang="en-US" sz="1400" dirty="0"/>
          </a:p>
        </p:txBody>
      </p:sp>
      <p:sp>
        <p:nvSpPr>
          <p:cNvPr id="11" name="Box Screens"/>
          <p:cNvSpPr/>
          <p:nvPr/>
        </p:nvSpPr>
        <p:spPr>
          <a:xfrm>
            <a:off x="822960" y="3383280"/>
            <a:ext cx="31089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Hindi + English</a:t>
            </a:r>
            <a:endParaRPr lang="en-US" sz="1400" dirty="0"/>
          </a:p>
        </p:txBody>
      </p:sp>
      <p:sp>
        <p:nvSpPr>
          <p:cNvPr id="14" name="Box Service worker"/>
          <p:cNvSpPr/>
          <p:nvPr/>
        </p:nvSpPr>
        <p:spPr>
          <a:xfrm>
            <a:off x="4206240" y="3383280"/>
            <a:ext cx="31089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950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after one visit</a:t>
            </a:r>
            <a:endParaRPr lang="en-US" sz="1400" dirty="0"/>
          </a:p>
        </p:txBody>
      </p:sp>
      <p:sp>
        <p:nvSpPr>
          <p:cNvPr id="17" name="Data box"/>
          <p:cNvSpPr/>
          <p:nvPr/>
        </p:nvSpPr>
        <p:spPr>
          <a:xfrm>
            <a:off x="822960" y="4709160"/>
            <a:ext cx="649224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70916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rules.json  |  questions.json  |  config.json (helplines)  |  Hindi and English strings</a:t>
            </a:r>
            <a:endParaRPr lang="en-US" sz="1400" dirty="0"/>
          </a:p>
        </p:txBody>
      </p:sp>
      <p:sp>
        <p:nvSpPr>
          <p:cNvPr id="19" name="Optional cloud"/>
          <p:cNvSpPr/>
          <p:nvPr/>
        </p:nvSpPr>
        <p:spPr>
          <a:xfrm>
            <a:off x="8229600" y="1417320"/>
            <a:ext cx="342900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25400">
            <a:solidFill>
              <a:schemeClr val="accent5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4582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</a:t>
            </a:r>
            <a:endParaRPr lang="en-US" sz="1600" dirty="0"/>
          </a:p>
        </p:txBody>
      </p:sp>
      <p:pic>
        <p:nvPicPr>
          <p:cNvPr id="21" name="Image 0" descr="ke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210312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96112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by phone code</a:t>
            </a:r>
            <a:endParaRPr lang="en-US" sz="1400" dirty="0"/>
          </a:p>
        </p:txBody>
      </p:sp>
      <p:pic>
        <p:nvPicPr>
          <p:cNvPr id="23" name="Image 1" descr="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74320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6112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log, Postgres with row level security</a:t>
            </a:r>
            <a:endParaRPr lang="en-US" sz="1400" dirty="0"/>
          </a:p>
        </p:txBody>
      </p:sp>
      <p:sp>
        <p:nvSpPr>
          <p:cNvPr id="25" name="Tag Built, not connected yet"/>
          <p:cNvSpPr/>
          <p:nvPr/>
        </p:nvSpPr>
        <p:spPr>
          <a:xfrm>
            <a:off x="8458200" y="3520440"/>
            <a:ext cx="29260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458200" y="3520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connected yet</a:t>
            </a:r>
            <a:endParaRPr lang="en-US" sz="1200" dirty="0"/>
          </a:p>
        </p:txBody>
      </p:sp>
      <p:sp>
        <p:nvSpPr>
          <p:cNvPr id="27" name="Dashed link"/>
          <p:cNvSpPr/>
          <p:nvPr/>
        </p:nvSpPr>
        <p:spPr>
          <a:xfrm>
            <a:off x="7315200" y="2834640"/>
            <a:ext cx="9144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28" name="Text 24"/>
          <p:cNvSpPr txBox="1"/>
          <p:nvPr/>
        </p:nvSpPr>
        <p:spPr>
          <a:xfrm>
            <a:off x="8229600" y="45720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Vitest, a Python cross-check, axe accessibility audit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the decision delay</a:t>
            </a:r>
            <a:endParaRPr lang="en-US" sz="3600" dirty="0"/>
          </a:p>
        </p:txBody>
      </p:sp>
      <p:sp>
        <p:nvSpPr>
          <p:cNvPr id="3" name="Typical column"/>
          <p:cNvSpPr/>
          <p:nvPr/>
        </p:nvSpPr>
        <p:spPr>
          <a:xfrm>
            <a:off x="548640" y="1463040"/>
            <a:ext cx="5303520" cy="429768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4" name="Maitri column"/>
          <p:cNvSpPr/>
          <p:nvPr/>
        </p:nvSpPr>
        <p:spPr>
          <a:xfrm>
            <a:off x="6309360" y="1463040"/>
            <a:ext cx="5303520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symptom checkers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</a:t>
            </a:r>
            <a:endParaRPr lang="en-US" sz="2000" dirty="0"/>
          </a:p>
        </p:txBody>
      </p:sp>
      <p:sp>
        <p:nvSpPr>
          <p:cNvPr id="7" name="Cross bg 0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0" descr="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4414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it be?</a:t>
            </a:r>
            <a:endParaRPr lang="en-US" sz="1800" dirty="0"/>
          </a:p>
        </p:txBody>
      </p:sp>
      <p:sp>
        <p:nvSpPr>
          <p:cNvPr id="10" name="Tick bg 0"/>
          <p:cNvSpPr/>
          <p:nvPr/>
        </p:nvSpPr>
        <p:spPr>
          <a:xfrm>
            <a:off x="6629400" y="2331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y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4414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in ten minutes</a:t>
            </a:r>
            <a:endParaRPr lang="en-US" sz="1800" dirty="0"/>
          </a:p>
        </p:txBody>
      </p:sp>
      <p:sp>
        <p:nvSpPr>
          <p:cNvPr id="13" name="Cross bg 1"/>
          <p:cNvSpPr/>
          <p:nvPr/>
        </p:nvSpPr>
        <p:spPr>
          <a:xfrm>
            <a:off x="868680" y="32004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mage 2" descr="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3101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154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Typing, online</a:t>
            </a:r>
            <a:endParaRPr lang="en-US" sz="1800" dirty="0"/>
          </a:p>
        </p:txBody>
      </p:sp>
      <p:sp>
        <p:nvSpPr>
          <p:cNvPr id="16" name="Tick bg 1"/>
          <p:cNvSpPr/>
          <p:nvPr/>
        </p:nvSpPr>
        <p:spPr>
          <a:xfrm>
            <a:off x="662940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y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33101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9480" y="3154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and voice, offline</a:t>
            </a:r>
            <a:endParaRPr lang="en-US" sz="1800" dirty="0"/>
          </a:p>
        </p:txBody>
      </p:sp>
      <p:sp>
        <p:nvSpPr>
          <p:cNvPr id="19" name="Cross bg 2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4" descr="n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17880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08760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logic</a:t>
            </a:r>
            <a:endParaRPr lang="en-US" sz="1800" dirty="0"/>
          </a:p>
        </p:txBody>
      </p:sp>
      <p:sp>
        <p:nvSpPr>
          <p:cNvPr id="22" name="Tick bg 2"/>
          <p:cNvSpPr/>
          <p:nvPr/>
        </p:nvSpPr>
        <p:spPr>
          <a:xfrm>
            <a:off x="6629400" y="4069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5" descr="y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4178808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269480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sign and the source</a:t>
            </a:r>
            <a:endParaRPr lang="en-US" sz="1800" dirty="0"/>
          </a:p>
        </p:txBody>
      </p:sp>
      <p:sp>
        <p:nvSpPr>
          <p:cNvPr id="25" name="Cross bg 3"/>
          <p:cNvSpPr/>
          <p:nvPr/>
        </p:nvSpPr>
        <p:spPr>
          <a:xfrm>
            <a:off x="868680" y="49377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6" descr="n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5047488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508760" y="4892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say you are fine</a:t>
            </a:r>
            <a:endParaRPr lang="en-US" sz="1800" dirty="0"/>
          </a:p>
        </p:txBody>
      </p:sp>
      <p:sp>
        <p:nvSpPr>
          <p:cNvPr id="28" name="Tick bg 3"/>
          <p:cNvSpPr/>
          <p:nvPr/>
        </p:nvSpPr>
        <p:spPr>
          <a:xfrm>
            <a:off x="6629400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7" descr="y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5047488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269480" y="4892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says fine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 today. What does not yet.</a:t>
            </a:r>
            <a:endParaRPr lang="en-US" sz="3600" dirty="0"/>
          </a:p>
        </p:txBody>
      </p:sp>
      <p:sp>
        <p:nvSpPr>
          <p:cNvPr id="3" name="Status card 1"/>
          <p:cNvSpPr/>
          <p:nvPr/>
        </p:nvSpPr>
        <p:spPr>
          <a:xfrm>
            <a:off x="548640" y="1463040"/>
            <a:ext cx="3566160" cy="438912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4" name="Status head 1"/>
          <p:cNvSpPr/>
          <p:nvPr/>
        </p:nvSpPr>
        <p:spPr>
          <a:xfrm>
            <a:off x="822960" y="1737360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Tap check, three results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Voice check (simulated tests)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Go-now plan and slip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Offline after one visit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Trust page, Hindi + English</a:t>
            </a:r>
            <a:endParaRPr lang="en-US" sz="1800" dirty="0"/>
          </a:p>
        </p:txBody>
      </p:sp>
      <p:sp>
        <p:nvSpPr>
          <p:cNvPr id="7" name="Status card 2"/>
          <p:cNvSpPr/>
          <p:nvPr/>
        </p:nvSpPr>
        <p:spPr>
          <a:xfrm>
            <a:off x="4297680" y="1463040"/>
            <a:ext cx="3566160" cy="438912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8" name="Status head 2"/>
          <p:cNvSpPr/>
          <p:nvPr/>
        </p:nvSpPr>
        <p:spPr>
          <a:xfrm>
            <a:off x="4572000" y="1737360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needs a real test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146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Voice on real phones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Phone sign-in and daily log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Slip share on phones</a:t>
            </a:r>
            <a:endParaRPr lang="en-US" sz="1800" dirty="0"/>
          </a:p>
        </p:txBody>
      </p:sp>
      <p:sp>
        <p:nvSpPr>
          <p:cNvPr id="11" name="Status card 3"/>
          <p:cNvSpPr/>
          <p:nvPr/>
        </p:nvSpPr>
        <p:spPr>
          <a:xfrm>
            <a:off x="8046720" y="1463040"/>
            <a:ext cx="3566160" cy="438912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12" name="Status head 3"/>
          <p:cNvSpPr/>
          <p:nvPr/>
        </p:nvSpPr>
        <p:spPr>
          <a:xfrm>
            <a:off x="8321040" y="1737360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 yet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5146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Clinician review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Voice audio clips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Field test with ASHAs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More languages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by design</a:t>
            </a:r>
            <a:endParaRPr lang="en-US" sz="3600" dirty="0"/>
          </a:p>
        </p:txBody>
      </p:sp>
      <p:sp>
        <p:nvSpPr>
          <p:cNvPr id="3" name="Risk card 1"/>
          <p:cNvSpPr/>
          <p:nvPr/>
        </p:nvSpPr>
        <p:spPr>
          <a:xfrm>
            <a:off x="548640" y="150876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4" name="Risk icon bg 1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Rules wrong?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wrong?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377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A clinician reviews and signs off in the app.</a:t>
            </a:r>
            <a:endParaRPr lang="en-US" sz="1600" dirty="0"/>
          </a:p>
        </p:txBody>
      </p:sp>
      <p:sp>
        <p:nvSpPr>
          <p:cNvPr id="8" name="Risk card 2"/>
          <p:cNvSpPr/>
          <p:nvPr/>
        </p:nvSpPr>
        <p:spPr>
          <a:xfrm>
            <a:off x="6217920" y="150876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9" name="Risk icon bg 2"/>
          <p:cNvSpPr/>
          <p:nvPr/>
        </p:nvSpPr>
        <p:spPr>
          <a:xfrm>
            <a:off x="6537960" y="21031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Voice misheard?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317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misheard?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377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sees the signs and can remove any.</a:t>
            </a:r>
            <a:endParaRPr lang="en-US" sz="1600" dirty="0"/>
          </a:p>
        </p:txBody>
      </p:sp>
      <p:sp>
        <p:nvSpPr>
          <p:cNvPr id="13" name="Risk card 3"/>
          <p:cNvSpPr/>
          <p:nvPr/>
        </p:nvSpPr>
        <p:spPr>
          <a:xfrm>
            <a:off x="548640" y="374904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14" name="Risk icon bg 3"/>
          <p:cNvSpPr/>
          <p:nvPr/>
        </p:nvSpPr>
        <p:spPr>
          <a:xfrm>
            <a:off x="868680" y="434340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2" descr="Wrong helpline?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720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helpline?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617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come from one file. Status is shown.</a:t>
            </a:r>
            <a:endParaRPr lang="en-US" sz="1600" dirty="0"/>
          </a:p>
        </p:txBody>
      </p:sp>
      <p:sp>
        <p:nvSpPr>
          <p:cNvPr id="18" name="Risk card 4"/>
          <p:cNvSpPr/>
          <p:nvPr/>
        </p:nvSpPr>
        <p:spPr>
          <a:xfrm>
            <a:off x="6217920" y="374904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19" name="Risk icon bg 4"/>
          <p:cNvSpPr/>
          <p:nvPr/>
        </p:nvSpPr>
        <p:spPr>
          <a:xfrm>
            <a:off x="6537960" y="434340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3" descr="Privacy?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5720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Privacy?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617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needed. Exit now clears everything.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aim to change for her family</a:t>
            </a:r>
            <a:endParaRPr lang="en-US" sz="3600" dirty="0"/>
          </a:p>
        </p:txBody>
      </p:sp>
      <p:sp>
        <p:nvSpPr>
          <p:cNvPr id="3" name="Impact card 1"/>
          <p:cNvSpPr/>
          <p:nvPr/>
        </p:nvSpPr>
        <p:spPr>
          <a:xfrm>
            <a:off x="548640" y="150876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4" name="Impact icon bg 1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A faster decis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 decision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call in minutes, not hours</a:t>
            </a:r>
            <a:endParaRPr lang="en-US" sz="1600" dirty="0"/>
          </a:p>
        </p:txBody>
      </p:sp>
      <p:sp>
        <p:nvSpPr>
          <p:cNvPr id="8" name="Impact card 2"/>
          <p:cNvSpPr/>
          <p:nvPr/>
        </p:nvSpPr>
        <p:spPr>
          <a:xfrm>
            <a:off x="4297680" y="150876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9" name="Impact icon bg 2"/>
          <p:cNvSpPr/>
          <p:nvPr/>
        </p:nvSpPr>
        <p:spPr>
          <a:xfrm>
            <a:off x="461772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ASHA reads, not re-ask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reads, not re-asks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slip carries the story</a:t>
            </a:r>
            <a:endParaRPr lang="en-US" sz="1600" dirty="0"/>
          </a:p>
        </p:txBody>
      </p:sp>
      <p:sp>
        <p:nvSpPr>
          <p:cNvPr id="13" name="Impact card 3"/>
          <p:cNvSpPr/>
          <p:nvPr/>
        </p:nvSpPr>
        <p:spPr>
          <a:xfrm>
            <a:off x="8046720" y="150876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14" name="Impact icon bg 3"/>
          <p:cNvSpPr/>
          <p:nvPr/>
        </p:nvSpPr>
        <p:spPr>
          <a:xfrm>
            <a:off x="836676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Less fea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011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fear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one clear next step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 it in a pilot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first sign to the call.  Checks finished in under two minutes.  Re-asking avoided at the facility.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lives saved. A Kenyan trial of a triaged SMS service improved danger-sign knowledge and postnatal visits; wider evidence is low certainty.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next</a:t>
            </a:r>
            <a:endParaRPr lang="en-US" sz="3600" dirty="0"/>
          </a:p>
        </p:txBody>
      </p:sp>
      <p:sp>
        <p:nvSpPr>
          <p:cNvPr id="3" name="Timeline"/>
          <p:cNvSpPr/>
          <p:nvPr/>
        </p:nvSpPr>
        <p:spPr>
          <a:xfrm>
            <a:off x="1097280" y="3063240"/>
            <a:ext cx="996696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Roadmap marker 1"/>
          <p:cNvSpPr/>
          <p:nvPr/>
        </p:nvSpPr>
        <p:spPr>
          <a:xfrm>
            <a:off x="1463040" y="2651760"/>
            <a:ext cx="822960" cy="822960"/>
          </a:xfrm>
          <a:prstGeom prst="octagon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review. ASHA field test. Real-phone voice test.</a:t>
            </a:r>
            <a:endParaRPr lang="en-US" sz="1600" dirty="0"/>
          </a:p>
        </p:txBody>
      </p:sp>
      <p:sp>
        <p:nvSpPr>
          <p:cNvPr id="7" name="Roadmap marker 2"/>
          <p:cNvSpPr/>
          <p:nvPr/>
        </p:nvSpPr>
        <p:spPr>
          <a:xfrm>
            <a:off x="4206240" y="2651760"/>
            <a:ext cx="822960" cy="822960"/>
          </a:xfrm>
          <a:prstGeom prst="triangl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8404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Odia, Assamese, Marathi. Connect sign-in and the daily log.</a:t>
            </a:r>
            <a:endParaRPr lang="en-US" sz="1600" dirty="0"/>
          </a:p>
        </p:txBody>
      </p:sp>
      <p:sp>
        <p:nvSpPr>
          <p:cNvPr id="10" name="Roadmap marker 3"/>
          <p:cNvSpPr/>
          <p:nvPr/>
        </p:nvSpPr>
        <p:spPr>
          <a:xfrm>
            <a:off x="6949440" y="2651760"/>
            <a:ext cx="822960" cy="8229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8404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and vaccine schedules. Scheme help (JSSK, JSY, PMMVY).</a:t>
            </a:r>
            <a:endParaRPr lang="en-US" sz="1600" dirty="0"/>
          </a:p>
        </p:txBody>
      </p:sp>
      <p:sp>
        <p:nvSpPr>
          <p:cNvPr id="13" name="Roadmap marker 4"/>
          <p:cNvSpPr/>
          <p:nvPr/>
        </p:nvSpPr>
        <p:spPr>
          <a:xfrm>
            <a:off x="9692640" y="2651760"/>
            <a:ext cx="822960" cy="8229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8404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finder from a verified dataset.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schedule, scheme and guidance item will carry its official source and a clinician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look, by judging criterion</a:t>
            </a:r>
            <a:endParaRPr lang="en-US" sz="3600" dirty="0"/>
          </a:p>
        </p:txBody>
      </p:sp>
      <p:sp>
        <p:nvSpPr>
          <p:cNvPr id="3" name="Criterion card 1"/>
          <p:cNvSpPr/>
          <p:nvPr/>
        </p:nvSpPr>
        <p:spPr>
          <a:xfrm>
            <a:off x="548640" y="150876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relevance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 and 3</a:t>
            </a:r>
            <a:endParaRPr lang="en-US" sz="1400" dirty="0"/>
          </a:p>
        </p:txBody>
      </p:sp>
      <p:sp>
        <p:nvSpPr>
          <p:cNvPr id="7" name="Criterion card 2"/>
          <p:cNvSpPr/>
          <p:nvPr/>
        </p:nvSpPr>
        <p:spPr>
          <a:xfrm>
            <a:off x="4297680" y="150876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 and 10</a:t>
            </a:r>
            <a:endParaRPr lang="en-US" sz="1400" dirty="0"/>
          </a:p>
        </p:txBody>
      </p:sp>
      <p:sp>
        <p:nvSpPr>
          <p:cNvPr id="11" name="Criterion card 3"/>
          <p:cNvSpPr/>
          <p:nvPr/>
        </p:nvSpPr>
        <p:spPr>
          <a:xfrm>
            <a:off x="8046720" y="150876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6676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 and 9</a:t>
            </a:r>
            <a:endParaRPr lang="en-US" sz="1400" dirty="0"/>
          </a:p>
        </p:txBody>
      </p:sp>
      <p:sp>
        <p:nvSpPr>
          <p:cNvPr id="15" name="Criterion card 4"/>
          <p:cNvSpPr/>
          <p:nvPr/>
        </p:nvSpPr>
        <p:spPr>
          <a:xfrm>
            <a:off x="548640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3977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and demo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4, 6 and 7</a:t>
            </a:r>
            <a:endParaRPr lang="en-US" sz="1400" dirty="0"/>
          </a:p>
        </p:txBody>
      </p:sp>
      <p:sp>
        <p:nvSpPr>
          <p:cNvPr id="19" name="Criterion card 5"/>
          <p:cNvSpPr/>
          <p:nvPr/>
        </p:nvSpPr>
        <p:spPr>
          <a:xfrm>
            <a:off x="4297680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17720" y="3977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impact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 to 14</a:t>
            </a:r>
            <a:endParaRPr lang="en-US" sz="1400" dirty="0"/>
          </a:p>
        </p:txBody>
      </p:sp>
      <p:sp>
        <p:nvSpPr>
          <p:cNvPr id="23" name="Criterion card 6"/>
          <p:cNvSpPr/>
          <p:nvPr/>
        </p:nvSpPr>
        <p:spPr>
          <a:xfrm>
            <a:off x="8046720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11B38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66760" y="3977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and accessibility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 and 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credits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MoHFW Mother and Child Protection card (NHM)  |  HBNC leaflet  |  WHO essential practice guide, chapters B and 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JSSK guidelines (NHM)  |  PIB note on Tele-MANAS 14416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NFHS-6 findings and SRS maternal mortality bulletin 2021-23 (secondary coverage, labelled in the repository)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BMC Pregnancy and Childbirth 2019 delay study  |  Cochrane 2020 mobile messaging review  |  Kenya PROMPTS trial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Built with React, TypeScript, Vite, Vitest, Supabase client. Fonts: Yatra One and Mukta (SIL OFL). Pictograms drawn for this project.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AI assistance: built with Claude Code. The team is responsible for all content.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github.com/aafreenzy/maitri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tool. Does not diagnose. Rules are a draft, not reviewed by a doctor.</a:t>
            </a:r>
            <a:endParaRPr lang="en-US" sz="1400" dirty="0"/>
          </a:p>
        </p:txBody>
      </p:sp>
      <p:sp>
        <p:nvSpPr>
          <p:cNvPr id="6" name="Closing red"/>
          <p:cNvSpPr/>
          <p:nvPr/>
        </p:nvSpPr>
        <p:spPr>
          <a:xfrm>
            <a:off x="9875520" y="5349240"/>
            <a:ext cx="502920" cy="502920"/>
          </a:xfrm>
          <a:prstGeom prst="octagon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7" name="Closing amber"/>
          <p:cNvSpPr/>
          <p:nvPr/>
        </p:nvSpPr>
        <p:spPr>
          <a:xfrm>
            <a:off x="10561320" y="5349240"/>
            <a:ext cx="502920" cy="502920"/>
          </a:xfrm>
          <a:prstGeom prst="triangl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8" name="Closing green"/>
          <p:cNvSpPr/>
          <p:nvPr/>
        </p:nvSpPr>
        <p:spPr>
          <a:xfrm>
            <a:off x="11247120" y="5349240"/>
            <a:ext cx="502920" cy="5029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aitri">
  <a:themeElements>
    <a:clrScheme name="Maitri">
      <a:dk1>
        <a:srgbClr val="111B38"/>
      </a:dk1>
      <a:lt1>
        <a:srgbClr val="FFFFFF"/>
      </a:lt1>
      <a:dk2>
        <a:srgbClr val="23358A"/>
      </a:dk2>
      <a:lt2>
        <a:srgbClr val="E6EEF6"/>
      </a:lt2>
      <a:accent1>
        <a:srgbClr val="F7B500"/>
      </a:accent1>
      <a:accent2>
        <a:srgbClr val="C4122F"/>
      </a:accent2>
      <a:accent3>
        <a:srgbClr val="0F7A6B"/>
      </a:accent3>
      <a:accent4>
        <a:srgbClr val="23358A"/>
      </a:accent4>
      <a:accent5>
        <a:srgbClr val="4A5878"/>
      </a:accent5>
      <a:accent6>
        <a:srgbClr val="8FA3C8"/>
      </a:accent6>
      <a:hlink>
        <a:srgbClr val="23358A"/>
      </a:hlink>
      <a:folHlink>
        <a:srgbClr val="4A5878"/>
      </a:folHlink>
    </a:clrScheme>
    <a:fontScheme name="Maitr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Maitri - recHERsion 2026</dc:title>
  <dc:subject>PptxGenJS Presentation</dc:subject>
  <dc:creator>Team Maitri</dc:creator>
  <cp:lastModifiedBy>Team Maitri</cp:lastModifiedBy>
  <cp:revision>1</cp:revision>
  <dcterms:created xsi:type="dcterms:W3CDTF">2026-10-25T05:38:26Z</dcterms:created>
  <dcterms:modified xsi:type="dcterms:W3CDTF">2026-10-25T05:38:26Z</dcterms:modified>
</cp:coreProperties>
</file>